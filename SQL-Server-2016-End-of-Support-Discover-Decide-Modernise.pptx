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 id="3376" r:id="rId17"/>
    <p:sldId id="3592" r:id="rId18"/>
    <p:sldId id="3809" r:id="rId19"/>
    <p:sldId id="4027" r:id="rId20"/>
    <p:sldId id="4246" r:id="rId21"/>
    <p:sldId id="4466" r:id="rId22"/>
    <p:sldId id="4687" r:id="rId23"/>
    <p:sldId id="4909" r:id="rId24"/>
    <p:sldId id="5132" r:id="rId25"/>
    <p:sldId id="5356" r:id="rId26"/>
    <p:sldId id="5581" r:id="rId27"/>
    <p:sldId id="5807" r:id="rId28"/>
    <p:sldId id="6034" r:id="rId29"/>
    <p:sldId id="626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4" d="100"/>
          <a:sy n="134" d="100"/>
        </p:scale>
        <p:origin x="138" y="2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E6BC55-343F-493B-B565-F0355CBD0E59}" type="datetimeFigureOut">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272782-1832-4877-AB86-2A70A7554A9D}" type="slidenum">
              <a:t>‹#›</a:t>
            </a:fld>
            <a:endParaRPr lang="en-US"/>
          </a:p>
        </p:txBody>
      </p:sp>
    </p:spTree>
    <p:extLst>
      <p:ext uri="{BB962C8B-B14F-4D97-AF65-F5344CB8AC3E}">
        <p14:creationId xmlns:p14="http://schemas.microsoft.com/office/powerpoint/2010/main" val="150247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SQL Server 2016 End of Support. Discover your estate. Understand your options. Plan the move. Russell McKee, Cloud Solution Architect, Microsoft UK.
Deck design notes: imagery is deliberately omitted at the author's request (no clipart, no stock photos) - the deck is typographic, built on the Microsoft palette. The dark navy section dividers are also a deliberate instruction, so the ground intentionally alternates between the navy dividers and the light interior.</a:t>
            </a:r>
          </a:p>
        </p:txBody>
      </p:sp>
      <p:sp>
        <p:nvSpPr>
          <p:cNvPr id="4" name="Slide Number Placeholder 3"/>
          <p:cNvSpPr>
            <a:spLocks noGrp="1"/>
          </p:cNvSpPr>
          <p:nvPr>
            <p:ph type="sldNum" sz="quarter" idx="5"/>
          </p:nvPr>
        </p:nvSpPr>
        <p:spPr/>
        <p:txBody>
          <a:bodyPr/>
          <a:lstStyle/>
          <a:p>
            <a:fld id="{00272782-1832-4877-AB86-2A70A7554A9D}" type="slidenum">
              <a:t>1</a:t>
            </a:fld>
            <a:endParaRPr lang="en-US"/>
          </a:p>
        </p:txBody>
      </p:sp>
    </p:spTree>
    <p:extLst>
      <p:ext uri="{BB962C8B-B14F-4D97-AF65-F5344CB8AC3E}">
        <p14:creationId xmlns:p14="http://schemas.microsoft.com/office/powerpoint/2010/main" val="2239543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 July 2026 is the SQL Server 2016 end of support date. After that date there are no more security updates unless you buy Extended Security Updates or move to a supported platform.</a:t>
            </a:r>
          </a:p>
        </p:txBody>
      </p:sp>
      <p:sp>
        <p:nvSpPr>
          <p:cNvPr id="4" name="Slide Number Placeholder 3"/>
          <p:cNvSpPr>
            <a:spLocks noGrp="1"/>
          </p:cNvSpPr>
          <p:nvPr>
            <p:ph type="sldNum" sz="quarter" idx="5"/>
          </p:nvPr>
        </p:nvSpPr>
        <p:spPr/>
        <p:txBody>
          <a:bodyPr/>
          <a:lstStyle/>
          <a:p>
            <a:fld id="{00272782-1832-4877-AB86-2A70A7554A9D}" type="slidenum">
              <a:rPr lang="en-US"/>
              <a:t>2</a:t>
            </a:fld>
            <a:endParaRPr lang="en-US"/>
          </a:p>
        </p:txBody>
      </p:sp>
    </p:spTree>
    <p:extLst>
      <p:ext uri="{BB962C8B-B14F-4D97-AF65-F5344CB8AC3E}">
        <p14:creationId xmlns:p14="http://schemas.microsoft.com/office/powerpoint/2010/main" val="3482981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 Jul 2026 SQL Server 2016 end of support. 15 Jul 2026 ESU Year 1 starts. 12 Jan 2027 Windows Server 2016 end of support and ESU enabled by Azure Arc start date. 13 Jul 2027 SQL ESU Year 1 ends. 11 Jan 2028 Windows Server Arc ESU Year 1 ends. 18 Jul 2028 SQL ESU Year 2 ends. 9 Jan 2029 Windows Server Arc ESU Year 2 ends. 17 Jul 2029 SQL ESU Year 3 ends. 8 Jan 2030 Windows Server Arc ESU Year 3 ends. QA note: the slide's left edges are set by the time scale, not a column grid - a layout-edge warning here is the timeline's scale and is intended.</a:t>
            </a:r>
          </a:p>
        </p:txBody>
      </p:sp>
      <p:sp>
        <p:nvSpPr>
          <p:cNvPr id="4" name="Slide Number Placeholder 3"/>
          <p:cNvSpPr>
            <a:spLocks noGrp="1"/>
          </p:cNvSpPr>
          <p:nvPr>
            <p:ph type="sldNum" sz="quarter" idx="5"/>
          </p:nvPr>
        </p:nvSpPr>
        <p:spPr/>
        <p:txBody>
          <a:bodyPr/>
          <a:lstStyle/>
          <a:p>
            <a:fld id="{00272782-1832-4877-AB86-2A70A7554A9D}" type="slidenum">
              <a:rPr lang="en-US"/>
              <a:t>3</a:t>
            </a:fld>
            <a:endParaRPr lang="en-US"/>
          </a:p>
        </p:txBody>
      </p:sp>
    </p:spTree>
    <p:extLst>
      <p:ext uri="{BB962C8B-B14F-4D97-AF65-F5344CB8AC3E}">
        <p14:creationId xmlns:p14="http://schemas.microsoft.com/office/powerpoint/2010/main" val="2331536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 release, then Mainstream Support (5 years: new features, security updates, non-security updates), then end of support, then Extended Support (5 years: security updates, non-security updates), then Extended Security Updates (up to 3 years: optional subscription, security updates only), then end of Extended Security Updates. The bar is drawn to the stated durations: 5 / 5 / 3 years.</a:t>
            </a:r>
          </a:p>
        </p:txBody>
      </p:sp>
      <p:sp>
        <p:nvSpPr>
          <p:cNvPr id="4" name="Slide Number Placeholder 3"/>
          <p:cNvSpPr>
            <a:spLocks noGrp="1"/>
          </p:cNvSpPr>
          <p:nvPr>
            <p:ph type="sldNum" sz="quarter" idx="5"/>
          </p:nvPr>
        </p:nvSpPr>
        <p:spPr/>
        <p:txBody>
          <a:bodyPr/>
          <a:lstStyle/>
          <a:p>
            <a:fld id="{00272782-1832-4877-AB86-2A70A7554A9D}" type="slidenum">
              <a:rPr lang="en-US"/>
              <a:t>4</a:t>
            </a:fld>
            <a:endParaRPr lang="en-US"/>
          </a:p>
        </p:txBody>
      </p:sp>
    </p:spTree>
    <p:extLst>
      <p:ext uri="{BB962C8B-B14F-4D97-AF65-F5344CB8AC3E}">
        <p14:creationId xmlns:p14="http://schemas.microsoft.com/office/powerpoint/2010/main" val="2037896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Critical: a vulnerability, including malware from browsing to a web page or opening email, whose exploitation could allow code execution without user interaction. Important: a vulnerability whose exploitation could compromise the confidentiality, integrity, or availability of user data or availability of processing resources.</a:t>
            </a:r>
          </a:p>
        </p:txBody>
      </p:sp>
      <p:sp>
        <p:nvSpPr>
          <p:cNvPr id="4" name="Slide Number Placeholder 3"/>
          <p:cNvSpPr>
            <a:spLocks noGrp="1"/>
          </p:cNvSpPr>
          <p:nvPr>
            <p:ph type="sldNum" sz="quarter" idx="5"/>
          </p:nvPr>
        </p:nvSpPr>
        <p:spPr/>
        <p:txBody>
          <a:bodyPr/>
          <a:lstStyle/>
          <a:p>
            <a:fld id="{00272782-1832-4877-AB86-2A70A7554A9D}" type="slidenum">
              <a:rPr lang="en-US"/>
              <a:t>5</a:t>
            </a:fld>
            <a:endParaRPr lang="en-US"/>
          </a:p>
        </p:txBody>
      </p:sp>
    </p:spTree>
    <p:extLst>
      <p:ext uri="{BB962C8B-B14F-4D97-AF65-F5344CB8AC3E}">
        <p14:creationId xmlns:p14="http://schemas.microsoft.com/office/powerpoint/2010/main" val="123431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01 - The cost of standing still. Covers the ESU pricing model (where ESU is free and where it is paid) and what that costs in practice.</a:t>
            </a:r>
          </a:p>
        </p:txBody>
      </p:sp>
      <p:sp>
        <p:nvSpPr>
          <p:cNvPr id="4" name="Slide Number Placeholder 3"/>
          <p:cNvSpPr>
            <a:spLocks noGrp="1"/>
          </p:cNvSpPr>
          <p:nvPr>
            <p:ph type="sldNum" sz="quarter" idx="5"/>
          </p:nvPr>
        </p:nvSpPr>
        <p:spPr/>
        <p:txBody>
          <a:bodyPr/>
          <a:lstStyle/>
          <a:p>
            <a:fld id="{00272782-1832-4877-AB86-2A70A7554A9D}" type="slidenum">
              <a:rPr lang="en-US"/>
              <a:t>6</a:t>
            </a:fld>
            <a:endParaRPr lang="en-US"/>
          </a:p>
        </p:txBody>
      </p:sp>
    </p:spTree>
    <p:extLst>
      <p:ext uri="{BB962C8B-B14F-4D97-AF65-F5344CB8AC3E}">
        <p14:creationId xmlns:p14="http://schemas.microsoft.com/office/powerpoint/2010/main" val="693059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SQL Server 2016 and Windows Server 2016 ESU are paid on Azure VMs, Azure Dedicated Host, Azure Local, Azure VMware Solution and Azure Nutanix Solution - where the 2012 wave was free. Pricing structure: 100% of the full license price per year, same price across all 3 years. Compute, log ingestion and storage costs are not included.</a:t>
            </a:r>
          </a:p>
        </p:txBody>
      </p:sp>
      <p:sp>
        <p:nvSpPr>
          <p:cNvPr id="4" name="Slide Number Placeholder 3"/>
          <p:cNvSpPr>
            <a:spLocks noGrp="1"/>
          </p:cNvSpPr>
          <p:nvPr>
            <p:ph type="sldNum" sz="quarter" idx="5"/>
          </p:nvPr>
        </p:nvSpPr>
        <p:spPr/>
        <p:txBody>
          <a:bodyPr/>
          <a:lstStyle/>
          <a:p>
            <a:fld id="{00272782-1832-4877-AB86-2A70A7554A9D}" type="slidenum">
              <a:rPr lang="en-US"/>
              <a:t>7</a:t>
            </a:fld>
            <a:endParaRPr lang="en-US"/>
          </a:p>
        </p:txBody>
      </p:sp>
    </p:spTree>
    <p:extLst>
      <p:ext uri="{BB962C8B-B14F-4D97-AF65-F5344CB8AC3E}">
        <p14:creationId xmlns:p14="http://schemas.microsoft.com/office/powerpoint/2010/main" val="3215560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Rate card: SQL Server 2016 ESU list price per 2-core pack per month, Enterprise GBP 814, Standard GBP 209. The table multiplies that rate by core count. GBP 3.66m is the full 3-year exposure for 250 Enterprise cores at the same price in each of the three ESU years. Azure Arc pricing, GBP list, excludes VAT and EA/CSP discount.</a:t>
            </a:r>
          </a:p>
        </p:txBody>
      </p:sp>
      <p:sp>
        <p:nvSpPr>
          <p:cNvPr id="4" name="Slide Number Placeholder 3"/>
          <p:cNvSpPr>
            <a:spLocks noGrp="1"/>
          </p:cNvSpPr>
          <p:nvPr>
            <p:ph type="sldNum" sz="quarter" idx="5"/>
          </p:nvPr>
        </p:nvSpPr>
        <p:spPr/>
        <p:txBody>
          <a:bodyPr/>
          <a:lstStyle/>
          <a:p>
            <a:fld id="{00272782-1832-4877-AB86-2A70A7554A9D}" type="slidenum">
              <a:rPr lang="en-US"/>
              <a:t>8</a:t>
            </a:fld>
            <a:endParaRPr lang="en-US"/>
          </a:p>
        </p:txBody>
      </p:sp>
    </p:spTree>
    <p:extLst>
      <p:ext uri="{BB962C8B-B14F-4D97-AF65-F5344CB8AC3E}">
        <p14:creationId xmlns:p14="http://schemas.microsoft.com/office/powerpoint/2010/main" val="2814131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02 - Your options. Covers the three paths off SQL Server 2016, the Azure SQL family, ESU enabled by Azure Arc, Azure Accelerate and the zero-cost modernisation offer.</a:t>
            </a:r>
          </a:p>
        </p:txBody>
      </p:sp>
      <p:sp>
        <p:nvSpPr>
          <p:cNvPr id="4" name="Slide Number Placeholder 3"/>
          <p:cNvSpPr>
            <a:spLocks noGrp="1"/>
          </p:cNvSpPr>
          <p:nvPr>
            <p:ph type="sldNum" sz="quarter" idx="5"/>
          </p:nvPr>
        </p:nvSpPr>
        <p:spPr/>
        <p:txBody>
          <a:bodyPr/>
          <a:lstStyle/>
          <a:p>
            <a:fld id="{00272782-1832-4877-AB86-2A70A7554A9D}" type="slidenum">
              <a:rPr lang="en-US"/>
              <a:t>9</a:t>
            </a:fld>
            <a:endParaRPr lang="en-US"/>
          </a:p>
        </p:txBody>
      </p:sp>
    </p:spTree>
    <p:extLst>
      <p:ext uri="{BB962C8B-B14F-4D97-AF65-F5344CB8AC3E}">
        <p14:creationId xmlns:p14="http://schemas.microsoft.com/office/powerpoint/2010/main" val="2215934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paths: modernise on Azure PaaS; upgrade to SQL Server 2025 in or outside Azure; or purchase Extended Security Updates.</a:t>
            </a:r>
          </a:p>
        </p:txBody>
      </p:sp>
      <p:sp>
        <p:nvSpPr>
          <p:cNvPr id="4" name="Slide Number Placeholder 3"/>
          <p:cNvSpPr>
            <a:spLocks noGrp="1"/>
          </p:cNvSpPr>
          <p:nvPr>
            <p:ph type="sldNum" sz="quarter" idx="5"/>
          </p:nvPr>
        </p:nvSpPr>
        <p:spPr/>
        <p:txBody>
          <a:bodyPr/>
          <a:lstStyle/>
          <a:p>
            <a:fld id="{00272782-1832-4877-AB86-2A70A7554A9D}" type="slidenum">
              <a:rPr lang="en-US"/>
              <a:t>10</a:t>
            </a:fld>
            <a:endParaRPr lang="en-US"/>
          </a:p>
        </p:txBody>
      </p:sp>
    </p:spTree>
    <p:extLst>
      <p:ext uri="{BB962C8B-B14F-4D97-AF65-F5344CB8AC3E}">
        <p14:creationId xmlns:p14="http://schemas.microsoft.com/office/powerpoint/2010/main" val="47428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Azure SQL family runs from migration to innovation: Azure SQL enabled by Azure Arc, SQL Server on Azure Virtual Machines, Azure SQL Managed Instance, Azure SQL Database.</a:t>
            </a:r>
          </a:p>
        </p:txBody>
      </p:sp>
      <p:sp>
        <p:nvSpPr>
          <p:cNvPr id="4" name="Slide Number Placeholder 3"/>
          <p:cNvSpPr>
            <a:spLocks noGrp="1"/>
          </p:cNvSpPr>
          <p:nvPr>
            <p:ph type="sldNum" sz="quarter" idx="5"/>
          </p:nvPr>
        </p:nvSpPr>
        <p:spPr/>
        <p:txBody>
          <a:bodyPr/>
          <a:lstStyle/>
          <a:p>
            <a:fld id="{00272782-1832-4877-AB86-2A70A7554A9D}" type="slidenum">
              <a:rPr lang="en-US"/>
              <a:t>11</a:t>
            </a:fld>
            <a:endParaRPr lang="en-US"/>
          </a:p>
        </p:txBody>
      </p:sp>
    </p:spTree>
    <p:extLst>
      <p:ext uri="{BB962C8B-B14F-4D97-AF65-F5344CB8AC3E}">
        <p14:creationId xmlns:p14="http://schemas.microsoft.com/office/powerpoint/2010/main" val="1854642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ESU enabled by Azure Arc: flexible billing and savings, visibility and reliability, security and compliance. Works with Microsoft Defender for Cloud, Azure Monitor, Azure Policy and Microsoft Sentinel.</a:t>
            </a:r>
          </a:p>
        </p:txBody>
      </p:sp>
      <p:sp>
        <p:nvSpPr>
          <p:cNvPr id="4" name="Slide Number Placeholder 3"/>
          <p:cNvSpPr>
            <a:spLocks noGrp="1"/>
          </p:cNvSpPr>
          <p:nvPr>
            <p:ph type="sldNum" sz="quarter" idx="5"/>
          </p:nvPr>
        </p:nvSpPr>
        <p:spPr/>
        <p:txBody>
          <a:bodyPr/>
          <a:lstStyle/>
          <a:p>
            <a:fld id="{00272782-1832-4877-AB86-2A70A7554A9D}" type="slidenum">
              <a:rPr lang="en-US"/>
              <a:t>12</a:t>
            </a:fld>
            <a:endParaRPr lang="en-US"/>
          </a:p>
        </p:txBody>
      </p:sp>
    </p:spTree>
    <p:extLst>
      <p:ext uri="{BB962C8B-B14F-4D97-AF65-F5344CB8AC3E}">
        <p14:creationId xmlns:p14="http://schemas.microsoft.com/office/powerpoint/2010/main" val="3116522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Arc gives a detailed inventory of the SQL Server estate and near real-time performance monitoring from the Azure Portal. Benefits: reduce risk of incidents, unplanned downtime and security breaches; increase DBA efficiency; reduce infrastructure cost through better capacity planning.</a:t>
            </a:r>
          </a:p>
        </p:txBody>
      </p:sp>
      <p:sp>
        <p:nvSpPr>
          <p:cNvPr id="4" name="Slide Number Placeholder 3"/>
          <p:cNvSpPr>
            <a:spLocks noGrp="1"/>
          </p:cNvSpPr>
          <p:nvPr>
            <p:ph type="sldNum" sz="quarter" idx="5"/>
          </p:nvPr>
        </p:nvSpPr>
        <p:spPr/>
        <p:txBody>
          <a:bodyPr/>
          <a:lstStyle/>
          <a:p>
            <a:fld id="{00272782-1832-4877-AB86-2A70A7554A9D}" type="slidenum">
              <a:rPr lang="en-US"/>
              <a:t>13</a:t>
            </a:fld>
            <a:endParaRPr lang="en-US"/>
          </a:p>
        </p:txBody>
      </p:sp>
    </p:spTree>
    <p:extLst>
      <p:ext uri="{BB962C8B-B14F-4D97-AF65-F5344CB8AC3E}">
        <p14:creationId xmlns:p14="http://schemas.microsoft.com/office/powerpoint/2010/main" val="220008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Cloud Accelerate Factory: zero-cost deployment assistance for 30+ Azure services via joint delivery with an Azure partner. Relevant scope items: Migrate Infrastructure and Databases; Modernize SQL, OSS &amp; NoSQL Database to PaaS; Deploy Arc (Windows/SQL Arc).</a:t>
            </a:r>
          </a:p>
        </p:txBody>
      </p:sp>
      <p:sp>
        <p:nvSpPr>
          <p:cNvPr id="4" name="Slide Number Placeholder 3"/>
          <p:cNvSpPr>
            <a:spLocks noGrp="1"/>
          </p:cNvSpPr>
          <p:nvPr>
            <p:ph type="sldNum" sz="quarter" idx="5"/>
          </p:nvPr>
        </p:nvSpPr>
        <p:spPr/>
        <p:txBody>
          <a:bodyPr/>
          <a:lstStyle/>
          <a:p>
            <a:fld id="{00272782-1832-4877-AB86-2A70A7554A9D}" type="slidenum">
              <a:rPr lang="en-US"/>
              <a:t>14</a:t>
            </a:fld>
            <a:endParaRPr lang="en-US"/>
          </a:p>
        </p:txBody>
      </p:sp>
    </p:spTree>
    <p:extLst>
      <p:ext uri="{BB962C8B-B14F-4D97-AF65-F5344CB8AC3E}">
        <p14:creationId xmlns:p14="http://schemas.microsoft.com/office/powerpoint/2010/main" val="2008523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zero-cost modernisation offer for SQL Server 2016 on Azure VMs, delivered through the Cloud Accelerate Factory and available through 13 July 2027.</a:t>
            </a:r>
          </a:p>
        </p:txBody>
      </p:sp>
      <p:sp>
        <p:nvSpPr>
          <p:cNvPr id="4" name="Slide Number Placeholder 3"/>
          <p:cNvSpPr>
            <a:spLocks noGrp="1"/>
          </p:cNvSpPr>
          <p:nvPr>
            <p:ph type="sldNum" sz="quarter" idx="5"/>
          </p:nvPr>
        </p:nvSpPr>
        <p:spPr/>
        <p:txBody>
          <a:bodyPr/>
          <a:lstStyle/>
          <a:p>
            <a:fld id="{00272782-1832-4877-AB86-2A70A7554A9D}" type="slidenum">
              <a:rPr lang="en-US"/>
              <a:t>15</a:t>
            </a:fld>
            <a:endParaRPr lang="en-US"/>
          </a:p>
        </p:txBody>
      </p:sp>
    </p:spTree>
    <p:extLst>
      <p:ext uri="{BB962C8B-B14F-4D97-AF65-F5344CB8AC3E}">
        <p14:creationId xmlns:p14="http://schemas.microsoft.com/office/powerpoint/2010/main" val="283855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03 - First, find what you actually have. Covers the two discovery scripts, what access they need, usage, tuning, example output and the path from inventory to plan.</a:t>
            </a:r>
          </a:p>
        </p:txBody>
      </p:sp>
      <p:sp>
        <p:nvSpPr>
          <p:cNvPr id="4" name="Slide Number Placeholder 3"/>
          <p:cNvSpPr>
            <a:spLocks noGrp="1"/>
          </p:cNvSpPr>
          <p:nvPr>
            <p:ph type="sldNum" sz="quarter" idx="5"/>
          </p:nvPr>
        </p:nvSpPr>
        <p:spPr/>
        <p:txBody>
          <a:bodyPr/>
          <a:lstStyle/>
          <a:p>
            <a:fld id="{00272782-1832-4877-AB86-2A70A7554A9D}" type="slidenum">
              <a:rPr lang="en-US"/>
              <a:t>16</a:t>
            </a:fld>
            <a:endParaRPr lang="en-US"/>
          </a:p>
        </p:txBody>
      </p:sp>
    </p:spTree>
    <p:extLst>
      <p:ext uri="{BB962C8B-B14F-4D97-AF65-F5344CB8AC3E}">
        <p14:creationId xmlns:p14="http://schemas.microsoft.com/office/powerpoint/2010/main" val="2206426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scripts capture Server Name, Instance, SQL Version, SQL Edition, FQDN and IP Address. Timings measured in an isolated Azure lab (sqltest.local): domain controller script 1.3 seconds, member server script 13.2 seconds for a /24. No SQL login used in either case.</a:t>
            </a:r>
          </a:p>
        </p:txBody>
      </p:sp>
      <p:sp>
        <p:nvSpPr>
          <p:cNvPr id="4" name="Slide Number Placeholder 3"/>
          <p:cNvSpPr>
            <a:spLocks noGrp="1"/>
          </p:cNvSpPr>
          <p:nvPr>
            <p:ph type="sldNum" sz="quarter" idx="5"/>
          </p:nvPr>
        </p:nvSpPr>
        <p:spPr/>
        <p:txBody>
          <a:bodyPr/>
          <a:lstStyle/>
          <a:p>
            <a:fld id="{00272782-1832-4877-AB86-2A70A7554A9D}" type="slidenum">
              <a:rPr lang="en-US"/>
              <a:t>17</a:t>
            </a:fld>
            <a:endParaRPr lang="en-US"/>
          </a:p>
        </p:txBody>
      </p:sp>
    </p:spTree>
    <p:extLst>
      <p:ext uri="{BB962C8B-B14F-4D97-AF65-F5344CB8AC3E}">
        <p14:creationId xmlns:p14="http://schemas.microsoft.com/office/powerpoint/2010/main" val="245264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registry keys read are HKLM\SOFTWARE\Microsoft\Microsoft SQL Server\Instance Names\SQL for the instance list and HKLM\SOFTWARE\Microsoft\Microsoft SQL Server\&lt;InstanceKey&gt;\Setup for version, edition and patch level. Read via WMI's StdRegProv class over a CIM session, which accepts alternate credentials.</a:t>
            </a:r>
          </a:p>
        </p:txBody>
      </p:sp>
      <p:sp>
        <p:nvSpPr>
          <p:cNvPr id="4" name="Slide Number Placeholder 3"/>
          <p:cNvSpPr>
            <a:spLocks noGrp="1"/>
          </p:cNvSpPr>
          <p:nvPr>
            <p:ph type="sldNum" sz="quarter" idx="5"/>
          </p:nvPr>
        </p:nvSpPr>
        <p:spPr/>
        <p:txBody>
          <a:bodyPr/>
          <a:lstStyle/>
          <a:p>
            <a:fld id="{00272782-1832-4877-AB86-2A70A7554A9D}" type="slidenum">
              <a:rPr lang="en-US"/>
              <a:t>18</a:t>
            </a:fld>
            <a:endParaRPr lang="en-US"/>
          </a:p>
        </p:txBody>
      </p:sp>
    </p:spTree>
    <p:extLst>
      <p:ext uri="{BB962C8B-B14F-4D97-AF65-F5344CB8AC3E}">
        <p14:creationId xmlns:p14="http://schemas.microsoft.com/office/powerpoint/2010/main" val="1261266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controller script needs read access to Active Directory, the RSAT ActiveDirectory PowerShell module, local Administrator on each target SQL host and WMI/RPC to targets (TCP 135 plus the dynamic range). Member server script needs UDP 1434 outbound, TCP 1433 outbound and any custom ports, local Administrator on each target SQL host, WMI/RPC to targets, and authorisation to scan the subnet.</a:t>
            </a:r>
          </a:p>
        </p:txBody>
      </p:sp>
      <p:sp>
        <p:nvSpPr>
          <p:cNvPr id="4" name="Slide Number Placeholder 3"/>
          <p:cNvSpPr>
            <a:spLocks noGrp="1"/>
          </p:cNvSpPr>
          <p:nvPr>
            <p:ph type="sldNum" sz="quarter" idx="5"/>
          </p:nvPr>
        </p:nvSpPr>
        <p:spPr/>
        <p:txBody>
          <a:bodyPr/>
          <a:lstStyle/>
          <a:p>
            <a:fld id="{00272782-1832-4877-AB86-2A70A7554A9D}" type="slidenum">
              <a:rPr lang="en-US"/>
              <a:t>19</a:t>
            </a:fld>
            <a:endParaRPr lang="en-US"/>
          </a:p>
        </p:txBody>
      </p:sp>
    </p:spTree>
    <p:extLst>
      <p:ext uri="{BB962C8B-B14F-4D97-AF65-F5344CB8AC3E}">
        <p14:creationId xmlns:p14="http://schemas.microsoft.com/office/powerpoint/2010/main" val="451899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usage forms for SQL-Discovery-DomainController.ps1: default, -AuthMode Prompt, -Credential $cred for automation, and -OutputCsv for a custom output location.</a:t>
            </a:r>
          </a:p>
        </p:txBody>
      </p:sp>
      <p:sp>
        <p:nvSpPr>
          <p:cNvPr id="4" name="Slide Number Placeholder 3"/>
          <p:cNvSpPr>
            <a:spLocks noGrp="1"/>
          </p:cNvSpPr>
          <p:nvPr>
            <p:ph type="sldNum" sz="quarter" idx="5"/>
          </p:nvPr>
        </p:nvSpPr>
        <p:spPr/>
        <p:txBody>
          <a:bodyPr/>
          <a:lstStyle/>
          <a:p>
            <a:fld id="{00272782-1832-4877-AB86-2A70A7554A9D}" type="slidenum">
              <a:rPr lang="en-US"/>
              <a:t>20</a:t>
            </a:fld>
            <a:endParaRPr lang="en-US"/>
          </a:p>
        </p:txBody>
      </p:sp>
    </p:spTree>
    <p:extLst>
      <p:ext uri="{BB962C8B-B14F-4D97-AF65-F5344CB8AC3E}">
        <p14:creationId xmlns:p14="http://schemas.microsoft.com/office/powerpoint/2010/main" val="3597987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Subnet sizing: /24 = 254 usable hosts, about 13 seconds; /22 = 1,022 hosts, about 50 seconds; /25 = 126 hosts, about 7 seconds; /20 = 4,094 hosts, about 3 minutes. /31 and /32 are rejected.</a:t>
            </a:r>
          </a:p>
        </p:txBody>
      </p:sp>
      <p:sp>
        <p:nvSpPr>
          <p:cNvPr id="4" name="Slide Number Placeholder 3"/>
          <p:cNvSpPr>
            <a:spLocks noGrp="1"/>
          </p:cNvSpPr>
          <p:nvPr>
            <p:ph type="sldNum" sz="quarter" idx="5"/>
          </p:nvPr>
        </p:nvSpPr>
        <p:spPr/>
        <p:txBody>
          <a:bodyPr/>
          <a:lstStyle/>
          <a:p>
            <a:fld id="{00272782-1832-4877-AB86-2A70A7554A9D}" type="slidenum">
              <a:rPr lang="en-US"/>
              <a:t>21</a:t>
            </a:fld>
            <a:endParaRPr lang="en-US"/>
          </a:p>
        </p:txBody>
      </p:sp>
    </p:spTree>
    <p:extLst>
      <p:ext uri="{BB962C8B-B14F-4D97-AF65-F5344CB8AC3E}">
        <p14:creationId xmlns:p14="http://schemas.microsoft.com/office/powerpoint/2010/main" val="2403814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Parameter defaults for SQL-Discovery-MemberServer.ps1. Version map: 13 = SQL Server 2016, 14 = 2017, 15 = 2019, 16 = 2022, 17 = 2025.</a:t>
            </a:r>
          </a:p>
        </p:txBody>
      </p:sp>
      <p:sp>
        <p:nvSpPr>
          <p:cNvPr id="4" name="Slide Number Placeholder 3"/>
          <p:cNvSpPr>
            <a:spLocks noGrp="1"/>
          </p:cNvSpPr>
          <p:nvPr>
            <p:ph type="sldNum" sz="quarter" idx="5"/>
          </p:nvPr>
        </p:nvSpPr>
        <p:spPr/>
        <p:txBody>
          <a:bodyPr/>
          <a:lstStyle/>
          <a:p>
            <a:fld id="{00272782-1832-4877-AB86-2A70A7554A9D}" type="slidenum">
              <a:rPr lang="en-US"/>
              <a:t>22</a:t>
            </a:fld>
            <a:endParaRPr lang="en-US"/>
          </a:p>
        </p:txBody>
      </p:sp>
    </p:spTree>
    <p:extLst>
      <p:ext uri="{BB962C8B-B14F-4D97-AF65-F5344CB8AC3E}">
        <p14:creationId xmlns:p14="http://schemas.microsoft.com/office/powerpoint/2010/main" val="1129214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Sixteen CSV fields. ServicePrincipalName appears in the domain controller script only; DetectedBy in the subnet script only. DiscoveredVia is the audit trail of which method produced the row.</a:t>
            </a:r>
          </a:p>
        </p:txBody>
      </p:sp>
      <p:sp>
        <p:nvSpPr>
          <p:cNvPr id="4" name="Slide Number Placeholder 3"/>
          <p:cNvSpPr>
            <a:spLocks noGrp="1"/>
          </p:cNvSpPr>
          <p:nvPr>
            <p:ph type="sldNum" sz="quarter" idx="5"/>
          </p:nvPr>
        </p:nvSpPr>
        <p:spPr/>
        <p:txBody>
          <a:bodyPr/>
          <a:lstStyle/>
          <a:p>
            <a:fld id="{00272782-1832-4877-AB86-2A70A7554A9D}" type="slidenum">
              <a:rPr lang="en-US"/>
              <a:t>23</a:t>
            </a:fld>
            <a:endParaRPr lang="en-US"/>
          </a:p>
        </p:txBody>
      </p:sp>
    </p:spTree>
    <p:extLst>
      <p:ext uri="{BB962C8B-B14F-4D97-AF65-F5344CB8AC3E}">
        <p14:creationId xmlns:p14="http://schemas.microsoft.com/office/powerpoint/2010/main" val="2665864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controller script output. The long line is wrapped for the slide; the CSV itself is a single row. SQLVersion 16.0.1000.6 is the RTM build it was installed from, PatchLevel 16.0.4255.1 is what it runs now.</a:t>
            </a:r>
          </a:p>
        </p:txBody>
      </p:sp>
      <p:sp>
        <p:nvSpPr>
          <p:cNvPr id="4" name="Slide Number Placeholder 3"/>
          <p:cNvSpPr>
            <a:spLocks noGrp="1"/>
          </p:cNvSpPr>
          <p:nvPr>
            <p:ph type="sldNum" sz="quarter" idx="5"/>
          </p:nvPr>
        </p:nvSpPr>
        <p:spPr/>
        <p:txBody>
          <a:bodyPr/>
          <a:lstStyle/>
          <a:p>
            <a:fld id="{00272782-1832-4877-AB86-2A70A7554A9D}" type="slidenum">
              <a:rPr lang="en-US"/>
              <a:t>24</a:t>
            </a:fld>
            <a:endParaRPr lang="en-US"/>
          </a:p>
        </p:txBody>
      </p:sp>
    </p:spTree>
    <p:extLst>
      <p:ext uri="{BB962C8B-B14F-4D97-AF65-F5344CB8AC3E}">
        <p14:creationId xmlns:p14="http://schemas.microsoft.com/office/powerpoint/2010/main" val="1172518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Console output of the member server subnet scan: 254 addresses swept, 1 endpoint found, 1 instance read, elapsed 13.2 seconds.</a:t>
            </a:r>
          </a:p>
        </p:txBody>
      </p:sp>
      <p:sp>
        <p:nvSpPr>
          <p:cNvPr id="4" name="Slide Number Placeholder 3"/>
          <p:cNvSpPr>
            <a:spLocks noGrp="1"/>
          </p:cNvSpPr>
          <p:nvPr>
            <p:ph type="sldNum" sz="quarter" idx="5"/>
          </p:nvPr>
        </p:nvSpPr>
        <p:spPr/>
        <p:txBody>
          <a:bodyPr/>
          <a:lstStyle/>
          <a:p>
            <a:fld id="{00272782-1832-4877-AB86-2A70A7554A9D}" type="slidenum">
              <a:rPr lang="en-US"/>
              <a:t>25</a:t>
            </a:fld>
            <a:endParaRPr lang="en-US"/>
          </a:p>
        </p:txBody>
      </p:sp>
    </p:spTree>
    <p:extLst>
      <p:ext uri="{BB962C8B-B14F-4D97-AF65-F5344CB8AC3E}">
        <p14:creationId xmlns:p14="http://schemas.microsoft.com/office/powerpoint/2010/main" val="459536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Unreachable hosts are reported, not dropped: the Status column carries the reason. With no instances found the subnet script still writes a valid header-only CSV.</a:t>
            </a:r>
          </a:p>
        </p:txBody>
      </p:sp>
      <p:sp>
        <p:nvSpPr>
          <p:cNvPr id="4" name="Slide Number Placeholder 3"/>
          <p:cNvSpPr>
            <a:spLocks noGrp="1"/>
          </p:cNvSpPr>
          <p:nvPr>
            <p:ph type="sldNum" sz="quarter" idx="5"/>
          </p:nvPr>
        </p:nvSpPr>
        <p:spPr/>
        <p:txBody>
          <a:bodyPr/>
          <a:lstStyle/>
          <a:p>
            <a:fld id="{00272782-1832-4877-AB86-2A70A7554A9D}" type="slidenum">
              <a:rPr lang="en-US"/>
              <a:t>26</a:t>
            </a:fld>
            <a:endParaRPr lang="en-US"/>
          </a:p>
        </p:txBody>
      </p:sp>
    </p:spTree>
    <p:extLst>
      <p:ext uri="{BB962C8B-B14F-4D97-AF65-F5344CB8AC3E}">
        <p14:creationId xmlns:p14="http://schemas.microsoft.com/office/powerpoint/2010/main" val="1338833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common failures and their fixes, in the order you are most likely to hit them.</a:t>
            </a:r>
          </a:p>
        </p:txBody>
      </p:sp>
      <p:sp>
        <p:nvSpPr>
          <p:cNvPr id="4" name="Slide Number Placeholder 3"/>
          <p:cNvSpPr>
            <a:spLocks noGrp="1"/>
          </p:cNvSpPr>
          <p:nvPr>
            <p:ph type="sldNum" sz="quarter" idx="5"/>
          </p:nvPr>
        </p:nvSpPr>
        <p:spPr/>
        <p:txBody>
          <a:bodyPr/>
          <a:lstStyle/>
          <a:p>
            <a:fld id="{00272782-1832-4877-AB86-2A70A7554A9D}" type="slidenum">
              <a:rPr lang="en-US"/>
              <a:t>27</a:t>
            </a:fld>
            <a:endParaRPr lang="en-US"/>
          </a:p>
        </p:txBody>
      </p:sp>
    </p:spTree>
    <p:extLst>
      <p:ext uri="{BB962C8B-B14F-4D97-AF65-F5344CB8AC3E}">
        <p14:creationId xmlns:p14="http://schemas.microsoft.com/office/powerpoint/2010/main" val="3618272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Discover, size the exposure, decide per workload, engage. Billing is hourly and pro-rated, so the ESU bill falls as each instance moves.</a:t>
            </a:r>
          </a:p>
        </p:txBody>
      </p:sp>
      <p:sp>
        <p:nvSpPr>
          <p:cNvPr id="4" name="Slide Number Placeholder 3"/>
          <p:cNvSpPr>
            <a:spLocks noGrp="1"/>
          </p:cNvSpPr>
          <p:nvPr>
            <p:ph type="sldNum" sz="quarter" idx="5"/>
          </p:nvPr>
        </p:nvSpPr>
        <p:spPr/>
        <p:txBody>
          <a:bodyPr/>
          <a:lstStyle/>
          <a:p>
            <a:fld id="{00272782-1832-4877-AB86-2A70A7554A9D}" type="slidenum">
              <a:rPr lang="en-US"/>
              <a:t>28</a:t>
            </a:fld>
            <a:endParaRPr lang="en-US"/>
          </a:p>
        </p:txBody>
      </p:sp>
    </p:spTree>
    <p:extLst>
      <p:ext uri="{BB962C8B-B14F-4D97-AF65-F5344CB8AC3E}">
        <p14:creationId xmlns:p14="http://schemas.microsoft.com/office/powerpoint/2010/main" val="2730049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Contact: Russell McKee, Cloud Solution Architect, Microsoft UK, russell.mckee@microsoft.com. The disclaimer is required: the scripts are provided AS IS and are not supported by Microsoft.</a:t>
            </a:r>
          </a:p>
        </p:txBody>
      </p:sp>
      <p:sp>
        <p:nvSpPr>
          <p:cNvPr id="4" name="Slide Number Placeholder 3"/>
          <p:cNvSpPr>
            <a:spLocks noGrp="1"/>
          </p:cNvSpPr>
          <p:nvPr>
            <p:ph type="sldNum" sz="quarter" idx="5"/>
          </p:nvPr>
        </p:nvSpPr>
        <p:spPr/>
        <p:txBody>
          <a:bodyPr/>
          <a:lstStyle/>
          <a:p>
            <a:fld id="{00272782-1832-4877-AB86-2A70A7554A9D}" type="slidenum">
              <a:rPr lang="en-US"/>
              <a:t>29</a:t>
            </a:fld>
            <a:endParaRPr lang="en-US"/>
          </a:p>
        </p:txBody>
      </p:sp>
    </p:spTree>
    <p:extLst>
      <p:ext uri="{BB962C8B-B14F-4D97-AF65-F5344CB8AC3E}">
        <p14:creationId xmlns:p14="http://schemas.microsoft.com/office/powerpoint/2010/main" val="384370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11405" name="Rectangle 11404">
            <a:extLst>
              <a:ext uri="{FF2B5EF4-FFF2-40B4-BE49-F238E27FC236}">
                <a16:creationId xmlns:a16="http://schemas.microsoft.com/office/drawing/2014/main" id="{1FF38E5E-9F53-80AB-E5B3-50606D581F97}"/>
              </a:ext>
            </a:extLst>
          </p:cNvPr>
          <p:cNvSpPr/>
          <p:nvPr/>
        </p:nvSpPr>
        <p:spPr>
          <a:xfrm>
            <a:off x="914400" y="1554480"/>
            <a:ext cx="8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50E6FF"/>
                </a:solidFill>
                <a:effectLst/>
                <a:latin typeface="Segoe UI Semibold" panose="020B0702040204020203" pitchFamily="34" charset="0"/>
              </a:rPr>
              <a:t>MICROSOFT UK  ·  LIFECYCLE BRIEFING</a:t>
            </a:r>
          </a:p>
          <a:p>
            <a:pPr algn="l">
              <a:buNone/>
            </a:pPr>
            <a:r>
              <a:rPr lang="en-US" sz="100">
                <a:effectLst/>
              </a:rPr>
              <a:t> </a:t>
            </a:r>
            <a:endParaRPr lang="en-US"/>
          </a:p>
        </p:txBody>
      </p:sp>
      <p:sp>
        <p:nvSpPr>
          <p:cNvPr id="11407" name="Rectangle 11406">
            <a:extLst>
              <a:ext uri="{FF2B5EF4-FFF2-40B4-BE49-F238E27FC236}">
                <a16:creationId xmlns:a16="http://schemas.microsoft.com/office/drawing/2014/main" id="{287775CB-6F3F-6B68-CDC6-B88B6E6082EF}"/>
              </a:ext>
            </a:extLst>
          </p:cNvPr>
          <p:cNvSpPr/>
          <p:nvPr/>
        </p:nvSpPr>
        <p:spPr>
          <a:xfrm>
            <a:off x="914400" y="2011680"/>
            <a:ext cx="1920240" cy="50800"/>
          </a:xfrm>
          <a:prstGeom prst="rect">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10" name="Rectangle 11409">
            <a:extLst>
              <a:ext uri="{FF2B5EF4-FFF2-40B4-BE49-F238E27FC236}">
                <a16:creationId xmlns:a16="http://schemas.microsoft.com/office/drawing/2014/main" id="{1C31860B-C9F7-7089-5520-7169FF377BF1}"/>
              </a:ext>
            </a:extLst>
          </p:cNvPr>
          <p:cNvSpPr/>
          <p:nvPr/>
        </p:nvSpPr>
        <p:spPr>
          <a:xfrm>
            <a:off x="914400" y="2194560"/>
            <a:ext cx="9000000" cy="1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a:solidFill>
                  <a:srgbClr val="FFFFFF"/>
                </a:solidFill>
                <a:effectLst/>
                <a:latin typeface="Segoe UI Light" panose="020B0502040204020203" pitchFamily="34" charset="0"/>
              </a:rPr>
              <a:t>SQL Server 2016</a:t>
            </a:r>
          </a:p>
          <a:p>
            <a:pPr algn="l">
              <a:buNone/>
            </a:pPr>
            <a:r>
              <a:rPr lang="en-US" sz="5400">
                <a:solidFill>
                  <a:srgbClr val="FFFFFF"/>
                </a:solidFill>
                <a:effectLst/>
                <a:latin typeface="Segoe UI Light" panose="020B0502040204020203" pitchFamily="34" charset="0"/>
              </a:rPr>
              <a:t>End of Support</a:t>
            </a:r>
            <a:endParaRPr lang="en-US"/>
          </a:p>
        </p:txBody>
      </p:sp>
      <p:sp>
        <p:nvSpPr>
          <p:cNvPr id="11414" name="Rectangle 11413">
            <a:extLst>
              <a:ext uri="{FF2B5EF4-FFF2-40B4-BE49-F238E27FC236}">
                <a16:creationId xmlns:a16="http://schemas.microsoft.com/office/drawing/2014/main" id="{0370E37F-3AFB-5068-F5CB-B46A3F802CC4}"/>
              </a:ext>
            </a:extLst>
          </p:cNvPr>
          <p:cNvSpPr/>
          <p:nvPr/>
        </p:nvSpPr>
        <p:spPr>
          <a:xfrm>
            <a:off x="914400" y="4206240"/>
            <a:ext cx="103632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50E6FF"/>
                </a:solidFill>
                <a:effectLst/>
                <a:latin typeface="Segoe UI" panose="020B0502040204020203" pitchFamily="34" charset="0"/>
              </a:rPr>
              <a:t>Discover your estate. Understand your options. Plan the move.</a:t>
            </a:r>
          </a:p>
          <a:p>
            <a:pPr algn="l">
              <a:buNone/>
            </a:pPr>
            <a:r>
              <a:rPr lang="en-US" sz="100">
                <a:effectLst/>
              </a:rPr>
              <a:t> </a:t>
            </a:r>
            <a:endParaRPr lang="en-US"/>
          </a:p>
        </p:txBody>
      </p:sp>
      <p:sp>
        <p:nvSpPr>
          <p:cNvPr id="11419" name="Rectangle 11418">
            <a:extLst>
              <a:ext uri="{FF2B5EF4-FFF2-40B4-BE49-F238E27FC236}">
                <a16:creationId xmlns:a16="http://schemas.microsoft.com/office/drawing/2014/main" id="{64320DE7-6FAA-5E43-C46D-409D277F7D9F}"/>
              </a:ext>
            </a:extLst>
          </p:cNvPr>
          <p:cNvSpPr/>
          <p:nvPr/>
        </p:nvSpPr>
        <p:spPr>
          <a:xfrm>
            <a:off x="914400" y="4880000"/>
            <a:ext cx="8000000" cy="4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Russell McKee  ·  Cloud Solution Architect  ·  Microsoft UK</a:t>
            </a:r>
          </a:p>
          <a:p>
            <a:pPr algn="l">
              <a:buNone/>
            </a:pPr>
            <a:r>
              <a:rPr lang="en-US" sz="100">
                <a:effectLst/>
              </a:rPr>
              <a:t> </a:t>
            </a:r>
            <a:endParaRPr lang="en-US"/>
          </a:p>
        </p:txBody>
      </p:sp>
      <p:sp>
        <p:nvSpPr>
          <p:cNvPr id="11425" name="Rectangle 11424">
            <a:extLst>
              <a:ext uri="{FF2B5EF4-FFF2-40B4-BE49-F238E27FC236}">
                <a16:creationId xmlns:a16="http://schemas.microsoft.com/office/drawing/2014/main" id="{50759DD9-9BD2-0949-847D-8F58A8165607}"/>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C7D5EA"/>
                </a:solidFill>
                <a:effectLst/>
                <a:latin typeface="Segoe UI" panose="020B0502040204020203" pitchFamily="34" charset="0"/>
              </a:rPr>
              <a:t>SQL Server 2016 End of Support</a:t>
            </a:r>
          </a:p>
          <a:p>
            <a:pPr algn="l">
              <a:buNone/>
            </a:pPr>
            <a:r>
              <a:rPr lang="en-US" sz="100">
                <a:effectLst/>
              </a:rPr>
              <a:t> </a:t>
            </a:r>
            <a:endParaRPr lang="en-US"/>
          </a:p>
        </p:txBody>
      </p:sp>
      <p:sp>
        <p:nvSpPr>
          <p:cNvPr id="11432" name="Rectangle 11431">
            <a:extLst>
              <a:ext uri="{FF2B5EF4-FFF2-40B4-BE49-F238E27FC236}">
                <a16:creationId xmlns:a16="http://schemas.microsoft.com/office/drawing/2014/main" id="{173FDAE5-A108-E087-3D76-B4CA14CDEBF8}"/>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C7D5EA"/>
                </a:solidFill>
                <a:effectLst/>
                <a:latin typeface="Segoe UI" panose="020B0502040204020203" pitchFamily="34" charset="0"/>
              </a:rPr>
              <a:t>1</a:t>
            </a:r>
          </a:p>
          <a:p>
            <a:pPr algn="r">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AD138253-8398-250E-84B3-E2CC6F7F2EE7}"/>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THE DEADLINE</a:t>
            </a:r>
          </a:p>
          <a:p>
            <a:pPr algn="l">
              <a:buNone/>
            </a:pPr>
            <a:r>
              <a:rPr lang="en-US" sz="100">
                <a:effectLst/>
              </a:rPr>
              <a:t> </a:t>
            </a:r>
            <a:endParaRPr lang="en-US"/>
          </a:p>
        </p:txBody>
      </p:sp>
      <p:sp>
        <p:nvSpPr>
          <p:cNvPr id="40" name="Rectangle 39">
            <a:extLst>
              <a:ext uri="{FF2B5EF4-FFF2-40B4-BE49-F238E27FC236}">
                <a16:creationId xmlns:a16="http://schemas.microsoft.com/office/drawing/2014/main" id="{5463A6C1-E1C5-CDFB-3D8A-A88CA0E699F9}"/>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The date that drives everything</a:t>
            </a:r>
          </a:p>
          <a:p>
            <a:pPr algn="l">
              <a:buNone/>
            </a:pPr>
            <a:r>
              <a:rPr lang="en-US" sz="100">
                <a:effectLst/>
              </a:rPr>
              <a:t> </a:t>
            </a:r>
            <a:endParaRPr lang="en-US"/>
          </a:p>
        </p:txBody>
      </p:sp>
      <p:sp>
        <p:nvSpPr>
          <p:cNvPr id="43" name="Rectangle 42">
            <a:extLst>
              <a:ext uri="{FF2B5EF4-FFF2-40B4-BE49-F238E27FC236}">
                <a16:creationId xmlns:a16="http://schemas.microsoft.com/office/drawing/2014/main" id="{B16A24F4-ADD6-9BAA-1D82-80D26B426952}"/>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CA0AAEA-A3B8-F19D-16B7-00623566B611}"/>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52" name="Rectangle 51">
            <a:extLst>
              <a:ext uri="{FF2B5EF4-FFF2-40B4-BE49-F238E27FC236}">
                <a16:creationId xmlns:a16="http://schemas.microsoft.com/office/drawing/2014/main" id="{8EE2259F-CB9D-472D-2B10-E0776A58A13B}"/>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a:t>
            </a:r>
          </a:p>
          <a:p>
            <a:pPr algn="r">
              <a:buNone/>
            </a:pPr>
            <a:r>
              <a:rPr lang="en-US" sz="100">
                <a:effectLst/>
              </a:rPr>
              <a:t> </a:t>
            </a:r>
            <a:endParaRPr lang="en-US"/>
          </a:p>
        </p:txBody>
      </p:sp>
      <p:sp>
        <p:nvSpPr>
          <p:cNvPr id="58" name="Rectangle 57">
            <a:extLst>
              <a:ext uri="{FF2B5EF4-FFF2-40B4-BE49-F238E27FC236}">
                <a16:creationId xmlns:a16="http://schemas.microsoft.com/office/drawing/2014/main" id="{B5BCCDB0-D404-1843-A9F6-7E91581D62DB}"/>
              </a:ext>
            </a:extLst>
          </p:cNvPr>
          <p:cNvSpPr/>
          <p:nvPr/>
        </p:nvSpPr>
        <p:spPr>
          <a:xfrm>
            <a:off x="914400" y="1700000"/>
            <a:ext cx="6096000" cy="36000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4BFC2DB-EB49-7283-6D9D-B2E1CF065452}"/>
              </a:ext>
            </a:extLst>
          </p:cNvPr>
          <p:cNvSpPr/>
          <p:nvPr/>
        </p:nvSpPr>
        <p:spPr>
          <a:xfrm>
            <a:off x="1143000" y="2520000"/>
            <a:ext cx="56388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0E6FF"/>
                </a:solidFill>
                <a:effectLst/>
                <a:latin typeface="Segoe UI Semibold" panose="020B0702040204020203" pitchFamily="34" charset="0"/>
              </a:rPr>
              <a:t>END OF SUPPORT DATE</a:t>
            </a:r>
          </a:p>
          <a:p>
            <a:pPr algn="l">
              <a:buNone/>
            </a:pPr>
            <a:r>
              <a:rPr lang="en-US" sz="100">
                <a:effectLst/>
              </a:rPr>
              <a:t> </a:t>
            </a:r>
            <a:endParaRPr lang="en-US"/>
          </a:p>
        </p:txBody>
      </p:sp>
      <p:sp>
        <p:nvSpPr>
          <p:cNvPr id="73" name="Rectangle 72">
            <a:extLst>
              <a:ext uri="{FF2B5EF4-FFF2-40B4-BE49-F238E27FC236}">
                <a16:creationId xmlns:a16="http://schemas.microsoft.com/office/drawing/2014/main" id="{084FEE92-6867-33D9-252D-542FCD37D72F}"/>
              </a:ext>
            </a:extLst>
          </p:cNvPr>
          <p:cNvSpPr/>
          <p:nvPr/>
        </p:nvSpPr>
        <p:spPr>
          <a:xfrm>
            <a:off x="1143000" y="2940000"/>
            <a:ext cx="5638800" cy="10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a:solidFill>
                  <a:srgbClr val="FFFFFF"/>
                </a:solidFill>
                <a:effectLst/>
                <a:latin typeface="Segoe UI Light" panose="020B0502040204020203" pitchFamily="34" charset="0"/>
              </a:rPr>
              <a:t>14 July 2026</a:t>
            </a:r>
          </a:p>
          <a:p>
            <a:pPr algn="l">
              <a:buNone/>
            </a:pPr>
            <a:r>
              <a:rPr lang="en-US" sz="100">
                <a:effectLst/>
              </a:rPr>
              <a:t> </a:t>
            </a:r>
            <a:endParaRPr lang="en-US"/>
          </a:p>
        </p:txBody>
      </p:sp>
      <p:sp>
        <p:nvSpPr>
          <p:cNvPr id="82" name="Rectangle 81">
            <a:extLst>
              <a:ext uri="{FF2B5EF4-FFF2-40B4-BE49-F238E27FC236}">
                <a16:creationId xmlns:a16="http://schemas.microsoft.com/office/drawing/2014/main" id="{83C8B9F3-6FF1-823E-F620-26AF20B53A85}"/>
              </a:ext>
            </a:extLst>
          </p:cNvPr>
          <p:cNvSpPr/>
          <p:nvPr/>
        </p:nvSpPr>
        <p:spPr>
          <a:xfrm>
            <a:off x="1143000" y="4080000"/>
            <a:ext cx="56388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C7D5EA"/>
                </a:solidFill>
                <a:effectLst/>
                <a:latin typeface="Segoe UI" panose="020B0502040204020203" pitchFamily="34" charset="0"/>
              </a:rPr>
              <a:t>SQL Server 2016</a:t>
            </a:r>
          </a:p>
          <a:p>
            <a:pPr algn="l">
              <a:buNone/>
            </a:pPr>
            <a:r>
              <a:rPr lang="en-US" sz="100">
                <a:effectLst/>
              </a:rPr>
              <a:t> </a:t>
            </a:r>
            <a:endParaRPr lang="en-US"/>
          </a:p>
        </p:txBody>
      </p:sp>
      <p:sp>
        <p:nvSpPr>
          <p:cNvPr id="92" name="Rectangle 91">
            <a:extLst>
              <a:ext uri="{FF2B5EF4-FFF2-40B4-BE49-F238E27FC236}">
                <a16:creationId xmlns:a16="http://schemas.microsoft.com/office/drawing/2014/main" id="{B50B93B3-4189-B4D4-72E6-A2CAA394EB31}"/>
              </a:ext>
            </a:extLst>
          </p:cNvPr>
          <p:cNvSpPr/>
          <p:nvPr/>
        </p:nvSpPr>
        <p:spPr>
          <a:xfrm>
            <a:off x="7315200" y="1700000"/>
            <a:ext cx="3962400" cy="36000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CBC9A630-B858-CFC0-1CE4-36CA1783F947}"/>
              </a:ext>
            </a:extLst>
          </p:cNvPr>
          <p:cNvSpPr/>
          <p:nvPr/>
        </p:nvSpPr>
        <p:spPr>
          <a:xfrm>
            <a:off x="7619400" y="2580000"/>
            <a:ext cx="3352800" cy="4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What changes</a:t>
            </a:r>
          </a:p>
          <a:p>
            <a:pPr algn="l">
              <a:buNone/>
            </a:pPr>
            <a:r>
              <a:rPr lang="en-US" sz="100">
                <a:effectLst/>
              </a:rPr>
              <a:t> </a:t>
            </a:r>
            <a:endParaRPr lang="en-US"/>
          </a:p>
        </p:txBody>
      </p:sp>
      <p:sp>
        <p:nvSpPr>
          <p:cNvPr id="115" name="Rectangle 114">
            <a:extLst>
              <a:ext uri="{FF2B5EF4-FFF2-40B4-BE49-F238E27FC236}">
                <a16:creationId xmlns:a16="http://schemas.microsoft.com/office/drawing/2014/main" id="{EB72107C-81DC-3020-7DCE-A6F431B91471}"/>
              </a:ext>
            </a:extLst>
          </p:cNvPr>
          <p:cNvSpPr/>
          <p:nvPr/>
        </p:nvSpPr>
        <p:spPr>
          <a:xfrm>
            <a:off x="7619400" y="3020000"/>
            <a:ext cx="3352800" cy="1554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F1E"/>
                </a:solidFill>
                <a:effectLst/>
                <a:latin typeface="Segoe UI" panose="020B0502040204020203" pitchFamily="34" charset="0"/>
              </a:rPr>
              <a:t>After this date there are no more security updates unless you buy Extended Security Updates (ESU) or move to a supported platform.</a:t>
            </a:r>
          </a:p>
          <a:p>
            <a:pPr algn="l">
              <a:buNone/>
            </a:pPr>
            <a:r>
              <a:rPr lang="en-US" sz="100">
                <a:effectLst/>
              </a:rPr>
              <a:t> </a:t>
            </a:r>
            <a:endParaRPr lang="en-US"/>
          </a:p>
        </p:txBody>
      </p:sp>
    </p:spTree>
    <p:extLst>
      <p:ext uri="{BB962C8B-B14F-4D97-AF65-F5344CB8AC3E}">
        <p14:creationId xmlns:p14="http://schemas.microsoft.com/office/powerpoint/2010/main" val="27808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40" name="Rectangle 11439">
            <a:extLst>
              <a:ext uri="{FF2B5EF4-FFF2-40B4-BE49-F238E27FC236}">
                <a16:creationId xmlns:a16="http://schemas.microsoft.com/office/drawing/2014/main" id="{3325E6E4-9452-1ED4-6209-4D5B139C895C}"/>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KEY DATES</a:t>
            </a:r>
          </a:p>
          <a:p>
            <a:pPr algn="l">
              <a:buNone/>
            </a:pPr>
            <a:r>
              <a:rPr lang="en-US" sz="100">
                <a:effectLst/>
              </a:rPr>
              <a:t> </a:t>
            </a:r>
            <a:endParaRPr lang="en-US"/>
          </a:p>
        </p:txBody>
      </p:sp>
      <p:sp>
        <p:nvSpPr>
          <p:cNvPr id="11449" name="Rectangle 11448">
            <a:extLst>
              <a:ext uri="{FF2B5EF4-FFF2-40B4-BE49-F238E27FC236}">
                <a16:creationId xmlns:a16="http://schemas.microsoft.com/office/drawing/2014/main" id="{C49239FF-28B3-4D75-5CEF-EA663A52052B}"/>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Timeline: 2026 to 2030</a:t>
            </a:r>
          </a:p>
          <a:p>
            <a:pPr algn="l">
              <a:buNone/>
            </a:pPr>
            <a:r>
              <a:rPr lang="en-US" sz="100">
                <a:effectLst/>
              </a:rPr>
              <a:t> </a:t>
            </a:r>
            <a:endParaRPr lang="en-US"/>
          </a:p>
        </p:txBody>
      </p:sp>
      <p:sp>
        <p:nvSpPr>
          <p:cNvPr id="11459" name="Rectangle 11458">
            <a:extLst>
              <a:ext uri="{FF2B5EF4-FFF2-40B4-BE49-F238E27FC236}">
                <a16:creationId xmlns:a16="http://schemas.microsoft.com/office/drawing/2014/main" id="{679D6F0E-D364-F4A7-6520-38E6C239028A}"/>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70" name="Rectangle 11469">
            <a:extLst>
              <a:ext uri="{FF2B5EF4-FFF2-40B4-BE49-F238E27FC236}">
                <a16:creationId xmlns:a16="http://schemas.microsoft.com/office/drawing/2014/main" id="{3AFB694F-F3F4-3198-3903-769C70618D0C}"/>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1482" name="Rectangle 11481">
            <a:extLst>
              <a:ext uri="{FF2B5EF4-FFF2-40B4-BE49-F238E27FC236}">
                <a16:creationId xmlns:a16="http://schemas.microsoft.com/office/drawing/2014/main" id="{24C256F4-04C5-DBB7-C31F-61B37688D4C6}"/>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3</a:t>
            </a:r>
          </a:p>
          <a:p>
            <a:pPr algn="r">
              <a:buNone/>
            </a:pPr>
            <a:r>
              <a:rPr lang="en-US" sz="100">
                <a:effectLst/>
              </a:rPr>
              <a:t> </a:t>
            </a:r>
            <a:endParaRPr lang="en-US"/>
          </a:p>
        </p:txBody>
      </p:sp>
      <p:sp>
        <p:nvSpPr>
          <p:cNvPr id="11495" name="Rectangle 11494">
            <a:extLst>
              <a:ext uri="{FF2B5EF4-FFF2-40B4-BE49-F238E27FC236}">
                <a16:creationId xmlns:a16="http://schemas.microsoft.com/office/drawing/2014/main" id="{1C3D64C1-E8F2-17D7-5631-B8A6F51C657B}"/>
              </a:ext>
            </a:extLst>
          </p:cNvPr>
          <p:cNvSpPr/>
          <p:nvPr/>
        </p:nvSpPr>
        <p:spPr>
          <a:xfrm>
            <a:off x="914400" y="256284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Semibold" panose="020B0702040204020203" pitchFamily="34" charset="0"/>
              </a:rPr>
              <a:t>SQL SERVER 2016</a:t>
            </a:r>
          </a:p>
          <a:p>
            <a:pPr algn="l">
              <a:buNone/>
            </a:pPr>
            <a:r>
              <a:rPr lang="en-US" sz="100">
                <a:effectLst/>
              </a:rPr>
              <a:t> </a:t>
            </a:r>
            <a:endParaRPr lang="en-US"/>
          </a:p>
        </p:txBody>
      </p:sp>
      <p:sp>
        <p:nvSpPr>
          <p:cNvPr id="11509" name="Rectangle 11508">
            <a:extLst>
              <a:ext uri="{FF2B5EF4-FFF2-40B4-BE49-F238E27FC236}">
                <a16:creationId xmlns:a16="http://schemas.microsoft.com/office/drawing/2014/main" id="{1F976646-FCC3-CF79-A586-988953E3461B}"/>
              </a:ext>
            </a:extLst>
          </p:cNvPr>
          <p:cNvSpPr/>
          <p:nvPr/>
        </p:nvSpPr>
        <p:spPr>
          <a:xfrm>
            <a:off x="2800000" y="2700000"/>
            <a:ext cx="8200000" cy="19050"/>
          </a:xfrm>
          <a:prstGeom prst="rect">
            <a:avLst/>
          </a:prstGeom>
          <a:solidFill>
            <a:srgbClr val="E1DFDD"/>
          </a:solidFill>
          <a:ln>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24" name="Oval 11523">
            <a:extLst>
              <a:ext uri="{FF2B5EF4-FFF2-40B4-BE49-F238E27FC236}">
                <a16:creationId xmlns:a16="http://schemas.microsoft.com/office/drawing/2014/main" id="{824E6D38-C048-D4CA-E450-72A812F39820}"/>
              </a:ext>
            </a:extLst>
          </p:cNvPr>
          <p:cNvSpPr/>
          <p:nvPr/>
        </p:nvSpPr>
        <p:spPr>
          <a:xfrm>
            <a:off x="3297088" y="2645000"/>
            <a:ext cx="130000" cy="13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40" name="Rectangle 11539">
            <a:extLst>
              <a:ext uri="{FF2B5EF4-FFF2-40B4-BE49-F238E27FC236}">
                <a16:creationId xmlns:a16="http://schemas.microsoft.com/office/drawing/2014/main" id="{069F4EA7-6E40-A005-453C-13A01B3CE181}"/>
              </a:ext>
            </a:extLst>
          </p:cNvPr>
          <p:cNvSpPr/>
          <p:nvPr/>
        </p:nvSpPr>
        <p:spPr>
          <a:xfrm>
            <a:off x="2512088" y="28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78D4"/>
                </a:solidFill>
                <a:effectLst/>
                <a:latin typeface="Segoe UI" panose="020B0502040204020203" pitchFamily="34" charset="0"/>
              </a:rPr>
              <a:t>14 Jul 2026</a:t>
            </a:r>
          </a:p>
          <a:p>
            <a:pPr algn="ctr">
              <a:buNone/>
            </a:pPr>
            <a:r>
              <a:rPr lang="en-US" sz="1200">
                <a:solidFill>
                  <a:srgbClr val="201F1E"/>
                </a:solidFill>
                <a:effectLst/>
                <a:latin typeface="Segoe UI" panose="020B0502040204020203" pitchFamily="34" charset="0"/>
              </a:rPr>
              <a:t>End of support</a:t>
            </a:r>
            <a:endParaRPr lang="en-US"/>
          </a:p>
        </p:txBody>
      </p:sp>
      <p:sp>
        <p:nvSpPr>
          <p:cNvPr id="11557" name="Oval 11556">
            <a:extLst>
              <a:ext uri="{FF2B5EF4-FFF2-40B4-BE49-F238E27FC236}">
                <a16:creationId xmlns:a16="http://schemas.microsoft.com/office/drawing/2014/main" id="{C64A8D8D-9AC8-2A72-F732-65165669169C}"/>
              </a:ext>
            </a:extLst>
          </p:cNvPr>
          <p:cNvSpPr/>
          <p:nvPr/>
        </p:nvSpPr>
        <p:spPr>
          <a:xfrm>
            <a:off x="3302480" y="2645000"/>
            <a:ext cx="130000" cy="13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75" name="Rectangle 11574">
            <a:extLst>
              <a:ext uri="{FF2B5EF4-FFF2-40B4-BE49-F238E27FC236}">
                <a16:creationId xmlns:a16="http://schemas.microsoft.com/office/drawing/2014/main" id="{A7FB7D98-FFF1-242A-7C7B-E7796AAE9BF0}"/>
              </a:ext>
            </a:extLst>
          </p:cNvPr>
          <p:cNvSpPr/>
          <p:nvPr/>
        </p:nvSpPr>
        <p:spPr>
          <a:xfrm>
            <a:off x="2517480" y="21228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78D4"/>
                </a:solidFill>
                <a:effectLst/>
                <a:latin typeface="Segoe UI" panose="020B0502040204020203" pitchFamily="34" charset="0"/>
              </a:rPr>
              <a:t>15 Jul 2026</a:t>
            </a:r>
          </a:p>
          <a:p>
            <a:pPr algn="ctr">
              <a:buNone/>
            </a:pPr>
            <a:r>
              <a:rPr lang="en-US" sz="1200">
                <a:solidFill>
                  <a:srgbClr val="201F1E"/>
                </a:solidFill>
                <a:effectLst/>
                <a:latin typeface="Segoe UI" panose="020B0502040204020203" pitchFamily="34" charset="0"/>
              </a:rPr>
              <a:t>ESU Y1 starts</a:t>
            </a:r>
            <a:endParaRPr lang="en-US"/>
          </a:p>
        </p:txBody>
      </p:sp>
      <p:sp>
        <p:nvSpPr>
          <p:cNvPr id="11594" name="Oval 11593">
            <a:extLst>
              <a:ext uri="{FF2B5EF4-FFF2-40B4-BE49-F238E27FC236}">
                <a16:creationId xmlns:a16="http://schemas.microsoft.com/office/drawing/2014/main" id="{E0EC4607-0712-2AC0-66E8-2F1D5EDFD9F9}"/>
              </a:ext>
            </a:extLst>
          </p:cNvPr>
          <p:cNvSpPr/>
          <p:nvPr/>
        </p:nvSpPr>
        <p:spPr>
          <a:xfrm>
            <a:off x="5259681" y="2645000"/>
            <a:ext cx="130000" cy="13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14" name="Rectangle 11613">
            <a:extLst>
              <a:ext uri="{FF2B5EF4-FFF2-40B4-BE49-F238E27FC236}">
                <a16:creationId xmlns:a16="http://schemas.microsoft.com/office/drawing/2014/main" id="{BDAA3449-FEB1-3E99-CFBC-1C08D93CA9EF}"/>
              </a:ext>
            </a:extLst>
          </p:cNvPr>
          <p:cNvSpPr/>
          <p:nvPr/>
        </p:nvSpPr>
        <p:spPr>
          <a:xfrm>
            <a:off x="4474681" y="28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78D4"/>
                </a:solidFill>
                <a:effectLst/>
                <a:latin typeface="Segoe UI" panose="020B0502040204020203" pitchFamily="34" charset="0"/>
              </a:rPr>
              <a:t>13 Jul 2027</a:t>
            </a:r>
          </a:p>
          <a:p>
            <a:pPr algn="ctr">
              <a:buNone/>
            </a:pPr>
            <a:r>
              <a:rPr lang="en-US" sz="1200">
                <a:solidFill>
                  <a:srgbClr val="201F1E"/>
                </a:solidFill>
                <a:effectLst/>
                <a:latin typeface="Segoe UI" panose="020B0502040204020203" pitchFamily="34" charset="0"/>
              </a:rPr>
              <a:t>ESU Y1 ends</a:t>
            </a:r>
            <a:endParaRPr lang="en-US"/>
          </a:p>
        </p:txBody>
      </p:sp>
      <p:sp>
        <p:nvSpPr>
          <p:cNvPr id="11635" name="Oval 11634">
            <a:extLst>
              <a:ext uri="{FF2B5EF4-FFF2-40B4-BE49-F238E27FC236}">
                <a16:creationId xmlns:a16="http://schemas.microsoft.com/office/drawing/2014/main" id="{4A587F7C-D554-7031-5C62-C8A53E4D8C24}"/>
              </a:ext>
            </a:extLst>
          </p:cNvPr>
          <p:cNvSpPr/>
          <p:nvPr/>
        </p:nvSpPr>
        <p:spPr>
          <a:xfrm>
            <a:off x="7254624" y="2645000"/>
            <a:ext cx="130000" cy="13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57" name="Rectangle 11656">
            <a:extLst>
              <a:ext uri="{FF2B5EF4-FFF2-40B4-BE49-F238E27FC236}">
                <a16:creationId xmlns:a16="http://schemas.microsoft.com/office/drawing/2014/main" id="{95552EE5-455F-3458-F878-AFF21E77DD93}"/>
              </a:ext>
            </a:extLst>
          </p:cNvPr>
          <p:cNvSpPr/>
          <p:nvPr/>
        </p:nvSpPr>
        <p:spPr>
          <a:xfrm>
            <a:off x="6469624" y="28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78D4"/>
                </a:solidFill>
                <a:effectLst/>
                <a:latin typeface="Segoe UI" panose="020B0502040204020203" pitchFamily="34" charset="0"/>
              </a:rPr>
              <a:t>18 Jul 2028</a:t>
            </a:r>
          </a:p>
          <a:p>
            <a:pPr algn="ctr">
              <a:buNone/>
            </a:pPr>
            <a:r>
              <a:rPr lang="en-US" sz="1200">
                <a:solidFill>
                  <a:srgbClr val="201F1E"/>
                </a:solidFill>
                <a:effectLst/>
                <a:latin typeface="Segoe UI" panose="020B0502040204020203" pitchFamily="34" charset="0"/>
              </a:rPr>
              <a:t>ESU Y2 ends</a:t>
            </a:r>
            <a:endParaRPr lang="en-US"/>
          </a:p>
        </p:txBody>
      </p:sp>
      <p:sp>
        <p:nvSpPr>
          <p:cNvPr id="11680" name="Oval 11679">
            <a:extLst>
              <a:ext uri="{FF2B5EF4-FFF2-40B4-BE49-F238E27FC236}">
                <a16:creationId xmlns:a16="http://schemas.microsoft.com/office/drawing/2014/main" id="{BB8F2B20-97F4-A02E-6287-B566147D0989}"/>
              </a:ext>
            </a:extLst>
          </p:cNvPr>
          <p:cNvSpPr/>
          <p:nvPr/>
        </p:nvSpPr>
        <p:spPr>
          <a:xfrm>
            <a:off x="9217216" y="2645000"/>
            <a:ext cx="130000" cy="13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04" name="Rectangle 11703">
            <a:extLst>
              <a:ext uri="{FF2B5EF4-FFF2-40B4-BE49-F238E27FC236}">
                <a16:creationId xmlns:a16="http://schemas.microsoft.com/office/drawing/2014/main" id="{667C0762-CB8B-20F9-43FA-300BF0985359}"/>
              </a:ext>
            </a:extLst>
          </p:cNvPr>
          <p:cNvSpPr/>
          <p:nvPr/>
        </p:nvSpPr>
        <p:spPr>
          <a:xfrm>
            <a:off x="8432216" y="28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78D4"/>
                </a:solidFill>
                <a:effectLst/>
                <a:latin typeface="Segoe UI" panose="020B0502040204020203" pitchFamily="34" charset="0"/>
              </a:rPr>
              <a:t>17 Jul 2029</a:t>
            </a:r>
          </a:p>
          <a:p>
            <a:pPr algn="ctr">
              <a:buNone/>
            </a:pPr>
            <a:r>
              <a:rPr lang="en-US" sz="1200">
                <a:solidFill>
                  <a:srgbClr val="201F1E"/>
                </a:solidFill>
                <a:effectLst/>
                <a:latin typeface="Segoe UI" panose="020B0502040204020203" pitchFamily="34" charset="0"/>
              </a:rPr>
              <a:t>ESU Y3 ends</a:t>
            </a:r>
            <a:endParaRPr lang="en-US"/>
          </a:p>
        </p:txBody>
      </p:sp>
      <p:sp>
        <p:nvSpPr>
          <p:cNvPr id="11729" name="Rectangle 11728">
            <a:extLst>
              <a:ext uri="{FF2B5EF4-FFF2-40B4-BE49-F238E27FC236}">
                <a16:creationId xmlns:a16="http://schemas.microsoft.com/office/drawing/2014/main" id="{93CEF16D-1245-00E8-A4D2-C3A20325059C}"/>
              </a:ext>
            </a:extLst>
          </p:cNvPr>
          <p:cNvSpPr/>
          <p:nvPr/>
        </p:nvSpPr>
        <p:spPr>
          <a:xfrm>
            <a:off x="914400" y="4271400"/>
            <a:ext cx="18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4578"/>
                </a:solidFill>
                <a:effectLst/>
                <a:latin typeface="Segoe UI Semibold" panose="020B0702040204020203" pitchFamily="34" charset="0"/>
              </a:rPr>
              <a:t>WINDOWS SERVER</a:t>
            </a:r>
          </a:p>
          <a:p>
            <a:pPr algn="l">
              <a:buNone/>
            </a:pPr>
            <a:r>
              <a:rPr lang="en-US" sz="1200" b="1">
                <a:solidFill>
                  <a:srgbClr val="004578"/>
                </a:solidFill>
                <a:effectLst/>
                <a:latin typeface="Segoe UI Semibold" panose="020B0702040204020203" pitchFamily="34" charset="0"/>
              </a:rPr>
              <a:t>2016</a:t>
            </a:r>
            <a:endParaRPr lang="en-US"/>
          </a:p>
        </p:txBody>
      </p:sp>
      <p:sp>
        <p:nvSpPr>
          <p:cNvPr id="11755" name="Rectangle 11754">
            <a:extLst>
              <a:ext uri="{FF2B5EF4-FFF2-40B4-BE49-F238E27FC236}">
                <a16:creationId xmlns:a16="http://schemas.microsoft.com/office/drawing/2014/main" id="{CCCF4585-8157-DA81-03C9-DF40E3D7AC24}"/>
              </a:ext>
            </a:extLst>
          </p:cNvPr>
          <p:cNvSpPr/>
          <p:nvPr/>
        </p:nvSpPr>
        <p:spPr>
          <a:xfrm>
            <a:off x="2800000" y="4500000"/>
            <a:ext cx="8200000" cy="19050"/>
          </a:xfrm>
          <a:prstGeom prst="rect">
            <a:avLst/>
          </a:prstGeom>
          <a:solidFill>
            <a:srgbClr val="E1DFDD"/>
          </a:solidFill>
          <a:ln>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2" name="Oval 11781">
            <a:extLst>
              <a:ext uri="{FF2B5EF4-FFF2-40B4-BE49-F238E27FC236}">
                <a16:creationId xmlns:a16="http://schemas.microsoft.com/office/drawing/2014/main" id="{6BB62865-4EF6-2A5D-B5EA-A6B66FE66D43}"/>
              </a:ext>
            </a:extLst>
          </p:cNvPr>
          <p:cNvSpPr/>
          <p:nvPr/>
        </p:nvSpPr>
        <p:spPr>
          <a:xfrm>
            <a:off x="4270297" y="4445000"/>
            <a:ext cx="130000" cy="130000"/>
          </a:xfrm>
          <a:prstGeom prst="ellipse">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10" name="Rectangle 11809">
            <a:extLst>
              <a:ext uri="{FF2B5EF4-FFF2-40B4-BE49-F238E27FC236}">
                <a16:creationId xmlns:a16="http://schemas.microsoft.com/office/drawing/2014/main" id="{6E23123E-A593-AC52-569B-A84EE47B5F11}"/>
              </a:ext>
            </a:extLst>
          </p:cNvPr>
          <p:cNvSpPr/>
          <p:nvPr/>
        </p:nvSpPr>
        <p:spPr>
          <a:xfrm>
            <a:off x="3485297" y="46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4578"/>
                </a:solidFill>
                <a:effectLst/>
                <a:latin typeface="Segoe UI" panose="020B0502040204020203" pitchFamily="34" charset="0"/>
              </a:rPr>
              <a:t>12 Jan 2027</a:t>
            </a:r>
          </a:p>
          <a:p>
            <a:pPr algn="ctr">
              <a:buNone/>
            </a:pPr>
            <a:r>
              <a:rPr lang="en-US" sz="1200">
                <a:solidFill>
                  <a:srgbClr val="201F1E"/>
                </a:solidFill>
                <a:effectLst/>
                <a:latin typeface="Segoe UI" panose="020B0502040204020203" pitchFamily="34" charset="0"/>
              </a:rPr>
              <a:t>End of support</a:t>
            </a:r>
            <a:endParaRPr lang="en-US"/>
          </a:p>
        </p:txBody>
      </p:sp>
      <p:sp>
        <p:nvSpPr>
          <p:cNvPr id="11839" name="Oval 11838">
            <a:extLst>
              <a:ext uri="{FF2B5EF4-FFF2-40B4-BE49-F238E27FC236}">
                <a16:creationId xmlns:a16="http://schemas.microsoft.com/office/drawing/2014/main" id="{E6E87110-1144-F81E-45E3-8B865B5B155A}"/>
              </a:ext>
            </a:extLst>
          </p:cNvPr>
          <p:cNvSpPr/>
          <p:nvPr/>
        </p:nvSpPr>
        <p:spPr>
          <a:xfrm>
            <a:off x="4270297" y="4445000"/>
            <a:ext cx="130000" cy="130000"/>
          </a:xfrm>
          <a:prstGeom prst="ellipse">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69" name="Rectangle 11868">
            <a:extLst>
              <a:ext uri="{FF2B5EF4-FFF2-40B4-BE49-F238E27FC236}">
                <a16:creationId xmlns:a16="http://schemas.microsoft.com/office/drawing/2014/main" id="{91B1449D-CF4A-91F0-60FA-A4D9EC91FA30}"/>
              </a:ext>
            </a:extLst>
          </p:cNvPr>
          <p:cNvSpPr/>
          <p:nvPr/>
        </p:nvSpPr>
        <p:spPr>
          <a:xfrm>
            <a:off x="3485297" y="39228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4578"/>
                </a:solidFill>
                <a:effectLst/>
                <a:latin typeface="Segoe UI" panose="020B0502040204020203" pitchFamily="34" charset="0"/>
              </a:rPr>
              <a:t>12 Jan 2027</a:t>
            </a:r>
          </a:p>
          <a:p>
            <a:pPr algn="ctr">
              <a:buNone/>
            </a:pPr>
            <a:r>
              <a:rPr lang="en-US" sz="1200">
                <a:solidFill>
                  <a:srgbClr val="201F1E"/>
                </a:solidFill>
                <a:effectLst/>
                <a:latin typeface="Segoe UI" panose="020B0502040204020203" pitchFamily="34" charset="0"/>
              </a:rPr>
              <a:t>Arc ESU starts</a:t>
            </a:r>
            <a:endParaRPr lang="en-US"/>
          </a:p>
        </p:txBody>
      </p:sp>
      <p:sp>
        <p:nvSpPr>
          <p:cNvPr id="11900" name="Oval 11899">
            <a:extLst>
              <a:ext uri="{FF2B5EF4-FFF2-40B4-BE49-F238E27FC236}">
                <a16:creationId xmlns:a16="http://schemas.microsoft.com/office/drawing/2014/main" id="{69F8A766-7A14-5CE0-C02A-3E0037C096C4}"/>
              </a:ext>
            </a:extLst>
          </p:cNvPr>
          <p:cNvSpPr/>
          <p:nvPr/>
        </p:nvSpPr>
        <p:spPr>
          <a:xfrm>
            <a:off x="6232889" y="4445000"/>
            <a:ext cx="130000" cy="130000"/>
          </a:xfrm>
          <a:prstGeom prst="ellipse">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32" name="Rectangle 11931">
            <a:extLst>
              <a:ext uri="{FF2B5EF4-FFF2-40B4-BE49-F238E27FC236}">
                <a16:creationId xmlns:a16="http://schemas.microsoft.com/office/drawing/2014/main" id="{FE2D1EBC-353E-2D28-95CF-8EC8491C5C78}"/>
              </a:ext>
            </a:extLst>
          </p:cNvPr>
          <p:cNvSpPr/>
          <p:nvPr/>
        </p:nvSpPr>
        <p:spPr>
          <a:xfrm>
            <a:off x="5447889" y="46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4578"/>
                </a:solidFill>
                <a:effectLst/>
                <a:latin typeface="Segoe UI" panose="020B0502040204020203" pitchFamily="34" charset="0"/>
              </a:rPr>
              <a:t>11 Jan 2028</a:t>
            </a:r>
          </a:p>
          <a:p>
            <a:pPr algn="ctr">
              <a:buNone/>
            </a:pPr>
            <a:r>
              <a:rPr lang="en-US" sz="1200">
                <a:solidFill>
                  <a:srgbClr val="201F1E"/>
                </a:solidFill>
                <a:effectLst/>
                <a:latin typeface="Segoe UI" panose="020B0502040204020203" pitchFamily="34" charset="0"/>
              </a:rPr>
              <a:t>Arc ESU Y1 ends</a:t>
            </a:r>
            <a:endParaRPr lang="en-US"/>
          </a:p>
        </p:txBody>
      </p:sp>
      <p:sp>
        <p:nvSpPr>
          <p:cNvPr id="11965" name="Oval 11964">
            <a:extLst>
              <a:ext uri="{FF2B5EF4-FFF2-40B4-BE49-F238E27FC236}">
                <a16:creationId xmlns:a16="http://schemas.microsoft.com/office/drawing/2014/main" id="{61CA3F04-82C3-81FB-162F-7404F5468175}"/>
              </a:ext>
            </a:extLst>
          </p:cNvPr>
          <p:cNvSpPr/>
          <p:nvPr/>
        </p:nvSpPr>
        <p:spPr>
          <a:xfrm>
            <a:off x="8190090" y="4445000"/>
            <a:ext cx="130000" cy="130000"/>
          </a:xfrm>
          <a:prstGeom prst="ellipse">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99" name="Rectangle 11998">
            <a:extLst>
              <a:ext uri="{FF2B5EF4-FFF2-40B4-BE49-F238E27FC236}">
                <a16:creationId xmlns:a16="http://schemas.microsoft.com/office/drawing/2014/main" id="{6FEC0DDA-F990-2A51-EB3B-8477A72DB768}"/>
              </a:ext>
            </a:extLst>
          </p:cNvPr>
          <p:cNvSpPr/>
          <p:nvPr/>
        </p:nvSpPr>
        <p:spPr>
          <a:xfrm>
            <a:off x="7405090" y="46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4578"/>
                </a:solidFill>
                <a:effectLst/>
                <a:latin typeface="Segoe UI" panose="020B0502040204020203" pitchFamily="34" charset="0"/>
              </a:rPr>
              <a:t>9 Jan 2029</a:t>
            </a:r>
          </a:p>
          <a:p>
            <a:pPr algn="ctr">
              <a:buNone/>
            </a:pPr>
            <a:r>
              <a:rPr lang="en-US" sz="1200">
                <a:solidFill>
                  <a:srgbClr val="201F1E"/>
                </a:solidFill>
                <a:effectLst/>
                <a:latin typeface="Segoe UI" panose="020B0502040204020203" pitchFamily="34" charset="0"/>
              </a:rPr>
              <a:t>Arc ESU Y2 ends</a:t>
            </a:r>
            <a:endParaRPr lang="en-US"/>
          </a:p>
        </p:txBody>
      </p:sp>
      <p:sp>
        <p:nvSpPr>
          <p:cNvPr id="12034" name="Oval 12033">
            <a:extLst>
              <a:ext uri="{FF2B5EF4-FFF2-40B4-BE49-F238E27FC236}">
                <a16:creationId xmlns:a16="http://schemas.microsoft.com/office/drawing/2014/main" id="{5391557E-32AE-F54A-DAF0-2A02C913E170}"/>
              </a:ext>
            </a:extLst>
          </p:cNvPr>
          <p:cNvSpPr/>
          <p:nvPr/>
        </p:nvSpPr>
        <p:spPr>
          <a:xfrm>
            <a:off x="10152683" y="4445000"/>
            <a:ext cx="130000" cy="130000"/>
          </a:xfrm>
          <a:prstGeom prst="ellipse">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70" name="Rectangle 12069">
            <a:extLst>
              <a:ext uri="{FF2B5EF4-FFF2-40B4-BE49-F238E27FC236}">
                <a16:creationId xmlns:a16="http://schemas.microsoft.com/office/drawing/2014/main" id="{0B8EC801-B86D-F94C-0B69-618A70DD14E4}"/>
              </a:ext>
            </a:extLst>
          </p:cNvPr>
          <p:cNvSpPr/>
          <p:nvPr/>
        </p:nvSpPr>
        <p:spPr>
          <a:xfrm>
            <a:off x="9367683" y="4620000"/>
            <a:ext cx="17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004578"/>
                </a:solidFill>
                <a:effectLst/>
                <a:latin typeface="Segoe UI" panose="020B0502040204020203" pitchFamily="34" charset="0"/>
              </a:rPr>
              <a:t>8 Jan 2030</a:t>
            </a:r>
          </a:p>
          <a:p>
            <a:pPr algn="ctr">
              <a:buNone/>
            </a:pPr>
            <a:r>
              <a:rPr lang="en-US" sz="1200">
                <a:solidFill>
                  <a:srgbClr val="201F1E"/>
                </a:solidFill>
                <a:effectLst/>
                <a:latin typeface="Segoe UI" panose="020B0502040204020203" pitchFamily="34" charset="0"/>
              </a:rPr>
              <a:t>Arc ESU Y3 ends</a:t>
            </a:r>
            <a:endParaRPr lang="en-US"/>
          </a:p>
        </p:txBody>
      </p:sp>
      <p:sp>
        <p:nvSpPr>
          <p:cNvPr id="12107" name="Rectangle 12106">
            <a:extLst>
              <a:ext uri="{FF2B5EF4-FFF2-40B4-BE49-F238E27FC236}">
                <a16:creationId xmlns:a16="http://schemas.microsoft.com/office/drawing/2014/main" id="{2747F9B8-2350-CEA4-3EAA-ED45603B98BC}"/>
              </a:ext>
            </a:extLst>
          </p:cNvPr>
          <p:cNvSpPr/>
          <p:nvPr/>
        </p:nvSpPr>
        <p:spPr>
          <a:xfrm>
            <a:off x="914400" y="5560000"/>
            <a:ext cx="10363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Published lifecycle dates. learn.microsoft.com/lifecycle/products</a:t>
            </a:r>
          </a:p>
          <a:p>
            <a:pPr algn="l">
              <a:buNone/>
            </a:pPr>
            <a:r>
              <a:rPr lang="en-US" sz="100">
                <a:effectLst/>
              </a:rPr>
              <a:t> </a:t>
            </a:r>
            <a:endParaRPr lang="en-US"/>
          </a:p>
        </p:txBody>
      </p:sp>
    </p:spTree>
    <p:extLst>
      <p:ext uri="{BB962C8B-B14F-4D97-AF65-F5344CB8AC3E}">
        <p14:creationId xmlns:p14="http://schemas.microsoft.com/office/powerpoint/2010/main" val="1897432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30" name="Rectangle 21329">
            <a:extLst>
              <a:ext uri="{FF2B5EF4-FFF2-40B4-BE49-F238E27FC236}">
                <a16:creationId xmlns:a16="http://schemas.microsoft.com/office/drawing/2014/main" id="{09383B4B-5EDC-89DD-21F2-B8972AF53869}"/>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LIFECYCLE</a:t>
            </a:r>
          </a:p>
          <a:p>
            <a:pPr algn="l">
              <a:buNone/>
            </a:pPr>
            <a:r>
              <a:rPr lang="en-US" sz="100">
                <a:effectLst/>
              </a:rPr>
              <a:t> </a:t>
            </a:r>
            <a:endParaRPr lang="en-US"/>
          </a:p>
        </p:txBody>
      </p:sp>
      <p:sp>
        <p:nvSpPr>
          <p:cNvPr id="21332" name="Rectangle 21331">
            <a:extLst>
              <a:ext uri="{FF2B5EF4-FFF2-40B4-BE49-F238E27FC236}">
                <a16:creationId xmlns:a16="http://schemas.microsoft.com/office/drawing/2014/main" id="{622C8219-1705-BE78-DBB8-82C5945347DD}"/>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What end of support actually means</a:t>
            </a:r>
          </a:p>
          <a:p>
            <a:pPr algn="l">
              <a:buNone/>
            </a:pPr>
            <a:r>
              <a:rPr lang="en-US" sz="100">
                <a:effectLst/>
              </a:rPr>
              <a:t> </a:t>
            </a:r>
            <a:endParaRPr lang="en-US"/>
          </a:p>
        </p:txBody>
      </p:sp>
      <p:sp>
        <p:nvSpPr>
          <p:cNvPr id="21335" name="Rectangle 21334">
            <a:extLst>
              <a:ext uri="{FF2B5EF4-FFF2-40B4-BE49-F238E27FC236}">
                <a16:creationId xmlns:a16="http://schemas.microsoft.com/office/drawing/2014/main" id="{9751A936-9EA6-7ECA-8B50-F7F4720236F9}"/>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39" name="Rectangle 21338">
            <a:extLst>
              <a:ext uri="{FF2B5EF4-FFF2-40B4-BE49-F238E27FC236}">
                <a16:creationId xmlns:a16="http://schemas.microsoft.com/office/drawing/2014/main" id="{C0078872-19ED-DA48-42F1-DD3B16C0559B}"/>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1344" name="Rectangle 21343">
            <a:extLst>
              <a:ext uri="{FF2B5EF4-FFF2-40B4-BE49-F238E27FC236}">
                <a16:creationId xmlns:a16="http://schemas.microsoft.com/office/drawing/2014/main" id="{98616076-9511-4F08-D63E-879A0E31B8A3}"/>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4</a:t>
            </a:r>
          </a:p>
          <a:p>
            <a:pPr algn="r">
              <a:buNone/>
            </a:pPr>
            <a:r>
              <a:rPr lang="en-US" sz="100">
                <a:effectLst/>
              </a:rPr>
              <a:t> </a:t>
            </a:r>
            <a:endParaRPr lang="en-US"/>
          </a:p>
        </p:txBody>
      </p:sp>
      <p:sp>
        <p:nvSpPr>
          <p:cNvPr id="21350" name="Rectangle 21349">
            <a:extLst>
              <a:ext uri="{FF2B5EF4-FFF2-40B4-BE49-F238E27FC236}">
                <a16:creationId xmlns:a16="http://schemas.microsoft.com/office/drawing/2014/main" id="{5BBEC23F-1E03-8B9D-5D63-5DFADE93EE97}"/>
              </a:ext>
            </a:extLst>
          </p:cNvPr>
          <p:cNvSpPr/>
          <p:nvPr/>
        </p:nvSpPr>
        <p:spPr>
          <a:xfrm>
            <a:off x="914400" y="1680000"/>
            <a:ext cx="24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4578"/>
                </a:solidFill>
                <a:effectLst/>
                <a:latin typeface="Segoe UI Semibold" panose="020B0702040204020203" pitchFamily="34" charset="0"/>
              </a:rPr>
              <a:t>PRODUCT</a:t>
            </a:r>
          </a:p>
          <a:p>
            <a:pPr algn="l">
              <a:buNone/>
            </a:pPr>
            <a:r>
              <a:rPr lang="en-US" sz="1200" b="1" spc="100">
                <a:solidFill>
                  <a:srgbClr val="004578"/>
                </a:solidFill>
                <a:effectLst/>
                <a:latin typeface="Segoe UI Semibold" panose="020B0702040204020203" pitchFamily="34" charset="0"/>
              </a:rPr>
              <a:t>RELEASE</a:t>
            </a:r>
            <a:endParaRPr lang="en-US"/>
          </a:p>
        </p:txBody>
      </p:sp>
      <p:sp>
        <p:nvSpPr>
          <p:cNvPr id="21357" name="Rectangle 21356">
            <a:extLst>
              <a:ext uri="{FF2B5EF4-FFF2-40B4-BE49-F238E27FC236}">
                <a16:creationId xmlns:a16="http://schemas.microsoft.com/office/drawing/2014/main" id="{908EB1D6-224F-56CC-D828-3FE3C4C8CBBF}"/>
              </a:ext>
            </a:extLst>
          </p:cNvPr>
          <p:cNvSpPr/>
          <p:nvPr/>
        </p:nvSpPr>
        <p:spPr>
          <a:xfrm>
            <a:off x="4958861" y="1680000"/>
            <a:ext cx="24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4578"/>
                </a:solidFill>
                <a:effectLst/>
                <a:latin typeface="Segoe UI Semibold" panose="020B0702040204020203" pitchFamily="34" charset="0"/>
              </a:rPr>
              <a:t>END OF</a:t>
            </a:r>
          </a:p>
          <a:p>
            <a:pPr algn="l">
              <a:buNone/>
            </a:pPr>
            <a:r>
              <a:rPr lang="en-US" sz="1200" b="1" spc="100">
                <a:solidFill>
                  <a:srgbClr val="004578"/>
                </a:solidFill>
                <a:effectLst/>
                <a:latin typeface="Segoe UI Semibold" panose="020B0702040204020203" pitchFamily="34" charset="0"/>
              </a:rPr>
              <a:t>SUPPORT</a:t>
            </a:r>
            <a:endParaRPr lang="en-US"/>
          </a:p>
        </p:txBody>
      </p:sp>
      <p:sp>
        <p:nvSpPr>
          <p:cNvPr id="21365" name="Rectangle 21364">
            <a:extLst>
              <a:ext uri="{FF2B5EF4-FFF2-40B4-BE49-F238E27FC236}">
                <a16:creationId xmlns:a16="http://schemas.microsoft.com/office/drawing/2014/main" id="{E99120D4-C9E3-30A2-C7CE-F0FA371E7BF7}"/>
              </a:ext>
            </a:extLst>
          </p:cNvPr>
          <p:cNvSpPr/>
          <p:nvPr/>
        </p:nvSpPr>
        <p:spPr>
          <a:xfrm>
            <a:off x="9003322" y="1680000"/>
            <a:ext cx="227427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4578"/>
                </a:solidFill>
                <a:effectLst/>
                <a:latin typeface="Segoe UI Semibold" panose="020B0702040204020203" pitchFamily="34" charset="0"/>
              </a:rPr>
              <a:t>END OF EXTENDED</a:t>
            </a:r>
          </a:p>
          <a:p>
            <a:pPr algn="l">
              <a:buNone/>
            </a:pPr>
            <a:r>
              <a:rPr lang="en-US" sz="1200" b="1" spc="100">
                <a:solidFill>
                  <a:srgbClr val="004578"/>
                </a:solidFill>
                <a:effectLst/>
                <a:latin typeface="Segoe UI Semibold" panose="020B0702040204020203" pitchFamily="34" charset="0"/>
              </a:rPr>
              <a:t>SECURITY UPDATES</a:t>
            </a:r>
            <a:endParaRPr lang="en-US"/>
          </a:p>
        </p:txBody>
      </p:sp>
      <p:sp>
        <p:nvSpPr>
          <p:cNvPr id="21374" name="Rectangle 21373">
            <a:extLst>
              <a:ext uri="{FF2B5EF4-FFF2-40B4-BE49-F238E27FC236}">
                <a16:creationId xmlns:a16="http://schemas.microsoft.com/office/drawing/2014/main" id="{C068A510-7AF4-E1ED-E0A1-EF25DE4B336A}"/>
              </a:ext>
            </a:extLst>
          </p:cNvPr>
          <p:cNvSpPr/>
          <p:nvPr/>
        </p:nvSpPr>
        <p:spPr>
          <a:xfrm>
            <a:off x="914400" y="2340000"/>
            <a:ext cx="3790461" cy="897240"/>
          </a:xfrm>
          <a:prstGeom prst="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Segoe UI" panose="020B0502040204020203" pitchFamily="34" charset="0"/>
              </a:rPr>
              <a:t> </a:t>
            </a:r>
          </a:p>
          <a:p>
            <a:pPr algn="l">
              <a:buNone/>
            </a:pPr>
            <a:r>
              <a:rPr lang="en-US" sz="1500" b="1">
                <a:solidFill>
                  <a:srgbClr val="FFFFFF"/>
                </a:solidFill>
                <a:effectLst/>
                <a:latin typeface="Segoe UI" panose="020B0502040204020203" pitchFamily="34" charset="0"/>
              </a:rPr>
              <a:t>Mainstream Support</a:t>
            </a:r>
          </a:p>
          <a:p>
            <a:pPr algn="l">
              <a:buNone/>
            </a:pPr>
            <a:r>
              <a:rPr lang="en-US" sz="1300" b="1">
                <a:solidFill>
                  <a:srgbClr val="FFFFFF"/>
                </a:solidFill>
                <a:effectLst/>
                <a:latin typeface="Segoe UI" panose="020B0502040204020203" pitchFamily="34" charset="0"/>
              </a:rPr>
              <a:t>5 years</a:t>
            </a:r>
            <a:endParaRPr lang="en-US"/>
          </a:p>
        </p:txBody>
      </p:sp>
      <p:sp>
        <p:nvSpPr>
          <p:cNvPr id="21384" name="Rectangle 21383">
            <a:extLst>
              <a:ext uri="{FF2B5EF4-FFF2-40B4-BE49-F238E27FC236}">
                <a16:creationId xmlns:a16="http://schemas.microsoft.com/office/drawing/2014/main" id="{713D4A85-0F2F-107D-A7E8-53CE7F9D4ACD}"/>
              </a:ext>
            </a:extLst>
          </p:cNvPr>
          <p:cNvSpPr/>
          <p:nvPr/>
        </p:nvSpPr>
        <p:spPr>
          <a:xfrm>
            <a:off x="914400" y="3377240"/>
            <a:ext cx="3790461"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New features</a:t>
            </a:r>
          </a:p>
          <a:p>
            <a:pPr algn="l">
              <a:buNone/>
            </a:pPr>
            <a:r>
              <a:rPr lang="en-US" sz="1200">
                <a:solidFill>
                  <a:srgbClr val="201F1E"/>
                </a:solidFill>
                <a:effectLst/>
                <a:latin typeface="Segoe UI" panose="020B0502040204020203" pitchFamily="34" charset="0"/>
              </a:rPr>
              <a:t>Security updates</a:t>
            </a:r>
          </a:p>
          <a:p>
            <a:pPr algn="l">
              <a:buNone/>
            </a:pPr>
            <a:r>
              <a:rPr lang="en-US" sz="1200">
                <a:solidFill>
                  <a:srgbClr val="201F1E"/>
                </a:solidFill>
                <a:effectLst/>
                <a:latin typeface="Segoe UI" panose="020B0502040204020203" pitchFamily="34" charset="0"/>
              </a:rPr>
              <a:t>Non-security updates</a:t>
            </a:r>
            <a:endParaRPr lang="en-US"/>
          </a:p>
        </p:txBody>
      </p:sp>
      <p:sp>
        <p:nvSpPr>
          <p:cNvPr id="21395" name="Rectangle 21394">
            <a:extLst>
              <a:ext uri="{FF2B5EF4-FFF2-40B4-BE49-F238E27FC236}">
                <a16:creationId xmlns:a16="http://schemas.microsoft.com/office/drawing/2014/main" id="{2306FEED-C132-FD6B-C520-C2D49CDBCB51}"/>
              </a:ext>
            </a:extLst>
          </p:cNvPr>
          <p:cNvSpPr/>
          <p:nvPr/>
        </p:nvSpPr>
        <p:spPr>
          <a:xfrm>
            <a:off x="4958861" y="2340000"/>
            <a:ext cx="3790461" cy="897240"/>
          </a:xfrm>
          <a:prstGeom prst="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Segoe UI" panose="020B0502040204020203" pitchFamily="34" charset="0"/>
              </a:rPr>
              <a:t> </a:t>
            </a:r>
          </a:p>
          <a:p>
            <a:pPr algn="l">
              <a:buNone/>
            </a:pPr>
            <a:r>
              <a:rPr lang="en-US" sz="1500" b="1">
                <a:solidFill>
                  <a:srgbClr val="FFFFFF"/>
                </a:solidFill>
                <a:effectLst/>
                <a:latin typeface="Segoe UI" panose="020B0502040204020203" pitchFamily="34" charset="0"/>
              </a:rPr>
              <a:t>Extended Support</a:t>
            </a:r>
          </a:p>
          <a:p>
            <a:pPr algn="l">
              <a:buNone/>
            </a:pPr>
            <a:r>
              <a:rPr lang="en-US" sz="1300" b="1">
                <a:solidFill>
                  <a:srgbClr val="FFFFFF"/>
                </a:solidFill>
                <a:effectLst/>
                <a:latin typeface="Segoe UI" panose="020B0502040204020203" pitchFamily="34" charset="0"/>
              </a:rPr>
              <a:t>5 years</a:t>
            </a:r>
            <a:endParaRPr lang="en-US"/>
          </a:p>
        </p:txBody>
      </p:sp>
      <p:sp>
        <p:nvSpPr>
          <p:cNvPr id="21407" name="Rectangle 21406">
            <a:extLst>
              <a:ext uri="{FF2B5EF4-FFF2-40B4-BE49-F238E27FC236}">
                <a16:creationId xmlns:a16="http://schemas.microsoft.com/office/drawing/2014/main" id="{D22651A1-968B-D4BE-C736-C5EC1C238829}"/>
              </a:ext>
            </a:extLst>
          </p:cNvPr>
          <p:cNvSpPr/>
          <p:nvPr/>
        </p:nvSpPr>
        <p:spPr>
          <a:xfrm>
            <a:off x="4958861" y="3377240"/>
            <a:ext cx="3790461"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Security updates</a:t>
            </a:r>
          </a:p>
          <a:p>
            <a:pPr algn="l">
              <a:buNone/>
            </a:pPr>
            <a:r>
              <a:rPr lang="en-US" sz="1200">
                <a:solidFill>
                  <a:srgbClr val="201F1E"/>
                </a:solidFill>
                <a:effectLst/>
                <a:latin typeface="Segoe UI" panose="020B0502040204020203" pitchFamily="34" charset="0"/>
              </a:rPr>
              <a:t>Non-security updates</a:t>
            </a:r>
            <a:endParaRPr lang="en-US"/>
          </a:p>
        </p:txBody>
      </p:sp>
      <p:sp>
        <p:nvSpPr>
          <p:cNvPr id="21420" name="Rectangle 21419">
            <a:extLst>
              <a:ext uri="{FF2B5EF4-FFF2-40B4-BE49-F238E27FC236}">
                <a16:creationId xmlns:a16="http://schemas.microsoft.com/office/drawing/2014/main" id="{C45DC657-479A-EE45-11CB-0CCC1A2B68E2}"/>
              </a:ext>
            </a:extLst>
          </p:cNvPr>
          <p:cNvSpPr/>
          <p:nvPr/>
        </p:nvSpPr>
        <p:spPr>
          <a:xfrm>
            <a:off x="9003322" y="2340000"/>
            <a:ext cx="2274276" cy="897240"/>
          </a:xfrm>
          <a:prstGeom prst="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Segoe UI" panose="020B0502040204020203" pitchFamily="34" charset="0"/>
              </a:rPr>
              <a:t>Extended Security</a:t>
            </a:r>
          </a:p>
          <a:p>
            <a:pPr algn="l">
              <a:buNone/>
            </a:pPr>
            <a:r>
              <a:rPr lang="en-US" sz="1500" b="1">
                <a:solidFill>
                  <a:srgbClr val="FFFFFF"/>
                </a:solidFill>
                <a:effectLst/>
                <a:latin typeface="Segoe UI" panose="020B0502040204020203" pitchFamily="34" charset="0"/>
              </a:rPr>
              <a:t>Updates</a:t>
            </a:r>
          </a:p>
          <a:p>
            <a:pPr algn="l">
              <a:buNone/>
            </a:pPr>
            <a:r>
              <a:rPr lang="en-US" sz="1300" b="1">
                <a:solidFill>
                  <a:srgbClr val="FFFFFF"/>
                </a:solidFill>
                <a:effectLst/>
                <a:latin typeface="Segoe UI" panose="020B0502040204020203" pitchFamily="34" charset="0"/>
              </a:rPr>
              <a:t>Up to 3 years</a:t>
            </a:r>
            <a:endParaRPr lang="en-US"/>
          </a:p>
        </p:txBody>
      </p:sp>
      <p:sp>
        <p:nvSpPr>
          <p:cNvPr id="21434" name="Rectangle 21433">
            <a:extLst>
              <a:ext uri="{FF2B5EF4-FFF2-40B4-BE49-F238E27FC236}">
                <a16:creationId xmlns:a16="http://schemas.microsoft.com/office/drawing/2014/main" id="{6BA3D4BF-B832-D125-3513-DAB61AB760D8}"/>
              </a:ext>
            </a:extLst>
          </p:cNvPr>
          <p:cNvSpPr/>
          <p:nvPr/>
        </p:nvSpPr>
        <p:spPr>
          <a:xfrm>
            <a:off x="9003322" y="3377240"/>
            <a:ext cx="227427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Optional subscription.</a:t>
            </a:r>
          </a:p>
          <a:p>
            <a:pPr algn="l">
              <a:buNone/>
            </a:pPr>
            <a:r>
              <a:rPr lang="en-US" sz="1200">
                <a:solidFill>
                  <a:srgbClr val="201F1E"/>
                </a:solidFill>
                <a:effectLst/>
                <a:latin typeface="Segoe UI" panose="020B0502040204020203" pitchFamily="34" charset="0"/>
              </a:rPr>
              <a:t>Security updates only.</a:t>
            </a:r>
            <a:endParaRPr lang="en-US"/>
          </a:p>
        </p:txBody>
      </p:sp>
      <p:sp>
        <p:nvSpPr>
          <p:cNvPr id="21449" name="Arrow: Right 21448">
            <a:extLst>
              <a:ext uri="{FF2B5EF4-FFF2-40B4-BE49-F238E27FC236}">
                <a16:creationId xmlns:a16="http://schemas.microsoft.com/office/drawing/2014/main" id="{8645D336-25F9-522D-D1CD-92251DDE8BE8}"/>
              </a:ext>
            </a:extLst>
          </p:cNvPr>
          <p:cNvSpPr/>
          <p:nvPr/>
        </p:nvSpPr>
        <p:spPr>
          <a:xfrm>
            <a:off x="4444861" y="2708620"/>
            <a:ext cx="160000" cy="160000"/>
          </a:xfrm>
          <a:prstGeom prst="rightArrow">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465" name="Arrow: Right 21464">
            <a:extLst>
              <a:ext uri="{FF2B5EF4-FFF2-40B4-BE49-F238E27FC236}">
                <a16:creationId xmlns:a16="http://schemas.microsoft.com/office/drawing/2014/main" id="{9B90BAFF-1ECC-F0C3-C8A4-812D2553831D}"/>
              </a:ext>
            </a:extLst>
          </p:cNvPr>
          <p:cNvSpPr/>
          <p:nvPr/>
        </p:nvSpPr>
        <p:spPr>
          <a:xfrm>
            <a:off x="8489322" y="2708620"/>
            <a:ext cx="160000" cy="160000"/>
          </a:xfrm>
          <a:prstGeom prst="rightArrow">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482" name="Rectangle 21481">
            <a:extLst>
              <a:ext uri="{FF2B5EF4-FFF2-40B4-BE49-F238E27FC236}">
                <a16:creationId xmlns:a16="http://schemas.microsoft.com/office/drawing/2014/main" id="{FA6D946C-2EB9-5FA2-C50D-005A8769D4EE}"/>
              </a:ext>
            </a:extLst>
          </p:cNvPr>
          <p:cNvSpPr/>
          <p:nvPr/>
        </p:nvSpPr>
        <p:spPr>
          <a:xfrm>
            <a:off x="914400" y="4150000"/>
            <a:ext cx="10363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Extended Security Updates are an optional subscription covering security updates only. Windows Server gets critical and important updates; SQL Server gets critical updates only.</a:t>
            </a:r>
          </a:p>
          <a:p>
            <a:pPr algn="l">
              <a:buNone/>
            </a:pPr>
            <a:r>
              <a:rPr lang="en-US" sz="100">
                <a:effectLst/>
              </a:rPr>
              <a:t> </a:t>
            </a:r>
            <a:endParaRPr lang="en-US"/>
          </a:p>
        </p:txBody>
      </p:sp>
      <p:sp>
        <p:nvSpPr>
          <p:cNvPr id="21500" name="Rectangle 21499">
            <a:extLst>
              <a:ext uri="{FF2B5EF4-FFF2-40B4-BE49-F238E27FC236}">
                <a16:creationId xmlns:a16="http://schemas.microsoft.com/office/drawing/2014/main" id="{31B26EDE-C08B-03D3-D9E3-445931CF4450}"/>
              </a:ext>
            </a:extLst>
          </p:cNvPr>
          <p:cNvSpPr/>
          <p:nvPr/>
        </p:nvSpPr>
        <p:spPr>
          <a:xfrm>
            <a:off x="914400" y="4900000"/>
            <a:ext cx="10363200" cy="7000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5DCD0047-E2B3-8948-5B21-A0F7B531E2E0}"/>
              </a:ext>
            </a:extLst>
          </p:cNvPr>
          <p:cNvSpPr/>
          <p:nvPr/>
        </p:nvSpPr>
        <p:spPr>
          <a:xfrm>
            <a:off x="1143000" y="5010000"/>
            <a:ext cx="99060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FFFFFF"/>
                </a:solidFill>
                <a:effectLst/>
                <a:latin typeface="Segoe UI Semibold" panose="020B0702040204020203" pitchFamily="34" charset="0"/>
              </a:rPr>
              <a:t>End of support means the end of security updates.</a:t>
            </a:r>
          </a:p>
          <a:p>
            <a:pPr algn="l">
              <a:buNone/>
            </a:pPr>
            <a:r>
              <a:rPr lang="en-US" sz="100">
                <a:effectLst/>
              </a:rPr>
              <a:t> </a:t>
            </a:r>
            <a:endParaRPr lang="en-US"/>
          </a:p>
        </p:txBody>
      </p:sp>
      <p:sp>
        <p:nvSpPr>
          <p:cNvPr id="21539" name="Rectangle 21538">
            <a:extLst>
              <a:ext uri="{FF2B5EF4-FFF2-40B4-BE49-F238E27FC236}">
                <a16:creationId xmlns:a16="http://schemas.microsoft.com/office/drawing/2014/main" id="{DAE4D186-5190-548C-0FC7-A03FE403E71D}"/>
              </a:ext>
            </a:extLst>
          </p:cNvPr>
          <p:cNvSpPr/>
          <p:nvPr/>
        </p:nvSpPr>
        <p:spPr>
          <a:xfrm>
            <a:off x="914400" y="5720000"/>
            <a:ext cx="10363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Lifecycle deadlines at learn.microsoft.com/lifecycle/products</a:t>
            </a:r>
          </a:p>
          <a:p>
            <a:pPr algn="l">
              <a:buNone/>
            </a:pPr>
            <a:r>
              <a:rPr lang="en-US" sz="100">
                <a:effectLst/>
              </a:rPr>
              <a:t> </a:t>
            </a:r>
            <a:endParaRPr lang="en-US"/>
          </a:p>
        </p:txBody>
      </p:sp>
    </p:spTree>
    <p:extLst>
      <p:ext uri="{BB962C8B-B14F-4D97-AF65-F5344CB8AC3E}">
        <p14:creationId xmlns:p14="http://schemas.microsoft.com/office/powerpoint/2010/main" val="41326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8" name="Rectangle 1927">
            <a:extLst>
              <a:ext uri="{FF2B5EF4-FFF2-40B4-BE49-F238E27FC236}">
                <a16:creationId xmlns:a16="http://schemas.microsoft.com/office/drawing/2014/main" id="{591A3FED-95CF-13AE-2A02-A64434B6D08A}"/>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SEVERITY RATINGS</a:t>
            </a:r>
          </a:p>
          <a:p>
            <a:pPr algn="l">
              <a:buNone/>
            </a:pPr>
            <a:r>
              <a:rPr lang="en-US" sz="100">
                <a:effectLst/>
              </a:rPr>
              <a:t> </a:t>
            </a:r>
            <a:endParaRPr lang="en-US"/>
          </a:p>
        </p:txBody>
      </p:sp>
      <p:sp>
        <p:nvSpPr>
          <p:cNvPr id="1990" name="Rectangle 1989">
            <a:extLst>
              <a:ext uri="{FF2B5EF4-FFF2-40B4-BE49-F238E27FC236}">
                <a16:creationId xmlns:a16="http://schemas.microsoft.com/office/drawing/2014/main" id="{FE7002D7-575D-7DF3-88DF-1CF69BBBAF10}"/>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What “critical only” covers</a:t>
            </a:r>
          </a:p>
          <a:p>
            <a:pPr algn="l">
              <a:buNone/>
            </a:pPr>
            <a:r>
              <a:rPr lang="en-US" sz="100">
                <a:effectLst/>
              </a:rPr>
              <a:t> </a:t>
            </a:r>
            <a:endParaRPr lang="en-US"/>
          </a:p>
        </p:txBody>
      </p:sp>
      <p:sp>
        <p:nvSpPr>
          <p:cNvPr id="2053" name="Rectangle 2052">
            <a:extLst>
              <a:ext uri="{FF2B5EF4-FFF2-40B4-BE49-F238E27FC236}">
                <a16:creationId xmlns:a16="http://schemas.microsoft.com/office/drawing/2014/main" id="{00B56050-A832-5B49-F6BA-82872E55D461}"/>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7" name="Rectangle 2116">
            <a:extLst>
              <a:ext uri="{FF2B5EF4-FFF2-40B4-BE49-F238E27FC236}">
                <a16:creationId xmlns:a16="http://schemas.microsoft.com/office/drawing/2014/main" id="{6141743E-8E15-1643-BA28-A8629DAA2AE7}"/>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182" name="Rectangle 2181">
            <a:extLst>
              <a:ext uri="{FF2B5EF4-FFF2-40B4-BE49-F238E27FC236}">
                <a16:creationId xmlns:a16="http://schemas.microsoft.com/office/drawing/2014/main" id="{654B9EFC-06E5-E844-B8FA-561CBF9F1CB5}"/>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5</a:t>
            </a:r>
          </a:p>
          <a:p>
            <a:pPr algn="r">
              <a:buNone/>
            </a:pPr>
            <a:r>
              <a:rPr lang="en-US" sz="100">
                <a:effectLst/>
              </a:rPr>
              <a:t> </a:t>
            </a:r>
            <a:endParaRPr lang="en-US"/>
          </a:p>
        </p:txBody>
      </p:sp>
      <p:graphicFrame>
        <p:nvGraphicFramePr>
          <p:cNvPr id="15" name="Table 14">
            <a:extLst>
              <a:ext uri="{FF2B5EF4-FFF2-40B4-BE49-F238E27FC236}">
                <a16:creationId xmlns:a16="http://schemas.microsoft.com/office/drawing/2014/main" id="{E1E43D68-3194-4289-93EE-1FEA9378A969}"/>
              </a:ext>
            </a:extLst>
          </p:cNvPr>
          <p:cNvGraphicFramePr>
            <a:graphicFrameLocks noGrp="1"/>
          </p:cNvGraphicFramePr>
          <p:nvPr/>
        </p:nvGraphicFramePr>
        <p:xfrm>
          <a:off x="914400" y="1700000"/>
          <a:ext cx="8128000" cy="1554480"/>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710291997"/>
                    </a:ext>
                  </a:extLst>
                </a:gridCol>
                <a:gridCol w="4064000">
                  <a:extLst>
                    <a:ext uri="{9D8B030D-6E8A-4147-A177-3AD203B41FA5}">
                      <a16:colId xmlns:a16="http://schemas.microsoft.com/office/drawing/2014/main" val="1306467326"/>
                    </a:ext>
                  </a:extLst>
                </a:gridCol>
              </a:tblGrid>
              <a:tr h="0">
                <a:tc>
                  <a:txBody>
                    <a:bodyPr/>
                    <a:lstStyle/>
                    <a:p>
                      <a:pPr>
                        <a:buNone/>
                      </a:pPr>
                      <a:r>
                        <a:rPr lang="en-US" sz="1200" b="1">
                          <a:solidFill>
                            <a:srgbClr val="FFFFFF"/>
                          </a:solidFill>
                          <a:effectLst/>
                          <a:latin typeface="Segoe UI" panose="020B0502040204020203" pitchFamily="34" charset="0"/>
                        </a:rPr>
                        <a:t>Security update rating</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Description</a:t>
                      </a:r>
                    </a:p>
                  </a:txBody>
                  <a:tcPr anchor="ctr">
                    <a:lnL>
                      <a:noFill/>
                    </a:lnL>
                    <a:lnR>
                      <a:noFill/>
                    </a:lnR>
                    <a:lnT>
                      <a:noFill/>
                    </a:lnT>
                    <a:lnB>
                      <a:noFill/>
                    </a:lnB>
                    <a:solidFill>
                      <a:srgbClr val="243A5E"/>
                    </a:solidFill>
                  </a:tcPr>
                </a:tc>
                <a:extLst>
                  <a:ext uri="{0D108BD9-81ED-4DB2-BD59-A6C34878D82A}">
                    <a16:rowId xmlns:a16="http://schemas.microsoft.com/office/drawing/2014/main" val="356673259"/>
                  </a:ext>
                </a:extLst>
              </a:tr>
              <a:tr h="0">
                <a:tc>
                  <a:txBody>
                    <a:bodyPr/>
                    <a:lstStyle/>
                    <a:p>
                      <a:pPr>
                        <a:buNone/>
                      </a:pPr>
                      <a:r>
                        <a:rPr lang="en-US" sz="1200">
                          <a:effectLst/>
                          <a:latin typeface="Segoe UI" panose="020B0502040204020203" pitchFamily="34" charset="0"/>
                        </a:rPr>
                        <a:t>Critical</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 vulnerability, including malware from browsing to a web page or opening email, whose exploitation could allow code execution without user interaction.</a:t>
                      </a:r>
                    </a:p>
                  </a:txBody>
                  <a:tcPr anchor="ctr">
                    <a:lnL>
                      <a:noFill/>
                    </a:lnL>
                    <a:lnR>
                      <a:noFill/>
                    </a:lnR>
                    <a:lnT>
                      <a:noFill/>
                    </a:lnT>
                    <a:lnB>
                      <a:noFill/>
                    </a:lnB>
                    <a:noFill/>
                  </a:tcPr>
                </a:tc>
                <a:extLst>
                  <a:ext uri="{0D108BD9-81ED-4DB2-BD59-A6C34878D82A}">
                    <a16:rowId xmlns:a16="http://schemas.microsoft.com/office/drawing/2014/main" val="3813732186"/>
                  </a:ext>
                </a:extLst>
              </a:tr>
              <a:tr h="0">
                <a:tc>
                  <a:txBody>
                    <a:bodyPr/>
                    <a:lstStyle/>
                    <a:p>
                      <a:pPr>
                        <a:buNone/>
                      </a:pPr>
                      <a:r>
                        <a:rPr lang="en-US" sz="1200">
                          <a:effectLst/>
                          <a:latin typeface="Segoe UI" panose="020B0502040204020203" pitchFamily="34" charset="0"/>
                        </a:rPr>
                        <a:t>Important</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A vulnerability whose exploitation could compromise the confidentiality, integrity, or availability of user data or availability of processing resources.</a:t>
                      </a:r>
                    </a:p>
                  </a:txBody>
                  <a:tcPr anchor="ctr">
                    <a:lnL>
                      <a:noFill/>
                    </a:lnL>
                    <a:lnR>
                      <a:noFill/>
                    </a:lnR>
                    <a:lnT>
                      <a:noFill/>
                    </a:lnT>
                    <a:lnB>
                      <a:noFill/>
                    </a:lnB>
                    <a:solidFill>
                      <a:srgbClr val="E9EBEF"/>
                    </a:solidFill>
                  </a:tcPr>
                </a:tc>
                <a:extLst>
                  <a:ext uri="{0D108BD9-81ED-4DB2-BD59-A6C34878D82A}">
                    <a16:rowId xmlns:a16="http://schemas.microsoft.com/office/drawing/2014/main" val="3871392832"/>
                  </a:ext>
                </a:extLst>
              </a:tr>
            </a:tbl>
          </a:graphicData>
        </a:graphic>
      </p:graphicFrame>
      <p:sp>
        <p:nvSpPr>
          <p:cNvPr id="2249" name="Rectangle 2248">
            <a:extLst>
              <a:ext uri="{FF2B5EF4-FFF2-40B4-BE49-F238E27FC236}">
                <a16:creationId xmlns:a16="http://schemas.microsoft.com/office/drawing/2014/main" id="{BA13B68F-2217-E364-8AD7-B8056DD6B121}"/>
              </a:ext>
            </a:extLst>
          </p:cNvPr>
          <p:cNvSpPr/>
          <p:nvPr/>
        </p:nvSpPr>
        <p:spPr>
          <a:xfrm>
            <a:off x="914400" y="4300000"/>
            <a:ext cx="5105400" cy="8200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7" name="Rectangle 2316">
            <a:extLst>
              <a:ext uri="{FF2B5EF4-FFF2-40B4-BE49-F238E27FC236}">
                <a16:creationId xmlns:a16="http://schemas.microsoft.com/office/drawing/2014/main" id="{D33D5ABE-BF2B-66C8-E357-E119D51B9959}"/>
              </a:ext>
            </a:extLst>
          </p:cNvPr>
          <p:cNvSpPr/>
          <p:nvPr/>
        </p:nvSpPr>
        <p:spPr>
          <a:xfrm>
            <a:off x="1143000" y="4420000"/>
            <a:ext cx="4648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07C10"/>
                </a:solidFill>
                <a:effectLst/>
                <a:latin typeface="Segoe UI Semibold" panose="020B0702040204020203" pitchFamily="34" charset="0"/>
              </a:rPr>
              <a:t>Critical</a:t>
            </a:r>
          </a:p>
          <a:p>
            <a:pPr algn="l">
              <a:buNone/>
            </a:pPr>
            <a:r>
              <a:rPr lang="en-US" sz="100">
                <a:effectLst/>
              </a:rPr>
              <a:t> </a:t>
            </a:r>
            <a:endParaRPr lang="en-US"/>
          </a:p>
        </p:txBody>
      </p:sp>
      <p:sp>
        <p:nvSpPr>
          <p:cNvPr id="2386" name="Rectangle 2385">
            <a:extLst>
              <a:ext uri="{FF2B5EF4-FFF2-40B4-BE49-F238E27FC236}">
                <a16:creationId xmlns:a16="http://schemas.microsoft.com/office/drawing/2014/main" id="{D9A6FE9B-5F09-970B-17CD-B299853ADC09}"/>
              </a:ext>
            </a:extLst>
          </p:cNvPr>
          <p:cNvSpPr/>
          <p:nvPr/>
        </p:nvSpPr>
        <p:spPr>
          <a:xfrm>
            <a:off x="1143000" y="4740000"/>
            <a:ext cx="46482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Covered by SQL Server 2016 ESU</a:t>
            </a:r>
          </a:p>
          <a:p>
            <a:pPr algn="l">
              <a:buNone/>
            </a:pPr>
            <a:r>
              <a:rPr lang="en-US" sz="100">
                <a:effectLst/>
              </a:rPr>
              <a:t> </a:t>
            </a:r>
            <a:endParaRPr lang="en-US"/>
          </a:p>
        </p:txBody>
      </p:sp>
      <p:sp>
        <p:nvSpPr>
          <p:cNvPr id="2456" name="Rectangle 2455">
            <a:extLst>
              <a:ext uri="{FF2B5EF4-FFF2-40B4-BE49-F238E27FC236}">
                <a16:creationId xmlns:a16="http://schemas.microsoft.com/office/drawing/2014/main" id="{02FF0363-8FF3-0D76-5354-5F3EADCCCCE8}"/>
              </a:ext>
            </a:extLst>
          </p:cNvPr>
          <p:cNvSpPr/>
          <p:nvPr/>
        </p:nvSpPr>
        <p:spPr>
          <a:xfrm>
            <a:off x="6172200" y="4300000"/>
            <a:ext cx="5105400" cy="8200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7" name="Rectangle 2526">
            <a:extLst>
              <a:ext uri="{FF2B5EF4-FFF2-40B4-BE49-F238E27FC236}">
                <a16:creationId xmlns:a16="http://schemas.microsoft.com/office/drawing/2014/main" id="{884CBBD3-A148-BD10-2E0C-3F1A0568D181}"/>
              </a:ext>
            </a:extLst>
          </p:cNvPr>
          <p:cNvSpPr/>
          <p:nvPr/>
        </p:nvSpPr>
        <p:spPr>
          <a:xfrm>
            <a:off x="6400800" y="4420000"/>
            <a:ext cx="4648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605E5C"/>
                </a:solidFill>
                <a:effectLst/>
                <a:latin typeface="Segoe UI Semibold" panose="020B0702040204020203" pitchFamily="34" charset="0"/>
              </a:rPr>
              <a:t>Important</a:t>
            </a:r>
          </a:p>
          <a:p>
            <a:pPr algn="l">
              <a:buNone/>
            </a:pPr>
            <a:r>
              <a:rPr lang="en-US" sz="100">
                <a:effectLst/>
              </a:rPr>
              <a:t> </a:t>
            </a:r>
            <a:endParaRPr lang="en-US"/>
          </a:p>
        </p:txBody>
      </p:sp>
      <p:sp>
        <p:nvSpPr>
          <p:cNvPr id="2599" name="Rectangle 2598">
            <a:extLst>
              <a:ext uri="{FF2B5EF4-FFF2-40B4-BE49-F238E27FC236}">
                <a16:creationId xmlns:a16="http://schemas.microsoft.com/office/drawing/2014/main" id="{546DF18F-D323-F8E0-BBB7-FF012FD090CD}"/>
              </a:ext>
            </a:extLst>
          </p:cNvPr>
          <p:cNvSpPr/>
          <p:nvPr/>
        </p:nvSpPr>
        <p:spPr>
          <a:xfrm>
            <a:off x="6400800" y="4740000"/>
            <a:ext cx="46482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Not covered by SQL Server 2016 ESU</a:t>
            </a:r>
          </a:p>
          <a:p>
            <a:pPr algn="l">
              <a:buNone/>
            </a:pPr>
            <a:r>
              <a:rPr lang="en-US" sz="100">
                <a:effectLst/>
              </a:rPr>
              <a:t> </a:t>
            </a:r>
            <a:endParaRPr lang="en-US"/>
          </a:p>
        </p:txBody>
      </p:sp>
      <p:sp>
        <p:nvSpPr>
          <p:cNvPr id="2672" name="Rectangle 2671">
            <a:extLst>
              <a:ext uri="{FF2B5EF4-FFF2-40B4-BE49-F238E27FC236}">
                <a16:creationId xmlns:a16="http://schemas.microsoft.com/office/drawing/2014/main" id="{FB048439-C916-016B-08F1-ECF897607970}"/>
              </a:ext>
            </a:extLst>
          </p:cNvPr>
          <p:cNvSpPr/>
          <p:nvPr/>
        </p:nvSpPr>
        <p:spPr>
          <a:xfrm>
            <a:off x="914400" y="5300000"/>
            <a:ext cx="10363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For SQL Server, ESU delivers critical updates only — Important-rated vulnerabilities are not covered.</a:t>
            </a:r>
          </a:p>
          <a:p>
            <a:pPr algn="l">
              <a:buNone/>
            </a:pPr>
            <a:r>
              <a:rPr lang="en-US" sz="100">
                <a:effectLst/>
              </a:rPr>
              <a:t> </a:t>
            </a:r>
            <a:endParaRPr lang="en-US"/>
          </a:p>
        </p:txBody>
      </p:sp>
    </p:spTree>
    <p:extLst>
      <p:ext uri="{BB962C8B-B14F-4D97-AF65-F5344CB8AC3E}">
        <p14:creationId xmlns:p14="http://schemas.microsoft.com/office/powerpoint/2010/main" val="370385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8198" name="Rectangle 28197">
            <a:extLst>
              <a:ext uri="{FF2B5EF4-FFF2-40B4-BE49-F238E27FC236}">
                <a16:creationId xmlns:a16="http://schemas.microsoft.com/office/drawing/2014/main" id="{1749A1E2-109C-1D78-F297-E566BBD8831B}"/>
              </a:ext>
            </a:extLst>
          </p:cNvPr>
          <p:cNvSpPr/>
          <p:nvPr/>
        </p:nvSpPr>
        <p:spPr>
          <a:xfrm>
            <a:off x="914400" y="1900000"/>
            <a:ext cx="2600000" cy="2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0">
                <a:solidFill>
                  <a:srgbClr val="50E6FF"/>
                </a:solidFill>
                <a:effectLst/>
                <a:latin typeface="Segoe UI Light" panose="020B0502040204020203" pitchFamily="34" charset="0"/>
              </a:rPr>
              <a:t>01</a:t>
            </a:r>
          </a:p>
          <a:p>
            <a:pPr algn="l">
              <a:buNone/>
            </a:pPr>
            <a:r>
              <a:rPr lang="en-US" sz="100">
                <a:effectLst/>
              </a:rPr>
              <a:t> </a:t>
            </a:r>
            <a:endParaRPr lang="en-US"/>
          </a:p>
        </p:txBody>
      </p:sp>
      <p:sp>
        <p:nvSpPr>
          <p:cNvPr id="28200" name="Rectangle 28199">
            <a:extLst>
              <a:ext uri="{FF2B5EF4-FFF2-40B4-BE49-F238E27FC236}">
                <a16:creationId xmlns:a16="http://schemas.microsoft.com/office/drawing/2014/main" id="{5D9F372D-0D0F-A99B-9AE9-D12118D51525}"/>
              </a:ext>
            </a:extLst>
          </p:cNvPr>
          <p:cNvSpPr/>
          <p:nvPr/>
        </p:nvSpPr>
        <p:spPr>
          <a:xfrm>
            <a:off x="3600000" y="1900000"/>
            <a:ext cx="76776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a:solidFill>
                  <a:srgbClr val="FFFFFF"/>
                </a:solidFill>
                <a:effectLst/>
                <a:latin typeface="Segoe UI Light" panose="020B0502040204020203" pitchFamily="34" charset="0"/>
              </a:rPr>
              <a:t>The cost of standing still</a:t>
            </a:r>
          </a:p>
          <a:p>
            <a:pPr algn="l">
              <a:buNone/>
            </a:pPr>
            <a:r>
              <a:rPr lang="en-US" sz="100">
                <a:effectLst/>
              </a:rPr>
              <a:t> </a:t>
            </a:r>
            <a:endParaRPr lang="en-US"/>
          </a:p>
        </p:txBody>
      </p:sp>
      <p:sp>
        <p:nvSpPr>
          <p:cNvPr id="28203" name="Rectangle 28202">
            <a:extLst>
              <a:ext uri="{FF2B5EF4-FFF2-40B4-BE49-F238E27FC236}">
                <a16:creationId xmlns:a16="http://schemas.microsoft.com/office/drawing/2014/main" id="{6D7B30D1-5296-EC9B-8E48-6BB1FBC2FFED}"/>
              </a:ext>
            </a:extLst>
          </p:cNvPr>
          <p:cNvSpPr/>
          <p:nvPr/>
        </p:nvSpPr>
        <p:spPr>
          <a:xfrm>
            <a:off x="3600000" y="3390640"/>
            <a:ext cx="1920240" cy="50800"/>
          </a:xfrm>
          <a:prstGeom prst="rect">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07" name="Rectangle 28206">
            <a:extLst>
              <a:ext uri="{FF2B5EF4-FFF2-40B4-BE49-F238E27FC236}">
                <a16:creationId xmlns:a16="http://schemas.microsoft.com/office/drawing/2014/main" id="{D35E71A9-4F46-58E6-7A60-127305D49008}"/>
              </a:ext>
            </a:extLst>
          </p:cNvPr>
          <p:cNvSpPr/>
          <p:nvPr/>
        </p:nvSpPr>
        <p:spPr>
          <a:xfrm>
            <a:off x="3600000" y="3661440"/>
            <a:ext cx="7677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C7D5EA"/>
                </a:solidFill>
                <a:effectLst/>
                <a:latin typeface="Segoe UI" panose="020B0502040204020203" pitchFamily="34" charset="0"/>
              </a:rPr>
              <a:t>Extended Security Updates are paid, priced per core, and charged in every one of the three years.</a:t>
            </a:r>
          </a:p>
          <a:p>
            <a:pPr algn="l">
              <a:buNone/>
            </a:pPr>
            <a:r>
              <a:rPr lang="en-US" sz="100">
                <a:effectLst/>
              </a:rPr>
              <a:t> </a:t>
            </a:r>
            <a:endParaRPr lang="en-US"/>
          </a:p>
        </p:txBody>
      </p:sp>
      <p:sp>
        <p:nvSpPr>
          <p:cNvPr id="28212" name="Rectangle 28211">
            <a:extLst>
              <a:ext uri="{FF2B5EF4-FFF2-40B4-BE49-F238E27FC236}">
                <a16:creationId xmlns:a16="http://schemas.microsoft.com/office/drawing/2014/main" id="{4F0A2F71-49BE-A6C0-867B-6890A9339A30}"/>
              </a:ext>
            </a:extLst>
          </p:cNvPr>
          <p:cNvSpPr/>
          <p:nvPr/>
        </p:nvSpPr>
        <p:spPr>
          <a:xfrm>
            <a:off x="3600000" y="4481520"/>
            <a:ext cx="7677600" cy="1024840"/>
          </a:xfrm>
          <a:prstGeom prst="rect">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18" name="Rectangle 28217">
            <a:extLst>
              <a:ext uri="{FF2B5EF4-FFF2-40B4-BE49-F238E27FC236}">
                <a16:creationId xmlns:a16="http://schemas.microsoft.com/office/drawing/2014/main" id="{3E315D50-75B2-6E66-C114-3F7342905F64}"/>
              </a:ext>
            </a:extLst>
          </p:cNvPr>
          <p:cNvSpPr/>
          <p:nvPr/>
        </p:nvSpPr>
        <p:spPr>
          <a:xfrm>
            <a:off x="3800000" y="4681520"/>
            <a:ext cx="7277600" cy="624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3F2F1"/>
                </a:solidFill>
                <a:effectLst/>
                <a:latin typeface="Segoe UI" panose="020B0502040204020203" pitchFamily="34" charset="0"/>
              </a:rPr>
              <a:t>ESU pricing model — where it is free and where it is paid</a:t>
            </a:r>
          </a:p>
          <a:p>
            <a:pPr algn="l">
              <a:buNone/>
            </a:pPr>
            <a:r>
              <a:rPr lang="en-US" sz="700">
                <a:solidFill>
                  <a:srgbClr val="F3F2F1"/>
                </a:solidFill>
                <a:effectLst/>
                <a:latin typeface="Segoe UI" panose="020B0502040204020203" pitchFamily="34" charset="0"/>
              </a:rPr>
              <a:t> </a:t>
            </a:r>
          </a:p>
          <a:p>
            <a:pPr algn="l">
              <a:buNone/>
            </a:pPr>
            <a:r>
              <a:rPr lang="en-US" sz="1400">
                <a:solidFill>
                  <a:srgbClr val="F3F2F1"/>
                </a:solidFill>
                <a:effectLst/>
                <a:latin typeface="Segoe UI" panose="020B0502040204020203" pitchFamily="34" charset="0"/>
              </a:rPr>
              <a:t>What that costs in practice</a:t>
            </a:r>
            <a:endParaRPr lang="en-US"/>
          </a:p>
        </p:txBody>
      </p:sp>
      <p:sp>
        <p:nvSpPr>
          <p:cNvPr id="28225" name="Rectangle 28224">
            <a:extLst>
              <a:ext uri="{FF2B5EF4-FFF2-40B4-BE49-F238E27FC236}">
                <a16:creationId xmlns:a16="http://schemas.microsoft.com/office/drawing/2014/main" id="{A6D2E482-0C42-1639-0EC5-3DCFD3A2DFF4}"/>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C7D5EA"/>
                </a:solidFill>
                <a:effectLst/>
                <a:latin typeface="Segoe UI" panose="020B0502040204020203" pitchFamily="34" charset="0"/>
              </a:rPr>
              <a:t>SQL Server 2016 End of Support</a:t>
            </a:r>
          </a:p>
          <a:p>
            <a:pPr algn="l">
              <a:buNone/>
            </a:pPr>
            <a:r>
              <a:rPr lang="en-US" sz="100">
                <a:effectLst/>
              </a:rPr>
              <a:t> </a:t>
            </a:r>
            <a:endParaRPr lang="en-US"/>
          </a:p>
        </p:txBody>
      </p:sp>
      <p:sp>
        <p:nvSpPr>
          <p:cNvPr id="28233" name="Rectangle 28232">
            <a:extLst>
              <a:ext uri="{FF2B5EF4-FFF2-40B4-BE49-F238E27FC236}">
                <a16:creationId xmlns:a16="http://schemas.microsoft.com/office/drawing/2014/main" id="{2958926C-9379-EFCB-D256-E0EE5A95A076}"/>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C7D5EA"/>
                </a:solidFill>
                <a:effectLst/>
                <a:latin typeface="Segoe UI" panose="020B0502040204020203" pitchFamily="34" charset="0"/>
              </a:rPr>
              <a:t>6</a:t>
            </a:r>
          </a:p>
          <a:p>
            <a:pPr algn="r">
              <a:buNone/>
            </a:pPr>
            <a:r>
              <a:rPr lang="en-US" sz="100">
                <a:effectLst/>
              </a:rPr>
              <a:t> </a:t>
            </a:r>
            <a:endParaRPr lang="en-US"/>
          </a:p>
        </p:txBody>
      </p:sp>
    </p:spTree>
    <p:extLst>
      <p:ext uri="{BB962C8B-B14F-4D97-AF65-F5344CB8AC3E}">
        <p14:creationId xmlns:p14="http://schemas.microsoft.com/office/powerpoint/2010/main" val="403797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53" name="Rectangle 3052">
            <a:extLst>
              <a:ext uri="{FF2B5EF4-FFF2-40B4-BE49-F238E27FC236}">
                <a16:creationId xmlns:a16="http://schemas.microsoft.com/office/drawing/2014/main" id="{60E693EE-C6D6-A0F2-41A5-34F1C7F24039}"/>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ESU PRICING MODEL</a:t>
            </a:r>
          </a:p>
          <a:p>
            <a:pPr algn="l">
              <a:buNone/>
            </a:pPr>
            <a:r>
              <a:rPr lang="en-US" sz="100">
                <a:effectLst/>
              </a:rPr>
              <a:t> </a:t>
            </a:r>
            <a:endParaRPr lang="en-US"/>
          </a:p>
        </p:txBody>
      </p:sp>
      <p:sp>
        <p:nvSpPr>
          <p:cNvPr id="3055" name="Rectangle 3054">
            <a:extLst>
              <a:ext uri="{FF2B5EF4-FFF2-40B4-BE49-F238E27FC236}">
                <a16:creationId xmlns:a16="http://schemas.microsoft.com/office/drawing/2014/main" id="{74EB2564-0E23-B49F-1C60-7F845BF5D54E}"/>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Where ESU is free and where it is paid</a:t>
            </a:r>
          </a:p>
          <a:p>
            <a:pPr algn="l">
              <a:buNone/>
            </a:pPr>
            <a:r>
              <a:rPr lang="en-US" sz="100">
                <a:effectLst/>
              </a:rPr>
              <a:t> </a:t>
            </a:r>
            <a:endParaRPr lang="en-US"/>
          </a:p>
        </p:txBody>
      </p:sp>
      <p:sp>
        <p:nvSpPr>
          <p:cNvPr id="3058" name="Rectangle 3057">
            <a:extLst>
              <a:ext uri="{FF2B5EF4-FFF2-40B4-BE49-F238E27FC236}">
                <a16:creationId xmlns:a16="http://schemas.microsoft.com/office/drawing/2014/main" id="{E857E9A9-C6BF-0BC3-EC04-F57051954092}"/>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62" name="Rectangle 3061">
            <a:extLst>
              <a:ext uri="{FF2B5EF4-FFF2-40B4-BE49-F238E27FC236}">
                <a16:creationId xmlns:a16="http://schemas.microsoft.com/office/drawing/2014/main" id="{671A9488-76B4-DB1C-8931-DF0C166629A2}"/>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3067" name="Rectangle 3066">
            <a:extLst>
              <a:ext uri="{FF2B5EF4-FFF2-40B4-BE49-F238E27FC236}">
                <a16:creationId xmlns:a16="http://schemas.microsoft.com/office/drawing/2014/main" id="{5418E142-ED1E-EAAB-73AE-2B9E2C81F1FF}"/>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7</a:t>
            </a:r>
          </a:p>
          <a:p>
            <a:pPr algn="r">
              <a:buNone/>
            </a:pPr>
            <a:r>
              <a:rPr lang="en-US" sz="100">
                <a:effectLst/>
              </a:rPr>
              <a:t> </a:t>
            </a:r>
            <a:endParaRPr lang="en-US"/>
          </a:p>
        </p:txBody>
      </p:sp>
      <p:sp>
        <p:nvSpPr>
          <p:cNvPr id="3073" name="Rectangle 3072">
            <a:extLst>
              <a:ext uri="{FF2B5EF4-FFF2-40B4-BE49-F238E27FC236}">
                <a16:creationId xmlns:a16="http://schemas.microsoft.com/office/drawing/2014/main" id="{BCBB5834-3AA7-DCC9-9533-9ED3AED0101F}"/>
              </a:ext>
            </a:extLst>
          </p:cNvPr>
          <p:cNvSpPr/>
          <p:nvPr/>
        </p:nvSpPr>
        <p:spPr>
          <a:xfrm>
            <a:off x="914400" y="1620000"/>
            <a:ext cx="10363200" cy="5600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80" name="Rectangle 3079">
            <a:extLst>
              <a:ext uri="{FF2B5EF4-FFF2-40B4-BE49-F238E27FC236}">
                <a16:creationId xmlns:a16="http://schemas.microsoft.com/office/drawing/2014/main" id="{629C2482-91AA-9E52-CB2B-001B63432A64}"/>
              </a:ext>
            </a:extLst>
          </p:cNvPr>
          <p:cNvSpPr/>
          <p:nvPr/>
        </p:nvSpPr>
        <p:spPr>
          <a:xfrm>
            <a:off x="1143000" y="1700000"/>
            <a:ext cx="9906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Segoe UI Semibold" panose="020B0702040204020203" pitchFamily="34" charset="0"/>
              </a:rPr>
              <a:t>Unlike the 2012 wave, SQL Server 2016 ESU is paid even on Azure VMs.</a:t>
            </a:r>
          </a:p>
          <a:p>
            <a:pPr algn="l">
              <a:buNone/>
            </a:pPr>
            <a:r>
              <a:rPr lang="en-US" sz="100">
                <a:effectLst/>
              </a:rPr>
              <a:t> </a:t>
            </a:r>
            <a:endParaRPr lang="en-US"/>
          </a:p>
        </p:txBody>
      </p:sp>
      <p:graphicFrame>
        <p:nvGraphicFramePr>
          <p:cNvPr id="11" name="Table 10">
            <a:extLst>
              <a:ext uri="{FF2B5EF4-FFF2-40B4-BE49-F238E27FC236}">
                <a16:creationId xmlns:a16="http://schemas.microsoft.com/office/drawing/2014/main" id="{92AD7225-08AC-40E0-906A-6DCC6119EDBB}"/>
              </a:ext>
            </a:extLst>
          </p:cNvPr>
          <p:cNvGraphicFramePr>
            <a:graphicFrameLocks noGrp="1"/>
          </p:cNvGraphicFramePr>
          <p:nvPr/>
        </p:nvGraphicFramePr>
        <p:xfrm>
          <a:off x="914400" y="2280000"/>
          <a:ext cx="8128000" cy="3200400"/>
        </p:xfrm>
        <a:graphic>
          <a:graphicData uri="http://schemas.openxmlformats.org/drawingml/2006/table">
            <a:tbl>
              <a:tblPr bandRow="1">
                <a:tableStyleId>{5C22544A-7EE6-4342-B048-85BDC9FD1C3A}</a:tableStyleId>
              </a:tblPr>
              <a:tblGrid>
                <a:gridCol w="1625600">
                  <a:extLst>
                    <a:ext uri="{9D8B030D-6E8A-4147-A177-3AD203B41FA5}">
                      <a16:colId xmlns:a16="http://schemas.microsoft.com/office/drawing/2014/main" val="2148389652"/>
                    </a:ext>
                  </a:extLst>
                </a:gridCol>
                <a:gridCol w="1625600">
                  <a:extLst>
                    <a:ext uri="{9D8B030D-6E8A-4147-A177-3AD203B41FA5}">
                      <a16:colId xmlns:a16="http://schemas.microsoft.com/office/drawing/2014/main" val="2794763231"/>
                    </a:ext>
                  </a:extLst>
                </a:gridCol>
                <a:gridCol w="1625600">
                  <a:extLst>
                    <a:ext uri="{9D8B030D-6E8A-4147-A177-3AD203B41FA5}">
                      <a16:colId xmlns:a16="http://schemas.microsoft.com/office/drawing/2014/main" val="3062620683"/>
                    </a:ext>
                  </a:extLst>
                </a:gridCol>
                <a:gridCol w="1625600">
                  <a:extLst>
                    <a:ext uri="{9D8B030D-6E8A-4147-A177-3AD203B41FA5}">
                      <a16:colId xmlns:a16="http://schemas.microsoft.com/office/drawing/2014/main" val="2615287813"/>
                    </a:ext>
                  </a:extLst>
                </a:gridCol>
                <a:gridCol w="1625600">
                  <a:extLst>
                    <a:ext uri="{9D8B030D-6E8A-4147-A177-3AD203B41FA5}">
                      <a16:colId xmlns:a16="http://schemas.microsoft.com/office/drawing/2014/main" val="1320597785"/>
                    </a:ext>
                  </a:extLst>
                </a:gridCol>
              </a:tblGrid>
              <a:tr h="0">
                <a:tc>
                  <a:txBody>
                    <a:bodyPr/>
                    <a:lstStyle/>
                    <a:p>
                      <a:pPr>
                        <a:buNone/>
                      </a:pPr>
                      <a:endParaRPr lang="en-US" sz="1200" b="1">
                        <a:solidFill>
                          <a:srgbClr val="FFFFFF"/>
                        </a:solidFill>
                        <a:effectLst/>
                        <a:latin typeface="Segoe UI" panose="020B0502040204020203" pitchFamily="34" charset="0"/>
                      </a:endParaRP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SQL Server 2012 ESU</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SQL Server 2016 ESU</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Windows Server 2012 ESU</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Windows Server 2016 ESU</a:t>
                      </a:r>
                    </a:p>
                  </a:txBody>
                  <a:tcPr anchor="ctr">
                    <a:lnL>
                      <a:noFill/>
                    </a:lnL>
                    <a:lnR>
                      <a:noFill/>
                    </a:lnR>
                    <a:lnT>
                      <a:noFill/>
                    </a:lnT>
                    <a:lnB>
                      <a:noFill/>
                    </a:lnB>
                    <a:solidFill>
                      <a:srgbClr val="243A5E"/>
                    </a:solidFill>
                  </a:tcPr>
                </a:tc>
                <a:extLst>
                  <a:ext uri="{0D108BD9-81ED-4DB2-BD59-A6C34878D82A}">
                    <a16:rowId xmlns:a16="http://schemas.microsoft.com/office/drawing/2014/main" val="3252008994"/>
                  </a:ext>
                </a:extLst>
              </a:tr>
              <a:tr h="0">
                <a:tc>
                  <a:txBody>
                    <a:bodyPr/>
                    <a:lstStyle/>
                    <a:p>
                      <a:pPr>
                        <a:buNone/>
                      </a:pPr>
                      <a:r>
                        <a:rPr lang="en-US" sz="1200">
                          <a:effectLst/>
                          <a:latin typeface="Segoe UI" panose="020B0502040204020203" pitchFamily="34" charset="0"/>
                        </a:rPr>
                        <a:t>On premises</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extLst>
                  <a:ext uri="{0D108BD9-81ED-4DB2-BD59-A6C34878D82A}">
                    <a16:rowId xmlns:a16="http://schemas.microsoft.com/office/drawing/2014/main" val="2487071614"/>
                  </a:ext>
                </a:extLst>
              </a:tr>
              <a:tr h="0">
                <a:tc>
                  <a:txBody>
                    <a:bodyPr/>
                    <a:lstStyle/>
                    <a:p>
                      <a:pPr>
                        <a:buNone/>
                      </a:pPr>
                      <a:r>
                        <a:rPr lang="en-US" sz="1200">
                          <a:effectLst/>
                          <a:latin typeface="Segoe UI" panose="020B0502040204020203" pitchFamily="34" charset="0"/>
                        </a:rPr>
                        <a:t>Multicloud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extLst>
                  <a:ext uri="{0D108BD9-81ED-4DB2-BD59-A6C34878D82A}">
                    <a16:rowId xmlns:a16="http://schemas.microsoft.com/office/drawing/2014/main" val="2205817421"/>
                  </a:ext>
                </a:extLst>
              </a:tr>
              <a:tr h="0">
                <a:tc>
                  <a:txBody>
                    <a:bodyPr/>
                    <a:lstStyle/>
                    <a:p>
                      <a:pPr>
                        <a:buNone/>
                      </a:pPr>
                      <a:r>
                        <a:rPr lang="en-US" sz="1200">
                          <a:effectLst/>
                          <a:latin typeface="Segoe UI" panose="020B0502040204020203" pitchFamily="34" charset="0"/>
                        </a:rPr>
                        <a:t>Azure VMs, Azure Dedicated Host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extLst>
                  <a:ext uri="{0D108BD9-81ED-4DB2-BD59-A6C34878D82A}">
                    <a16:rowId xmlns:a16="http://schemas.microsoft.com/office/drawing/2014/main" val="1572171"/>
                  </a:ext>
                </a:extLst>
              </a:tr>
              <a:tr h="0">
                <a:tc>
                  <a:txBody>
                    <a:bodyPr/>
                    <a:lstStyle/>
                    <a:p>
                      <a:pPr>
                        <a:buNone/>
                      </a:pPr>
                      <a:r>
                        <a:rPr lang="en-US" sz="1200">
                          <a:effectLst/>
                          <a:latin typeface="Segoe UI" panose="020B0502040204020203" pitchFamily="34" charset="0"/>
                        </a:rPr>
                        <a:t>Azure Local</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solidFill>
                      <a:srgbClr val="E9EBEF"/>
                    </a:solidFill>
                  </a:tcPr>
                </a:tc>
                <a:extLst>
                  <a:ext uri="{0D108BD9-81ED-4DB2-BD59-A6C34878D82A}">
                    <a16:rowId xmlns:a16="http://schemas.microsoft.com/office/drawing/2014/main" val="3647960493"/>
                  </a:ext>
                </a:extLst>
              </a:tr>
              <a:tr h="0">
                <a:tc>
                  <a:txBody>
                    <a:bodyPr/>
                    <a:lstStyle/>
                    <a:p>
                      <a:pPr>
                        <a:buNone/>
                      </a:pPr>
                      <a:r>
                        <a:rPr lang="en-US" sz="1200">
                          <a:effectLst/>
                          <a:latin typeface="Segoe UI" panose="020B0502040204020203" pitchFamily="34" charset="0"/>
                        </a:rPr>
                        <a:t>Azure VMware Solution, Azure Nutanix Solution</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Free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Paid</a:t>
                      </a:r>
                    </a:p>
                  </a:txBody>
                  <a:tcPr anchor="ctr">
                    <a:lnL>
                      <a:noFill/>
                    </a:lnL>
                    <a:lnR>
                      <a:noFill/>
                    </a:lnR>
                    <a:lnT>
                      <a:noFill/>
                    </a:lnT>
                    <a:lnB>
                      <a:noFill/>
                    </a:lnB>
                    <a:noFill/>
                  </a:tcPr>
                </a:tc>
                <a:extLst>
                  <a:ext uri="{0D108BD9-81ED-4DB2-BD59-A6C34878D82A}">
                    <a16:rowId xmlns:a16="http://schemas.microsoft.com/office/drawing/2014/main" val="899627830"/>
                  </a:ext>
                </a:extLst>
              </a:tr>
              <a:tr h="0">
                <a:tc>
                  <a:txBody>
                    <a:bodyPr/>
                    <a:lstStyle/>
                    <a:p>
                      <a:pPr>
                        <a:buNone/>
                      </a:pPr>
                      <a:r>
                        <a:rPr lang="en-US" sz="1200">
                          <a:effectLst/>
                          <a:latin typeface="Segoe UI" panose="020B0502040204020203" pitchFamily="34" charset="0"/>
                        </a:rPr>
                        <a:t>Pricing structure</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100% of the full license price per year; same price across all 3 years</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Same</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100% of the full license price per year; same price across all 3 years</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Same</a:t>
                      </a:r>
                    </a:p>
                  </a:txBody>
                  <a:tcPr anchor="ctr">
                    <a:lnL>
                      <a:noFill/>
                    </a:lnL>
                    <a:lnR>
                      <a:noFill/>
                    </a:lnR>
                    <a:lnT>
                      <a:noFill/>
                    </a:lnT>
                    <a:lnB>
                      <a:noFill/>
                    </a:lnB>
                    <a:solidFill>
                      <a:srgbClr val="E9EBEF"/>
                    </a:solidFill>
                  </a:tcPr>
                </a:tc>
                <a:extLst>
                  <a:ext uri="{0D108BD9-81ED-4DB2-BD59-A6C34878D82A}">
                    <a16:rowId xmlns:a16="http://schemas.microsoft.com/office/drawing/2014/main" val="691887933"/>
                  </a:ext>
                </a:extLst>
              </a:tr>
            </a:tbl>
          </a:graphicData>
        </a:graphic>
      </p:graphicFrame>
      <p:sp>
        <p:nvSpPr>
          <p:cNvPr id="3089" name="Rectangle 3088">
            <a:extLst>
              <a:ext uri="{FF2B5EF4-FFF2-40B4-BE49-F238E27FC236}">
                <a16:creationId xmlns:a16="http://schemas.microsoft.com/office/drawing/2014/main" id="{63F508DD-B5A1-B5E4-D2E5-8CE02B930723}"/>
              </a:ext>
            </a:extLst>
          </p:cNvPr>
          <p:cNvSpPr/>
          <p:nvPr/>
        </p:nvSpPr>
        <p:spPr>
          <a:xfrm>
            <a:off x="914400" y="5600000"/>
            <a:ext cx="10363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 Compute, log ingestion, and storage costs are not included.</a:t>
            </a:r>
          </a:p>
          <a:p>
            <a:pPr algn="l">
              <a:buNone/>
            </a:pPr>
            <a:r>
              <a:rPr lang="en-US" sz="100">
                <a:effectLst/>
              </a:rPr>
              <a:t> </a:t>
            </a:r>
            <a:endParaRPr lang="en-US"/>
          </a:p>
        </p:txBody>
      </p:sp>
    </p:spTree>
    <p:extLst>
      <p:ext uri="{BB962C8B-B14F-4D97-AF65-F5344CB8AC3E}">
        <p14:creationId xmlns:p14="http://schemas.microsoft.com/office/powerpoint/2010/main" val="2998334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49" name="Rectangle 13548">
            <a:extLst>
              <a:ext uri="{FF2B5EF4-FFF2-40B4-BE49-F238E27FC236}">
                <a16:creationId xmlns:a16="http://schemas.microsoft.com/office/drawing/2014/main" id="{D0C98A79-3A94-756D-097B-4299E9E76DEE}"/>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COST IN PRACTICE</a:t>
            </a:r>
          </a:p>
          <a:p>
            <a:pPr algn="l">
              <a:buNone/>
            </a:pPr>
            <a:r>
              <a:rPr lang="en-US" sz="100">
                <a:effectLst/>
              </a:rPr>
              <a:t> </a:t>
            </a:r>
            <a:endParaRPr lang="en-US"/>
          </a:p>
        </p:txBody>
      </p:sp>
      <p:sp>
        <p:nvSpPr>
          <p:cNvPr id="13615" name="Rectangle 13614">
            <a:extLst>
              <a:ext uri="{FF2B5EF4-FFF2-40B4-BE49-F238E27FC236}">
                <a16:creationId xmlns:a16="http://schemas.microsoft.com/office/drawing/2014/main" id="{2F1550D3-DE98-0916-CB0A-0EC71C877E16}"/>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ESU costs roughly full licence price, every year</a:t>
            </a:r>
          </a:p>
          <a:p>
            <a:pPr algn="l">
              <a:buNone/>
            </a:pPr>
            <a:r>
              <a:rPr lang="en-US" sz="100">
                <a:effectLst/>
              </a:rPr>
              <a:t> </a:t>
            </a:r>
            <a:endParaRPr lang="en-US"/>
          </a:p>
        </p:txBody>
      </p:sp>
      <p:sp>
        <p:nvSpPr>
          <p:cNvPr id="13682" name="Rectangle 13681">
            <a:extLst>
              <a:ext uri="{FF2B5EF4-FFF2-40B4-BE49-F238E27FC236}">
                <a16:creationId xmlns:a16="http://schemas.microsoft.com/office/drawing/2014/main" id="{0658BEB2-456A-AF93-BF54-5FE0FE2B7A43}"/>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50" name="Rectangle 13749">
            <a:extLst>
              <a:ext uri="{FF2B5EF4-FFF2-40B4-BE49-F238E27FC236}">
                <a16:creationId xmlns:a16="http://schemas.microsoft.com/office/drawing/2014/main" id="{6E0296EB-A0F4-2BAE-25AB-84AE461F96B9}"/>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3819" name="Rectangle 13818">
            <a:extLst>
              <a:ext uri="{FF2B5EF4-FFF2-40B4-BE49-F238E27FC236}">
                <a16:creationId xmlns:a16="http://schemas.microsoft.com/office/drawing/2014/main" id="{21DF96E8-85B3-56E2-2F2F-64D98BB49437}"/>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8</a:t>
            </a:r>
          </a:p>
          <a:p>
            <a:pPr algn="r">
              <a:buNone/>
            </a:pPr>
            <a:r>
              <a:rPr lang="en-US" sz="100">
                <a:effectLst/>
              </a:rPr>
              <a:t> </a:t>
            </a:r>
            <a:endParaRPr lang="en-US"/>
          </a:p>
        </p:txBody>
      </p:sp>
      <p:sp>
        <p:nvSpPr>
          <p:cNvPr id="13889" name="Rectangle 13888">
            <a:extLst>
              <a:ext uri="{FF2B5EF4-FFF2-40B4-BE49-F238E27FC236}">
                <a16:creationId xmlns:a16="http://schemas.microsoft.com/office/drawing/2014/main" id="{8B38A4EC-5AB5-7B63-74DD-78B2EC081A29}"/>
              </a:ext>
            </a:extLst>
          </p:cNvPr>
          <p:cNvSpPr/>
          <p:nvPr/>
        </p:nvSpPr>
        <p:spPr>
          <a:xfrm>
            <a:off x="914400" y="1620000"/>
            <a:ext cx="103632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SQL Server 2016 ESU list price, per 2-core pack per month  —  Enterprise £814  ·  Standard £209</a:t>
            </a:r>
          </a:p>
          <a:p>
            <a:pPr algn="l">
              <a:buNone/>
            </a:pPr>
            <a:r>
              <a:rPr lang="en-US" sz="100">
                <a:effectLst/>
              </a:rPr>
              <a:t> </a:t>
            </a:r>
            <a:endParaRPr lang="en-US"/>
          </a:p>
        </p:txBody>
      </p:sp>
      <p:graphicFrame>
        <p:nvGraphicFramePr>
          <p:cNvPr id="15" name="Table 14">
            <a:extLst>
              <a:ext uri="{FF2B5EF4-FFF2-40B4-BE49-F238E27FC236}">
                <a16:creationId xmlns:a16="http://schemas.microsoft.com/office/drawing/2014/main" id="{D2DE85D7-05B8-45F3-8182-742C0F13D84D}"/>
              </a:ext>
            </a:extLst>
          </p:cNvPr>
          <p:cNvGraphicFramePr>
            <a:graphicFrameLocks noGrp="1"/>
          </p:cNvGraphicFramePr>
          <p:nvPr/>
        </p:nvGraphicFramePr>
        <p:xfrm>
          <a:off x="914400" y="2120000"/>
          <a:ext cx="8128000" cy="1645920"/>
        </p:xfrm>
        <a:graphic>
          <a:graphicData uri="http://schemas.openxmlformats.org/drawingml/2006/table">
            <a:tbl>
              <a:tblPr bandRow="1">
                <a:tableStyleId>{5C22544A-7EE6-4342-B048-85BDC9FD1C3A}</a:tableStyleId>
              </a:tblPr>
              <a:tblGrid>
                <a:gridCol w="1625600">
                  <a:extLst>
                    <a:ext uri="{9D8B030D-6E8A-4147-A177-3AD203B41FA5}">
                      <a16:colId xmlns:a16="http://schemas.microsoft.com/office/drawing/2014/main" val="2041085205"/>
                    </a:ext>
                  </a:extLst>
                </a:gridCol>
                <a:gridCol w="1625600">
                  <a:extLst>
                    <a:ext uri="{9D8B030D-6E8A-4147-A177-3AD203B41FA5}">
                      <a16:colId xmlns:a16="http://schemas.microsoft.com/office/drawing/2014/main" val="3024646601"/>
                    </a:ext>
                  </a:extLst>
                </a:gridCol>
                <a:gridCol w="1625600">
                  <a:extLst>
                    <a:ext uri="{9D8B030D-6E8A-4147-A177-3AD203B41FA5}">
                      <a16:colId xmlns:a16="http://schemas.microsoft.com/office/drawing/2014/main" val="3192532345"/>
                    </a:ext>
                  </a:extLst>
                </a:gridCol>
                <a:gridCol w="1625600">
                  <a:extLst>
                    <a:ext uri="{9D8B030D-6E8A-4147-A177-3AD203B41FA5}">
                      <a16:colId xmlns:a16="http://schemas.microsoft.com/office/drawing/2014/main" val="2065688389"/>
                    </a:ext>
                  </a:extLst>
                </a:gridCol>
                <a:gridCol w="1625600">
                  <a:extLst>
                    <a:ext uri="{9D8B030D-6E8A-4147-A177-3AD203B41FA5}">
                      <a16:colId xmlns:a16="http://schemas.microsoft.com/office/drawing/2014/main" val="286653343"/>
                    </a:ext>
                  </a:extLst>
                </a:gridCol>
              </a:tblGrid>
              <a:tr h="0">
                <a:tc>
                  <a:txBody>
                    <a:bodyPr/>
                    <a:lstStyle/>
                    <a:p>
                      <a:pPr>
                        <a:buNone/>
                      </a:pPr>
                      <a:r>
                        <a:rPr lang="en-US" sz="1200" b="1">
                          <a:solidFill>
                            <a:srgbClr val="FFFFFF"/>
                          </a:solidFill>
                          <a:effectLst/>
                          <a:latin typeface="Segoe UI" panose="020B0502040204020203" pitchFamily="34" charset="0"/>
                        </a:rPr>
                        <a:t>Cores</a:t>
                      </a:r>
                    </a:p>
                  </a:txBody>
                  <a:tcPr anchor="ctr">
                    <a:lnL>
                      <a:noFill/>
                    </a:lnL>
                    <a:lnR>
                      <a:noFill/>
                    </a:lnR>
                    <a:lnT>
                      <a:noFill/>
                    </a:lnT>
                    <a:lnB>
                      <a:noFill/>
                    </a:lnB>
                    <a:solidFill>
                      <a:srgbClr val="243A5E"/>
                    </a:solidFill>
                  </a:tcPr>
                </a:tc>
                <a:tc>
                  <a:txBody>
                    <a:bodyPr/>
                    <a:lstStyle/>
                    <a:p>
                      <a:pPr algn="ctr">
                        <a:buNone/>
                      </a:pPr>
                      <a:r>
                        <a:rPr lang="en-US" sz="1200" b="1">
                          <a:solidFill>
                            <a:srgbClr val="FFFFFF"/>
                          </a:solidFill>
                          <a:effectLst/>
                          <a:latin typeface="Segoe UI" panose="020B0502040204020203" pitchFamily="34" charset="0"/>
                        </a:rPr>
                        <a:t>Standard / month</a:t>
                      </a:r>
                    </a:p>
                  </a:txBody>
                  <a:tcPr anchor="ctr">
                    <a:lnL>
                      <a:noFill/>
                    </a:lnL>
                    <a:lnR>
                      <a:noFill/>
                    </a:lnR>
                    <a:lnT>
                      <a:noFill/>
                    </a:lnT>
                    <a:lnB>
                      <a:noFill/>
                    </a:lnB>
                    <a:solidFill>
                      <a:srgbClr val="243A5E"/>
                    </a:solidFill>
                  </a:tcPr>
                </a:tc>
                <a:tc>
                  <a:txBody>
                    <a:bodyPr/>
                    <a:lstStyle/>
                    <a:p>
                      <a:pPr algn="ctr">
                        <a:buNone/>
                      </a:pPr>
                      <a:r>
                        <a:rPr lang="en-US" sz="1200" b="1">
                          <a:solidFill>
                            <a:srgbClr val="FFFFFF"/>
                          </a:solidFill>
                          <a:effectLst/>
                          <a:latin typeface="Segoe UI" panose="020B0502040204020203" pitchFamily="34" charset="0"/>
                        </a:rPr>
                        <a:t>Standard / year</a:t>
                      </a:r>
                    </a:p>
                  </a:txBody>
                  <a:tcPr anchor="ctr">
                    <a:lnL>
                      <a:noFill/>
                    </a:lnL>
                    <a:lnR>
                      <a:noFill/>
                    </a:lnR>
                    <a:lnT>
                      <a:noFill/>
                    </a:lnT>
                    <a:lnB>
                      <a:noFill/>
                    </a:lnB>
                    <a:solidFill>
                      <a:srgbClr val="243A5E"/>
                    </a:solidFill>
                  </a:tcPr>
                </a:tc>
                <a:tc>
                  <a:txBody>
                    <a:bodyPr/>
                    <a:lstStyle/>
                    <a:p>
                      <a:pPr algn="ctr">
                        <a:buNone/>
                      </a:pPr>
                      <a:r>
                        <a:rPr lang="en-US" sz="1200" b="1">
                          <a:solidFill>
                            <a:srgbClr val="FFFFFF"/>
                          </a:solidFill>
                          <a:effectLst/>
                          <a:latin typeface="Segoe UI" panose="020B0502040204020203" pitchFamily="34" charset="0"/>
                        </a:rPr>
                        <a:t>Enterprise / month</a:t>
                      </a:r>
                    </a:p>
                  </a:txBody>
                  <a:tcPr anchor="ctr">
                    <a:lnL>
                      <a:noFill/>
                    </a:lnL>
                    <a:lnR>
                      <a:noFill/>
                    </a:lnR>
                    <a:lnT>
                      <a:noFill/>
                    </a:lnT>
                    <a:lnB>
                      <a:noFill/>
                    </a:lnB>
                    <a:solidFill>
                      <a:srgbClr val="243A5E"/>
                    </a:solidFill>
                  </a:tcPr>
                </a:tc>
                <a:tc>
                  <a:txBody>
                    <a:bodyPr/>
                    <a:lstStyle/>
                    <a:p>
                      <a:pPr algn="ctr">
                        <a:buNone/>
                      </a:pPr>
                      <a:r>
                        <a:rPr lang="en-US" sz="1200" b="1">
                          <a:solidFill>
                            <a:srgbClr val="FFFFFF"/>
                          </a:solidFill>
                          <a:effectLst/>
                          <a:latin typeface="Segoe UI" panose="020B0502040204020203" pitchFamily="34" charset="0"/>
                        </a:rPr>
                        <a:t>Enterprise / year</a:t>
                      </a:r>
                    </a:p>
                  </a:txBody>
                  <a:tcPr anchor="ctr">
                    <a:lnL>
                      <a:noFill/>
                    </a:lnL>
                    <a:lnR>
                      <a:noFill/>
                    </a:lnR>
                    <a:lnT>
                      <a:noFill/>
                    </a:lnT>
                    <a:lnB>
                      <a:noFill/>
                    </a:lnB>
                    <a:solidFill>
                      <a:srgbClr val="243A5E"/>
                    </a:solidFill>
                  </a:tcPr>
                </a:tc>
                <a:extLst>
                  <a:ext uri="{0D108BD9-81ED-4DB2-BD59-A6C34878D82A}">
                    <a16:rowId xmlns:a16="http://schemas.microsoft.com/office/drawing/2014/main" val="4166310821"/>
                  </a:ext>
                </a:extLst>
              </a:tr>
              <a:tr h="0">
                <a:tc>
                  <a:txBody>
                    <a:bodyPr/>
                    <a:lstStyle/>
                    <a:p>
                      <a:pPr>
                        <a:buNone/>
                      </a:pPr>
                      <a:r>
                        <a:rPr lang="en-US" sz="1200">
                          <a:effectLst/>
                          <a:latin typeface="Segoe UI" panose="020B0502040204020203" pitchFamily="34" charset="0"/>
                        </a:rPr>
                        <a:t>4</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£418</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£5,016</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£1,628</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£19,536</a:t>
                      </a:r>
                    </a:p>
                  </a:txBody>
                  <a:tcPr anchor="ctr">
                    <a:lnL>
                      <a:noFill/>
                    </a:lnL>
                    <a:lnR>
                      <a:noFill/>
                    </a:lnR>
                    <a:lnT>
                      <a:noFill/>
                    </a:lnT>
                    <a:lnB>
                      <a:noFill/>
                    </a:lnB>
                    <a:noFill/>
                  </a:tcPr>
                </a:tc>
                <a:extLst>
                  <a:ext uri="{0D108BD9-81ED-4DB2-BD59-A6C34878D82A}">
                    <a16:rowId xmlns:a16="http://schemas.microsoft.com/office/drawing/2014/main" val="462069630"/>
                  </a:ext>
                </a:extLst>
              </a:tr>
              <a:tr h="0">
                <a:tc>
                  <a:txBody>
                    <a:bodyPr/>
                    <a:lstStyle/>
                    <a:p>
                      <a:pPr>
                        <a:buNone/>
                      </a:pPr>
                      <a:r>
                        <a:rPr lang="en-US" sz="1200">
                          <a:effectLst/>
                          <a:latin typeface="Segoe UI" panose="020B0502040204020203" pitchFamily="34" charset="0"/>
                        </a:rPr>
                        <a:t>10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£1,045</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£12,540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£4,070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£48,840</a:t>
                      </a:r>
                    </a:p>
                  </a:txBody>
                  <a:tcPr anchor="ctr">
                    <a:lnL>
                      <a:noFill/>
                    </a:lnL>
                    <a:lnR>
                      <a:noFill/>
                    </a:lnR>
                    <a:lnT>
                      <a:noFill/>
                    </a:lnT>
                    <a:lnB>
                      <a:noFill/>
                    </a:lnB>
                    <a:solidFill>
                      <a:srgbClr val="E9EBEF"/>
                    </a:solidFill>
                  </a:tcPr>
                </a:tc>
                <a:extLst>
                  <a:ext uri="{0D108BD9-81ED-4DB2-BD59-A6C34878D82A}">
                    <a16:rowId xmlns:a16="http://schemas.microsoft.com/office/drawing/2014/main" val="743678291"/>
                  </a:ext>
                </a:extLst>
              </a:tr>
              <a:tr h="0">
                <a:tc>
                  <a:txBody>
                    <a:bodyPr/>
                    <a:lstStyle/>
                    <a:p>
                      <a:pPr>
                        <a:buNone/>
                      </a:pPr>
                      <a:r>
                        <a:rPr lang="en-US" sz="1200">
                          <a:effectLst/>
                          <a:latin typeface="Segoe UI" panose="020B0502040204020203" pitchFamily="34" charset="0"/>
                        </a:rPr>
                        <a:t>50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£5,225</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£62,700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£20,350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£244,200</a:t>
                      </a:r>
                    </a:p>
                  </a:txBody>
                  <a:tcPr anchor="ctr">
                    <a:lnL>
                      <a:noFill/>
                    </a:lnL>
                    <a:lnR>
                      <a:noFill/>
                    </a:lnR>
                    <a:lnT>
                      <a:noFill/>
                    </a:lnT>
                    <a:lnB>
                      <a:noFill/>
                    </a:lnB>
                    <a:noFill/>
                  </a:tcPr>
                </a:tc>
                <a:extLst>
                  <a:ext uri="{0D108BD9-81ED-4DB2-BD59-A6C34878D82A}">
                    <a16:rowId xmlns:a16="http://schemas.microsoft.com/office/drawing/2014/main" val="421543145"/>
                  </a:ext>
                </a:extLst>
              </a:tr>
              <a:tr h="0">
                <a:tc>
                  <a:txBody>
                    <a:bodyPr/>
                    <a:lstStyle/>
                    <a:p>
                      <a:pPr>
                        <a:buNone/>
                      </a:pPr>
                      <a:r>
                        <a:rPr lang="en-US" sz="1200">
                          <a:effectLst/>
                          <a:latin typeface="Segoe UI" panose="020B0502040204020203" pitchFamily="34" charset="0"/>
                        </a:rPr>
                        <a:t>100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£10,450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£125,400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£40,700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£488,400</a:t>
                      </a:r>
                    </a:p>
                  </a:txBody>
                  <a:tcPr anchor="ctr">
                    <a:lnL>
                      <a:noFill/>
                    </a:lnL>
                    <a:lnR>
                      <a:noFill/>
                    </a:lnR>
                    <a:lnT>
                      <a:noFill/>
                    </a:lnT>
                    <a:lnB>
                      <a:noFill/>
                    </a:lnB>
                    <a:solidFill>
                      <a:srgbClr val="E9EBEF"/>
                    </a:solidFill>
                  </a:tcPr>
                </a:tc>
                <a:extLst>
                  <a:ext uri="{0D108BD9-81ED-4DB2-BD59-A6C34878D82A}">
                    <a16:rowId xmlns:a16="http://schemas.microsoft.com/office/drawing/2014/main" val="1149524508"/>
                  </a:ext>
                </a:extLst>
              </a:tr>
              <a:tr h="0">
                <a:tc>
                  <a:txBody>
                    <a:bodyPr/>
                    <a:lstStyle/>
                    <a:p>
                      <a:pPr>
                        <a:buNone/>
                      </a:pPr>
                      <a:r>
                        <a:rPr lang="en-US" sz="1200">
                          <a:effectLst/>
                          <a:latin typeface="Segoe UI" panose="020B0502040204020203" pitchFamily="34" charset="0"/>
                        </a:rPr>
                        <a:t>250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£26,125</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£313,500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£101,750</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£1,221,000</a:t>
                      </a:r>
                    </a:p>
                  </a:txBody>
                  <a:tcPr anchor="ctr">
                    <a:lnL>
                      <a:noFill/>
                    </a:lnL>
                    <a:lnR>
                      <a:noFill/>
                    </a:lnR>
                    <a:lnT>
                      <a:noFill/>
                    </a:lnT>
                    <a:lnB>
                      <a:noFill/>
                    </a:lnB>
                    <a:noFill/>
                  </a:tcPr>
                </a:tc>
                <a:extLst>
                  <a:ext uri="{0D108BD9-81ED-4DB2-BD59-A6C34878D82A}">
                    <a16:rowId xmlns:a16="http://schemas.microsoft.com/office/drawing/2014/main" val="2553867904"/>
                  </a:ext>
                </a:extLst>
              </a:tr>
            </a:tbl>
          </a:graphicData>
        </a:graphic>
      </p:graphicFrame>
      <p:sp>
        <p:nvSpPr>
          <p:cNvPr id="14336" name="Rectangle 14335">
            <a:extLst>
              <a:ext uri="{FF2B5EF4-FFF2-40B4-BE49-F238E27FC236}">
                <a16:creationId xmlns:a16="http://schemas.microsoft.com/office/drawing/2014/main" id="{00BE59CA-E204-FE86-A584-EFB07FB6A472}"/>
              </a:ext>
            </a:extLst>
          </p:cNvPr>
          <p:cNvSpPr/>
          <p:nvPr/>
        </p:nvSpPr>
        <p:spPr>
          <a:xfrm>
            <a:off x="914400" y="5540000"/>
            <a:ext cx="1036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Azure Arc pricing, GBP list. Excludes VAT and EA/CSP discount. Passive HADR replicas and Developer edition bill £0. Standard edition capped at 24 cores.</a:t>
            </a:r>
          </a:p>
          <a:p>
            <a:pPr algn="l">
              <a:buNone/>
            </a:pPr>
            <a:r>
              <a:rPr lang="en-US" sz="100">
                <a:effectLst/>
              </a:rPr>
              <a:t> </a:t>
            </a:r>
            <a:endParaRPr lang="en-US"/>
          </a:p>
        </p:txBody>
      </p:sp>
      <p:sp>
        <p:nvSpPr>
          <p:cNvPr id="28183" name="Rectangle 28182">
            <a:extLst>
              <a:ext uri="{FF2B5EF4-FFF2-40B4-BE49-F238E27FC236}">
                <a16:creationId xmlns:a16="http://schemas.microsoft.com/office/drawing/2014/main" id="{4F5E4B8C-34EB-658E-DBCB-CF12A5477F8E}"/>
              </a:ext>
            </a:extLst>
          </p:cNvPr>
          <p:cNvSpPr/>
          <p:nvPr/>
        </p:nvSpPr>
        <p:spPr>
          <a:xfrm>
            <a:off x="914400" y="4050000"/>
            <a:ext cx="5105400" cy="14000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85" name="Rectangle 28184">
            <a:extLst>
              <a:ext uri="{FF2B5EF4-FFF2-40B4-BE49-F238E27FC236}">
                <a16:creationId xmlns:a16="http://schemas.microsoft.com/office/drawing/2014/main" id="{7CA2ECE6-FF46-3995-EA2E-F295197DB152}"/>
              </a:ext>
            </a:extLst>
          </p:cNvPr>
          <p:cNvSpPr/>
          <p:nvPr/>
        </p:nvSpPr>
        <p:spPr>
          <a:xfrm>
            <a:off x="1143000" y="4105160"/>
            <a:ext cx="46482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a:solidFill>
                  <a:srgbClr val="FFFFFF"/>
                </a:solidFill>
                <a:effectLst/>
                <a:latin typeface="Segoe UI Light" panose="020B0502040204020203" pitchFamily="34" charset="0"/>
              </a:rPr>
              <a:t>£3.66m</a:t>
            </a:r>
          </a:p>
          <a:p>
            <a:pPr algn="l">
              <a:buNone/>
            </a:pPr>
            <a:r>
              <a:rPr lang="en-US" sz="100">
                <a:effectLst/>
              </a:rPr>
              <a:t> </a:t>
            </a:r>
            <a:endParaRPr lang="en-US"/>
          </a:p>
        </p:txBody>
      </p:sp>
      <p:sp>
        <p:nvSpPr>
          <p:cNvPr id="28188" name="Rectangle 28187">
            <a:extLst>
              <a:ext uri="{FF2B5EF4-FFF2-40B4-BE49-F238E27FC236}">
                <a16:creationId xmlns:a16="http://schemas.microsoft.com/office/drawing/2014/main" id="{07769739-DD54-2A9B-A356-4E55ADE2532D}"/>
              </a:ext>
            </a:extLst>
          </p:cNvPr>
          <p:cNvSpPr/>
          <p:nvPr/>
        </p:nvSpPr>
        <p:spPr>
          <a:xfrm>
            <a:off x="1143000" y="4846200"/>
            <a:ext cx="46482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E6FF"/>
                </a:solidFill>
                <a:effectLst/>
                <a:latin typeface="Segoe UI" panose="020B0502040204020203" pitchFamily="34" charset="0"/>
              </a:rPr>
              <a:t>Full 3-year exposure: 250 Enterprise cores, at the same price in each of the three ESU years.</a:t>
            </a:r>
          </a:p>
          <a:p>
            <a:pPr algn="l">
              <a:buNone/>
            </a:pPr>
            <a:r>
              <a:rPr lang="en-US" sz="100">
                <a:effectLst/>
              </a:rPr>
              <a:t> </a:t>
            </a:r>
            <a:endParaRPr lang="en-US"/>
          </a:p>
        </p:txBody>
      </p:sp>
      <p:sp>
        <p:nvSpPr>
          <p:cNvPr id="28192" name="Rectangle 28191">
            <a:extLst>
              <a:ext uri="{FF2B5EF4-FFF2-40B4-BE49-F238E27FC236}">
                <a16:creationId xmlns:a16="http://schemas.microsoft.com/office/drawing/2014/main" id="{0954CB4B-51BB-6F69-ECC0-93641DBE786D}"/>
              </a:ext>
            </a:extLst>
          </p:cNvPr>
          <p:cNvSpPr/>
          <p:nvPr/>
        </p:nvSpPr>
        <p:spPr>
          <a:xfrm>
            <a:off x="6172200" y="4050000"/>
            <a:ext cx="5105400" cy="14000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97" name="Rectangle 28196">
            <a:extLst>
              <a:ext uri="{FF2B5EF4-FFF2-40B4-BE49-F238E27FC236}">
                <a16:creationId xmlns:a16="http://schemas.microsoft.com/office/drawing/2014/main" id="{7F884827-A7FC-47B2-C957-4FEEA943BD66}"/>
              </a:ext>
            </a:extLst>
          </p:cNvPr>
          <p:cNvSpPr/>
          <p:nvPr/>
        </p:nvSpPr>
        <p:spPr>
          <a:xfrm>
            <a:off x="6400800" y="4277560"/>
            <a:ext cx="464820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100 Enterprise cores is £40,700 a month. Billing is hourly and pro-rated, so the bill falls as each instance moves to Azure SQL.</a:t>
            </a:r>
          </a:p>
          <a:p>
            <a:pPr algn="l">
              <a:buNone/>
            </a:pPr>
            <a:r>
              <a:rPr lang="en-US" sz="100">
                <a:effectLst/>
              </a:rPr>
              <a:t> </a:t>
            </a:r>
            <a:endParaRPr lang="en-US"/>
          </a:p>
        </p:txBody>
      </p:sp>
    </p:spTree>
    <p:extLst>
      <p:ext uri="{BB962C8B-B14F-4D97-AF65-F5344CB8AC3E}">
        <p14:creationId xmlns:p14="http://schemas.microsoft.com/office/powerpoint/2010/main" val="234952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8242" name="Rectangle 28241">
            <a:extLst>
              <a:ext uri="{FF2B5EF4-FFF2-40B4-BE49-F238E27FC236}">
                <a16:creationId xmlns:a16="http://schemas.microsoft.com/office/drawing/2014/main" id="{44CCE28B-F1E7-37FE-99B6-FE17EA6C4790}"/>
              </a:ext>
            </a:extLst>
          </p:cNvPr>
          <p:cNvSpPr/>
          <p:nvPr/>
        </p:nvSpPr>
        <p:spPr>
          <a:xfrm>
            <a:off x="914400" y="1900000"/>
            <a:ext cx="2600000" cy="2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0">
                <a:solidFill>
                  <a:srgbClr val="50E6FF"/>
                </a:solidFill>
                <a:effectLst/>
                <a:latin typeface="Segoe UI Light" panose="020B0502040204020203" pitchFamily="34" charset="0"/>
              </a:rPr>
              <a:t>02</a:t>
            </a:r>
          </a:p>
          <a:p>
            <a:pPr algn="l">
              <a:buNone/>
            </a:pPr>
            <a:r>
              <a:rPr lang="en-US" sz="100">
                <a:effectLst/>
              </a:rPr>
              <a:t> </a:t>
            </a:r>
            <a:endParaRPr lang="en-US"/>
          </a:p>
        </p:txBody>
      </p:sp>
      <p:sp>
        <p:nvSpPr>
          <p:cNvPr id="28252" name="Rectangle 28251">
            <a:extLst>
              <a:ext uri="{FF2B5EF4-FFF2-40B4-BE49-F238E27FC236}">
                <a16:creationId xmlns:a16="http://schemas.microsoft.com/office/drawing/2014/main" id="{1A159E8E-4768-B2AF-6C25-CDB0415E5B39}"/>
              </a:ext>
            </a:extLst>
          </p:cNvPr>
          <p:cNvSpPr/>
          <p:nvPr/>
        </p:nvSpPr>
        <p:spPr>
          <a:xfrm>
            <a:off x="3600000" y="1900000"/>
            <a:ext cx="76776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a:solidFill>
                  <a:srgbClr val="FFFFFF"/>
                </a:solidFill>
                <a:effectLst/>
                <a:latin typeface="Segoe UI Light" panose="020B0502040204020203" pitchFamily="34" charset="0"/>
              </a:rPr>
              <a:t>Your options</a:t>
            </a:r>
          </a:p>
          <a:p>
            <a:pPr algn="l">
              <a:buNone/>
            </a:pPr>
            <a:r>
              <a:rPr lang="en-US" sz="100">
                <a:effectLst/>
              </a:rPr>
              <a:t> </a:t>
            </a:r>
            <a:endParaRPr lang="en-US"/>
          </a:p>
        </p:txBody>
      </p:sp>
      <p:sp>
        <p:nvSpPr>
          <p:cNvPr id="28263" name="Rectangle 28262">
            <a:extLst>
              <a:ext uri="{FF2B5EF4-FFF2-40B4-BE49-F238E27FC236}">
                <a16:creationId xmlns:a16="http://schemas.microsoft.com/office/drawing/2014/main" id="{F554DEDE-8FDA-F204-19A1-B9F3A9A5A116}"/>
              </a:ext>
            </a:extLst>
          </p:cNvPr>
          <p:cNvSpPr/>
          <p:nvPr/>
        </p:nvSpPr>
        <p:spPr>
          <a:xfrm>
            <a:off x="3600000" y="2781040"/>
            <a:ext cx="1920240" cy="50800"/>
          </a:xfrm>
          <a:prstGeom prst="rect">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75" name="Rectangle 28274">
            <a:extLst>
              <a:ext uri="{FF2B5EF4-FFF2-40B4-BE49-F238E27FC236}">
                <a16:creationId xmlns:a16="http://schemas.microsoft.com/office/drawing/2014/main" id="{3AB8CE52-7004-EB46-914A-EE6B3FFF83F2}"/>
              </a:ext>
            </a:extLst>
          </p:cNvPr>
          <p:cNvSpPr/>
          <p:nvPr/>
        </p:nvSpPr>
        <p:spPr>
          <a:xfrm>
            <a:off x="3600000" y="3051840"/>
            <a:ext cx="7677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C7D5EA"/>
                </a:solidFill>
                <a:effectLst/>
                <a:latin typeface="Segoe UI" panose="020B0502040204020203" pitchFamily="34" charset="0"/>
              </a:rPr>
              <a:t>Three paths off SQL Server 2016, and the Microsoft programmes behind them.</a:t>
            </a:r>
          </a:p>
          <a:p>
            <a:pPr algn="l">
              <a:buNone/>
            </a:pPr>
            <a:r>
              <a:rPr lang="en-US" sz="100">
                <a:effectLst/>
              </a:rPr>
              <a:t> </a:t>
            </a:r>
            <a:endParaRPr lang="en-US"/>
          </a:p>
        </p:txBody>
      </p:sp>
      <p:sp>
        <p:nvSpPr>
          <p:cNvPr id="28288" name="Rectangle 28287">
            <a:extLst>
              <a:ext uri="{FF2B5EF4-FFF2-40B4-BE49-F238E27FC236}">
                <a16:creationId xmlns:a16="http://schemas.microsoft.com/office/drawing/2014/main" id="{446DDB55-3E0C-29FB-04D0-815F5BA860F9}"/>
              </a:ext>
            </a:extLst>
          </p:cNvPr>
          <p:cNvSpPr/>
          <p:nvPr/>
        </p:nvSpPr>
        <p:spPr>
          <a:xfrm>
            <a:off x="3600000" y="3871920"/>
            <a:ext cx="7677600" cy="1344880"/>
          </a:xfrm>
          <a:prstGeom prst="rect">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02" name="Rectangle 28301">
            <a:extLst>
              <a:ext uri="{FF2B5EF4-FFF2-40B4-BE49-F238E27FC236}">
                <a16:creationId xmlns:a16="http://schemas.microsoft.com/office/drawing/2014/main" id="{88891EFA-1DAE-4D76-DFD8-8E1A3FEE723A}"/>
              </a:ext>
            </a:extLst>
          </p:cNvPr>
          <p:cNvSpPr/>
          <p:nvPr/>
        </p:nvSpPr>
        <p:spPr>
          <a:xfrm>
            <a:off x="3800000" y="4071920"/>
            <a:ext cx="727760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3F2F1"/>
                </a:solidFill>
                <a:effectLst/>
                <a:latin typeface="Segoe UI" panose="020B0502040204020203" pitchFamily="34" charset="0"/>
              </a:rPr>
              <a:t>Modernise, upgrade, or buy Extended Security Updates</a:t>
            </a:r>
          </a:p>
          <a:p>
            <a:pPr algn="l">
              <a:buNone/>
            </a:pPr>
            <a:r>
              <a:rPr lang="en-US" sz="700">
                <a:solidFill>
                  <a:srgbClr val="F3F2F1"/>
                </a:solidFill>
                <a:effectLst/>
                <a:latin typeface="Segoe UI" panose="020B0502040204020203" pitchFamily="34" charset="0"/>
              </a:rPr>
              <a:t> </a:t>
            </a:r>
          </a:p>
          <a:p>
            <a:pPr algn="l">
              <a:buNone/>
            </a:pPr>
            <a:r>
              <a:rPr lang="en-US" sz="1400">
                <a:solidFill>
                  <a:srgbClr val="F3F2F1"/>
                </a:solidFill>
                <a:effectLst/>
                <a:latin typeface="Segoe UI" panose="020B0502040204020203" pitchFamily="34" charset="0"/>
              </a:rPr>
              <a:t>The Azure SQL family, and ESU enabled by Azure Arc</a:t>
            </a:r>
          </a:p>
          <a:p>
            <a:pPr algn="l">
              <a:buNone/>
            </a:pPr>
            <a:r>
              <a:rPr lang="en-US" sz="700">
                <a:solidFill>
                  <a:srgbClr val="F3F2F1"/>
                </a:solidFill>
                <a:effectLst/>
                <a:latin typeface="Segoe UI" panose="020B0502040204020203" pitchFamily="34" charset="0"/>
              </a:rPr>
              <a:t> </a:t>
            </a:r>
          </a:p>
          <a:p>
            <a:pPr algn="l">
              <a:buNone/>
            </a:pPr>
            <a:r>
              <a:rPr lang="en-US" sz="1400">
                <a:solidFill>
                  <a:srgbClr val="F3F2F1"/>
                </a:solidFill>
                <a:effectLst/>
                <a:latin typeface="Segoe UI" panose="020B0502040204020203" pitchFamily="34" charset="0"/>
              </a:rPr>
              <a:t>Azure Accelerate and the zero-cost modernisation offer</a:t>
            </a:r>
            <a:endParaRPr lang="en-US"/>
          </a:p>
        </p:txBody>
      </p:sp>
      <p:sp>
        <p:nvSpPr>
          <p:cNvPr id="28317" name="Rectangle 28316">
            <a:extLst>
              <a:ext uri="{FF2B5EF4-FFF2-40B4-BE49-F238E27FC236}">
                <a16:creationId xmlns:a16="http://schemas.microsoft.com/office/drawing/2014/main" id="{682A3A85-306E-C0BA-A954-F8A158E61D48}"/>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C7D5EA"/>
                </a:solidFill>
                <a:effectLst/>
                <a:latin typeface="Segoe UI" panose="020B0502040204020203" pitchFamily="34" charset="0"/>
              </a:rPr>
              <a:t>SQL Server 2016 End of Support</a:t>
            </a:r>
          </a:p>
          <a:p>
            <a:pPr algn="l">
              <a:buNone/>
            </a:pPr>
            <a:r>
              <a:rPr lang="en-US" sz="100">
                <a:effectLst/>
              </a:rPr>
              <a:t> </a:t>
            </a:r>
            <a:endParaRPr lang="en-US"/>
          </a:p>
        </p:txBody>
      </p:sp>
      <p:sp>
        <p:nvSpPr>
          <p:cNvPr id="28333" name="Rectangle 28332">
            <a:extLst>
              <a:ext uri="{FF2B5EF4-FFF2-40B4-BE49-F238E27FC236}">
                <a16:creationId xmlns:a16="http://schemas.microsoft.com/office/drawing/2014/main" id="{7C7E84B7-2582-F473-667B-9B09E02184CD}"/>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C7D5EA"/>
                </a:solidFill>
                <a:effectLst/>
                <a:latin typeface="Segoe UI" panose="020B0502040204020203" pitchFamily="34" charset="0"/>
              </a:rPr>
              <a:t>9</a:t>
            </a:r>
          </a:p>
          <a:p>
            <a:pPr algn="r">
              <a:buNone/>
            </a:pPr>
            <a:r>
              <a:rPr lang="en-US" sz="100">
                <a:effectLst/>
              </a:rPr>
              <a:t> </a:t>
            </a:r>
            <a:endParaRPr lang="en-US"/>
          </a:p>
        </p:txBody>
      </p:sp>
    </p:spTree>
    <p:extLst>
      <p:ext uri="{BB962C8B-B14F-4D97-AF65-F5344CB8AC3E}">
        <p14:creationId xmlns:p14="http://schemas.microsoft.com/office/powerpoint/2010/main" val="1666868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72" name="Rectangle 14371">
            <a:extLst>
              <a:ext uri="{FF2B5EF4-FFF2-40B4-BE49-F238E27FC236}">
                <a16:creationId xmlns:a16="http://schemas.microsoft.com/office/drawing/2014/main" id="{8F24EBDA-E854-EC52-C3D3-45907FBBA269}"/>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THREE PATHS</a:t>
            </a:r>
          </a:p>
          <a:p>
            <a:pPr algn="l">
              <a:buNone/>
            </a:pPr>
            <a:r>
              <a:rPr lang="en-US" sz="100">
                <a:effectLst/>
              </a:rPr>
              <a:t> </a:t>
            </a:r>
            <a:endParaRPr lang="en-US"/>
          </a:p>
        </p:txBody>
      </p:sp>
      <p:sp>
        <p:nvSpPr>
          <p:cNvPr id="14381" name="Rectangle 14380">
            <a:extLst>
              <a:ext uri="{FF2B5EF4-FFF2-40B4-BE49-F238E27FC236}">
                <a16:creationId xmlns:a16="http://schemas.microsoft.com/office/drawing/2014/main" id="{50D43640-8D19-FE40-E22F-27CA5F82D1D9}"/>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Assess your options</a:t>
            </a:r>
          </a:p>
          <a:p>
            <a:pPr algn="l">
              <a:buNone/>
            </a:pPr>
            <a:r>
              <a:rPr lang="en-US" sz="100">
                <a:effectLst/>
              </a:rPr>
              <a:t> </a:t>
            </a:r>
            <a:endParaRPr lang="en-US"/>
          </a:p>
        </p:txBody>
      </p:sp>
      <p:sp>
        <p:nvSpPr>
          <p:cNvPr id="14391" name="Rectangle 14390">
            <a:extLst>
              <a:ext uri="{FF2B5EF4-FFF2-40B4-BE49-F238E27FC236}">
                <a16:creationId xmlns:a16="http://schemas.microsoft.com/office/drawing/2014/main" id="{28E36754-25D1-81F8-1141-9A2F2EE8362E}"/>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02" name="Rectangle 14401">
            <a:extLst>
              <a:ext uri="{FF2B5EF4-FFF2-40B4-BE49-F238E27FC236}">
                <a16:creationId xmlns:a16="http://schemas.microsoft.com/office/drawing/2014/main" id="{52BE2954-A53C-C2AD-8BED-90E84F5887BA}"/>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4414" name="Rectangle 14413">
            <a:extLst>
              <a:ext uri="{FF2B5EF4-FFF2-40B4-BE49-F238E27FC236}">
                <a16:creationId xmlns:a16="http://schemas.microsoft.com/office/drawing/2014/main" id="{114292D9-BACA-61F4-F530-FD1C36C10B91}"/>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10</a:t>
            </a:r>
          </a:p>
          <a:p>
            <a:pPr algn="r">
              <a:buNone/>
            </a:pPr>
            <a:r>
              <a:rPr lang="en-US" sz="100">
                <a:effectLst/>
              </a:rPr>
              <a:t> </a:t>
            </a:r>
            <a:endParaRPr lang="en-US"/>
          </a:p>
        </p:txBody>
      </p:sp>
      <p:sp>
        <p:nvSpPr>
          <p:cNvPr id="14427" name="Rectangle 14426">
            <a:extLst>
              <a:ext uri="{FF2B5EF4-FFF2-40B4-BE49-F238E27FC236}">
                <a16:creationId xmlns:a16="http://schemas.microsoft.com/office/drawing/2014/main" id="{1B4A0B11-2C66-28E4-122C-82357A146CEE}"/>
              </a:ext>
            </a:extLst>
          </p:cNvPr>
          <p:cNvSpPr/>
          <p:nvPr/>
        </p:nvSpPr>
        <p:spPr>
          <a:xfrm>
            <a:off x="914400" y="1700000"/>
            <a:ext cx="3352800" cy="425948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41" name="Oval 14440">
            <a:extLst>
              <a:ext uri="{FF2B5EF4-FFF2-40B4-BE49-F238E27FC236}">
                <a16:creationId xmlns:a16="http://schemas.microsoft.com/office/drawing/2014/main" id="{5CFB766D-9821-E52A-D5FA-FB0A5B81A5A6}"/>
              </a:ext>
            </a:extLst>
          </p:cNvPr>
          <p:cNvSpPr/>
          <p:nvPr/>
        </p:nvSpPr>
        <p:spPr>
          <a:xfrm>
            <a:off x="1143000" y="19286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01</a:t>
            </a:r>
          </a:p>
          <a:p>
            <a:pPr algn="ctr">
              <a:buNone/>
            </a:pPr>
            <a:r>
              <a:rPr lang="en-US" sz="100">
                <a:effectLst/>
              </a:rPr>
              <a:t> </a:t>
            </a:r>
            <a:endParaRPr lang="en-US"/>
          </a:p>
        </p:txBody>
      </p:sp>
      <p:sp>
        <p:nvSpPr>
          <p:cNvPr id="14456" name="Rectangle 14455">
            <a:extLst>
              <a:ext uri="{FF2B5EF4-FFF2-40B4-BE49-F238E27FC236}">
                <a16:creationId xmlns:a16="http://schemas.microsoft.com/office/drawing/2014/main" id="{CD20282F-E65B-26DA-261D-99E8A4AEE3CE}"/>
              </a:ext>
            </a:extLst>
          </p:cNvPr>
          <p:cNvSpPr/>
          <p:nvPr/>
        </p:nvSpPr>
        <p:spPr>
          <a:xfrm>
            <a:off x="1143000" y="264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Modernise on Azure</a:t>
            </a:r>
          </a:p>
          <a:p>
            <a:pPr algn="l">
              <a:buNone/>
            </a:pPr>
            <a:r>
              <a:rPr lang="en-US" sz="1800" b="1">
                <a:solidFill>
                  <a:srgbClr val="004578"/>
                </a:solidFill>
                <a:effectLst/>
                <a:latin typeface="Segoe UI Semibold" panose="020B0702040204020203" pitchFamily="34" charset="0"/>
              </a:rPr>
              <a:t>PaaS</a:t>
            </a:r>
            <a:endParaRPr lang="en-US"/>
          </a:p>
        </p:txBody>
      </p:sp>
      <p:sp>
        <p:nvSpPr>
          <p:cNvPr id="14472" name="Rectangle 14471">
            <a:extLst>
              <a:ext uri="{FF2B5EF4-FFF2-40B4-BE49-F238E27FC236}">
                <a16:creationId xmlns:a16="http://schemas.microsoft.com/office/drawing/2014/main" id="{F04DFC86-6298-095E-E097-C8820930BFF4}"/>
              </a:ext>
            </a:extLst>
          </p:cNvPr>
          <p:cNvSpPr/>
          <p:nvPr/>
        </p:nvSpPr>
        <p:spPr>
          <a:xfrm>
            <a:off x="1143000" y="3328680"/>
            <a:ext cx="2895600" cy="1676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Always-up-to-date SQL instance in the cloud</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Enterprise-grade performance and security</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Fast to migrate, with best commercials and delivery</a:t>
            </a:r>
            <a:endParaRPr lang="en-US"/>
          </a:p>
        </p:txBody>
      </p:sp>
      <p:sp>
        <p:nvSpPr>
          <p:cNvPr id="14489" name="Rectangle 14488">
            <a:extLst>
              <a:ext uri="{FF2B5EF4-FFF2-40B4-BE49-F238E27FC236}">
                <a16:creationId xmlns:a16="http://schemas.microsoft.com/office/drawing/2014/main" id="{9E394027-3F1B-A3FB-9172-EC48A2E93336}"/>
              </a:ext>
            </a:extLst>
          </p:cNvPr>
          <p:cNvSpPr/>
          <p:nvPr/>
        </p:nvSpPr>
        <p:spPr>
          <a:xfrm>
            <a:off x="4419600" y="1700000"/>
            <a:ext cx="3352800" cy="425948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07" name="Oval 14506">
            <a:extLst>
              <a:ext uri="{FF2B5EF4-FFF2-40B4-BE49-F238E27FC236}">
                <a16:creationId xmlns:a16="http://schemas.microsoft.com/office/drawing/2014/main" id="{03AF7FBD-F814-E0FD-E7BE-91497069533B}"/>
              </a:ext>
            </a:extLst>
          </p:cNvPr>
          <p:cNvSpPr/>
          <p:nvPr/>
        </p:nvSpPr>
        <p:spPr>
          <a:xfrm>
            <a:off x="4648200" y="19286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02</a:t>
            </a:r>
          </a:p>
          <a:p>
            <a:pPr algn="ctr">
              <a:buNone/>
            </a:pPr>
            <a:r>
              <a:rPr lang="en-US" sz="100">
                <a:effectLst/>
              </a:rPr>
              <a:t> </a:t>
            </a:r>
            <a:endParaRPr lang="en-US"/>
          </a:p>
        </p:txBody>
      </p:sp>
      <p:sp>
        <p:nvSpPr>
          <p:cNvPr id="14526" name="Rectangle 14525">
            <a:extLst>
              <a:ext uri="{FF2B5EF4-FFF2-40B4-BE49-F238E27FC236}">
                <a16:creationId xmlns:a16="http://schemas.microsoft.com/office/drawing/2014/main" id="{0B82E061-BBBB-EAA5-F9E0-2FBEDBB35B31}"/>
              </a:ext>
            </a:extLst>
          </p:cNvPr>
          <p:cNvSpPr/>
          <p:nvPr/>
        </p:nvSpPr>
        <p:spPr>
          <a:xfrm>
            <a:off x="4648200" y="264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Upgrade to SQL</a:t>
            </a:r>
          </a:p>
          <a:p>
            <a:pPr algn="l">
              <a:buNone/>
            </a:pPr>
            <a:r>
              <a:rPr lang="en-US" sz="1800" b="1">
                <a:solidFill>
                  <a:srgbClr val="004578"/>
                </a:solidFill>
                <a:effectLst/>
                <a:latin typeface="Segoe UI Semibold" panose="020B0702040204020203" pitchFamily="34" charset="0"/>
              </a:rPr>
              <a:t>Server 2025</a:t>
            </a:r>
            <a:endParaRPr lang="en-US"/>
          </a:p>
        </p:txBody>
      </p:sp>
      <p:sp>
        <p:nvSpPr>
          <p:cNvPr id="14546" name="Rectangle 14545">
            <a:extLst>
              <a:ext uri="{FF2B5EF4-FFF2-40B4-BE49-F238E27FC236}">
                <a16:creationId xmlns:a16="http://schemas.microsoft.com/office/drawing/2014/main" id="{4A3A22EB-7227-4E29-AF3A-CA37DA03B49D}"/>
              </a:ext>
            </a:extLst>
          </p:cNvPr>
          <p:cNvSpPr/>
          <p:nvPr/>
        </p:nvSpPr>
        <p:spPr>
          <a:xfrm>
            <a:off x="4648200" y="3328680"/>
            <a:ext cx="2895600" cy="32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605E5C"/>
                </a:solidFill>
                <a:effectLst/>
                <a:latin typeface="Segoe UI" panose="020B0502040204020203" pitchFamily="34" charset="0"/>
              </a:rPr>
              <a:t>In or outside Azure</a:t>
            </a:r>
          </a:p>
          <a:p>
            <a:pPr algn="l">
              <a:buNone/>
            </a:pPr>
            <a:r>
              <a:rPr lang="en-US" sz="100">
                <a:effectLst/>
              </a:rPr>
              <a:t> </a:t>
            </a:r>
            <a:endParaRPr lang="en-US"/>
          </a:p>
        </p:txBody>
      </p:sp>
      <p:sp>
        <p:nvSpPr>
          <p:cNvPr id="14567" name="Rectangle 14566">
            <a:extLst>
              <a:ext uri="{FF2B5EF4-FFF2-40B4-BE49-F238E27FC236}">
                <a16:creationId xmlns:a16="http://schemas.microsoft.com/office/drawing/2014/main" id="{3113EB61-D498-DA27-34D6-BCC256923DC3}"/>
              </a:ext>
            </a:extLst>
          </p:cNvPr>
          <p:cNvSpPr/>
          <p:nvPr/>
        </p:nvSpPr>
        <p:spPr>
          <a:xfrm>
            <a:off x="4648200" y="3658240"/>
            <a:ext cx="2895600" cy="2072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Built-in vector capabilities for semantic search</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Streamline developer workflow to build modern data applications</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Enable frictionless analytics through Fabric</a:t>
            </a:r>
            <a:endParaRPr lang="en-US"/>
          </a:p>
        </p:txBody>
      </p:sp>
      <p:sp>
        <p:nvSpPr>
          <p:cNvPr id="14589" name="Rectangle 14588">
            <a:extLst>
              <a:ext uri="{FF2B5EF4-FFF2-40B4-BE49-F238E27FC236}">
                <a16:creationId xmlns:a16="http://schemas.microsoft.com/office/drawing/2014/main" id="{C15A7E8E-BA2A-5A53-5B91-AD8F8A984DF2}"/>
              </a:ext>
            </a:extLst>
          </p:cNvPr>
          <p:cNvSpPr/>
          <p:nvPr/>
        </p:nvSpPr>
        <p:spPr>
          <a:xfrm>
            <a:off x="7924800" y="1700000"/>
            <a:ext cx="3352800" cy="425948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12" name="Oval 14611">
            <a:extLst>
              <a:ext uri="{FF2B5EF4-FFF2-40B4-BE49-F238E27FC236}">
                <a16:creationId xmlns:a16="http://schemas.microsoft.com/office/drawing/2014/main" id="{D925FAEE-F56C-AE3E-C1CD-E2BB0771D837}"/>
              </a:ext>
            </a:extLst>
          </p:cNvPr>
          <p:cNvSpPr/>
          <p:nvPr/>
        </p:nvSpPr>
        <p:spPr>
          <a:xfrm>
            <a:off x="8153400" y="19286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03</a:t>
            </a:r>
          </a:p>
          <a:p>
            <a:pPr algn="ctr">
              <a:buNone/>
            </a:pPr>
            <a:r>
              <a:rPr lang="en-US" sz="100">
                <a:effectLst/>
              </a:rPr>
              <a:t> </a:t>
            </a:r>
            <a:endParaRPr lang="en-US"/>
          </a:p>
        </p:txBody>
      </p:sp>
      <p:sp>
        <p:nvSpPr>
          <p:cNvPr id="14636" name="Rectangle 14635">
            <a:extLst>
              <a:ext uri="{FF2B5EF4-FFF2-40B4-BE49-F238E27FC236}">
                <a16:creationId xmlns:a16="http://schemas.microsoft.com/office/drawing/2014/main" id="{AC835A5A-18FC-4E6B-0ADC-D8EDFDCE46B0}"/>
              </a:ext>
            </a:extLst>
          </p:cNvPr>
          <p:cNvSpPr/>
          <p:nvPr/>
        </p:nvSpPr>
        <p:spPr>
          <a:xfrm>
            <a:off x="8153400" y="264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Purchase Extended</a:t>
            </a:r>
          </a:p>
          <a:p>
            <a:pPr algn="l">
              <a:buNone/>
            </a:pPr>
            <a:r>
              <a:rPr lang="en-US" sz="1800" b="1">
                <a:solidFill>
                  <a:srgbClr val="004578"/>
                </a:solidFill>
                <a:effectLst/>
                <a:latin typeface="Segoe UI Semibold" panose="020B0702040204020203" pitchFamily="34" charset="0"/>
              </a:rPr>
              <a:t>Security Updates</a:t>
            </a:r>
            <a:endParaRPr lang="en-US"/>
          </a:p>
        </p:txBody>
      </p:sp>
      <p:sp>
        <p:nvSpPr>
          <p:cNvPr id="14661" name="Rectangle 14660">
            <a:extLst>
              <a:ext uri="{FF2B5EF4-FFF2-40B4-BE49-F238E27FC236}">
                <a16:creationId xmlns:a16="http://schemas.microsoft.com/office/drawing/2014/main" id="{A6B38205-D319-55DB-95B3-79291FB4A98A}"/>
              </a:ext>
            </a:extLst>
          </p:cNvPr>
          <p:cNvSpPr/>
          <p:nvPr/>
        </p:nvSpPr>
        <p:spPr>
          <a:xfrm>
            <a:off x="8153400" y="3328680"/>
            <a:ext cx="2895600" cy="1874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Maintain protection and meet compliance needs</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Extend runway while planning modernisation</a:t>
            </a:r>
          </a:p>
          <a:p>
            <a:pPr algn="l">
              <a:buNone/>
            </a:pPr>
            <a:r>
              <a:rPr lang="en-US" sz="13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Optimise costs with flexible billing across on-premises and cloud</a:t>
            </a:r>
            <a:endParaRPr lang="en-US"/>
          </a:p>
        </p:txBody>
      </p:sp>
    </p:spTree>
    <p:extLst>
      <p:ext uri="{BB962C8B-B14F-4D97-AF65-F5344CB8AC3E}">
        <p14:creationId xmlns:p14="http://schemas.microsoft.com/office/powerpoint/2010/main" val="675807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87" name="Rectangle 14686">
            <a:extLst>
              <a:ext uri="{FF2B5EF4-FFF2-40B4-BE49-F238E27FC236}">
                <a16:creationId xmlns:a16="http://schemas.microsoft.com/office/drawing/2014/main" id="{563D1757-6AAD-0B5E-B224-32A47F26AF5D}"/>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AZURE SQL</a:t>
            </a:r>
          </a:p>
          <a:p>
            <a:pPr algn="l">
              <a:buNone/>
            </a:pPr>
            <a:r>
              <a:rPr lang="en-US" sz="100">
                <a:effectLst/>
              </a:rPr>
              <a:t> </a:t>
            </a:r>
            <a:endParaRPr lang="en-US"/>
          </a:p>
        </p:txBody>
      </p:sp>
      <p:sp>
        <p:nvSpPr>
          <p:cNvPr id="14714" name="Rectangle 14713">
            <a:extLst>
              <a:ext uri="{FF2B5EF4-FFF2-40B4-BE49-F238E27FC236}">
                <a16:creationId xmlns:a16="http://schemas.microsoft.com/office/drawing/2014/main" id="{8C2E4150-5AD5-26E4-3A67-C24B99AE6FD0}"/>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The family of SQL cloud databases</a:t>
            </a:r>
          </a:p>
          <a:p>
            <a:pPr algn="l">
              <a:buNone/>
            </a:pPr>
            <a:r>
              <a:rPr lang="en-US" sz="100">
                <a:effectLst/>
              </a:rPr>
              <a:t> </a:t>
            </a:r>
            <a:endParaRPr lang="en-US"/>
          </a:p>
        </p:txBody>
      </p:sp>
      <p:sp>
        <p:nvSpPr>
          <p:cNvPr id="14742" name="Rectangle 14741">
            <a:extLst>
              <a:ext uri="{FF2B5EF4-FFF2-40B4-BE49-F238E27FC236}">
                <a16:creationId xmlns:a16="http://schemas.microsoft.com/office/drawing/2014/main" id="{691A60D5-C04C-891B-9B7D-7FF11068625A}"/>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71" name="Rectangle 14770">
            <a:extLst>
              <a:ext uri="{FF2B5EF4-FFF2-40B4-BE49-F238E27FC236}">
                <a16:creationId xmlns:a16="http://schemas.microsoft.com/office/drawing/2014/main" id="{D19E118C-1936-5DF6-C77A-1B56BA827C3B}"/>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4801" name="Rectangle 14800">
            <a:extLst>
              <a:ext uri="{FF2B5EF4-FFF2-40B4-BE49-F238E27FC236}">
                <a16:creationId xmlns:a16="http://schemas.microsoft.com/office/drawing/2014/main" id="{335E87B0-D0FD-BEC2-B236-F7350EEF18BC}"/>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11</a:t>
            </a:r>
          </a:p>
          <a:p>
            <a:pPr algn="r">
              <a:buNone/>
            </a:pPr>
            <a:r>
              <a:rPr lang="en-US" sz="100">
                <a:effectLst/>
              </a:rPr>
              <a:t> </a:t>
            </a:r>
            <a:endParaRPr lang="en-US"/>
          </a:p>
        </p:txBody>
      </p:sp>
      <p:sp>
        <p:nvSpPr>
          <p:cNvPr id="14832" name="Rectangle 14831">
            <a:extLst>
              <a:ext uri="{FF2B5EF4-FFF2-40B4-BE49-F238E27FC236}">
                <a16:creationId xmlns:a16="http://schemas.microsoft.com/office/drawing/2014/main" id="{AEAD6AF0-EA7F-DE86-9F28-FA40A3F57570}"/>
              </a:ext>
            </a:extLst>
          </p:cNvPr>
          <p:cNvSpPr/>
          <p:nvPr/>
        </p:nvSpPr>
        <p:spPr>
          <a:xfrm>
            <a:off x="914400" y="1700000"/>
            <a:ext cx="2476500" cy="2803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64" name="Rectangle 14863">
            <a:extLst>
              <a:ext uri="{FF2B5EF4-FFF2-40B4-BE49-F238E27FC236}">
                <a16:creationId xmlns:a16="http://schemas.microsoft.com/office/drawing/2014/main" id="{4749E21C-EB73-91E8-7DB6-7AEF0A0EC041}"/>
              </a:ext>
            </a:extLst>
          </p:cNvPr>
          <p:cNvSpPr/>
          <p:nvPr/>
        </p:nvSpPr>
        <p:spPr>
          <a:xfrm>
            <a:off x="1066800" y="1928600"/>
            <a:ext cx="2171700"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Azure SQL</a:t>
            </a:r>
          </a:p>
          <a:p>
            <a:pPr algn="l">
              <a:buNone/>
            </a:pPr>
            <a:r>
              <a:rPr lang="en-US" sz="1500" b="1">
                <a:solidFill>
                  <a:srgbClr val="004578"/>
                </a:solidFill>
                <a:effectLst/>
                <a:latin typeface="Segoe UI Semibold" panose="020B0702040204020203" pitchFamily="34" charset="0"/>
              </a:rPr>
              <a:t>enabled by Azure</a:t>
            </a:r>
          </a:p>
          <a:p>
            <a:pPr algn="l">
              <a:buNone/>
            </a:pPr>
            <a:r>
              <a:rPr lang="en-US" sz="1500" b="1">
                <a:solidFill>
                  <a:srgbClr val="004578"/>
                </a:solidFill>
                <a:effectLst/>
                <a:latin typeface="Segoe UI Semibold" panose="020B0702040204020203" pitchFamily="34" charset="0"/>
              </a:rPr>
              <a:t>Arc</a:t>
            </a:r>
            <a:endParaRPr lang="en-US"/>
          </a:p>
        </p:txBody>
      </p:sp>
      <p:sp>
        <p:nvSpPr>
          <p:cNvPr id="14897" name="Rectangle 14896">
            <a:extLst>
              <a:ext uri="{FF2B5EF4-FFF2-40B4-BE49-F238E27FC236}">
                <a16:creationId xmlns:a16="http://schemas.microsoft.com/office/drawing/2014/main" id="{CFC48CA5-9977-83AC-5C08-738E1ADAFF92}"/>
              </a:ext>
            </a:extLst>
          </p:cNvPr>
          <p:cNvSpPr/>
          <p:nvPr/>
        </p:nvSpPr>
        <p:spPr>
          <a:xfrm>
            <a:off x="1066800" y="2765840"/>
            <a:ext cx="217170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Run Azure SQL on premises and in multicloud environments. Your first step on the journey to Azure.</a:t>
            </a:r>
          </a:p>
          <a:p>
            <a:pPr algn="l">
              <a:buNone/>
            </a:pPr>
            <a:r>
              <a:rPr lang="en-US" sz="100">
                <a:effectLst/>
              </a:rPr>
              <a:t> </a:t>
            </a:r>
            <a:endParaRPr lang="en-US"/>
          </a:p>
        </p:txBody>
      </p:sp>
      <p:sp>
        <p:nvSpPr>
          <p:cNvPr id="14931" name="Rectangle 14930">
            <a:extLst>
              <a:ext uri="{FF2B5EF4-FFF2-40B4-BE49-F238E27FC236}">
                <a16:creationId xmlns:a16="http://schemas.microsoft.com/office/drawing/2014/main" id="{DB776987-6D7A-875E-8908-E657520B05BA}"/>
              </a:ext>
            </a:extLst>
          </p:cNvPr>
          <p:cNvSpPr/>
          <p:nvPr/>
        </p:nvSpPr>
        <p:spPr>
          <a:xfrm>
            <a:off x="3543300" y="1700000"/>
            <a:ext cx="2476500" cy="2803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66" name="Rectangle 14965">
            <a:extLst>
              <a:ext uri="{FF2B5EF4-FFF2-40B4-BE49-F238E27FC236}">
                <a16:creationId xmlns:a16="http://schemas.microsoft.com/office/drawing/2014/main" id="{8892998F-2EB7-4D53-135C-EA45E633CCBA}"/>
              </a:ext>
            </a:extLst>
          </p:cNvPr>
          <p:cNvSpPr/>
          <p:nvPr/>
        </p:nvSpPr>
        <p:spPr>
          <a:xfrm>
            <a:off x="3695700" y="1928600"/>
            <a:ext cx="2171700"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SQL Server on</a:t>
            </a:r>
          </a:p>
          <a:p>
            <a:pPr algn="l">
              <a:buNone/>
            </a:pPr>
            <a:r>
              <a:rPr lang="en-US" sz="1500" b="1">
                <a:solidFill>
                  <a:srgbClr val="004578"/>
                </a:solidFill>
                <a:effectLst/>
                <a:latin typeface="Segoe UI Semibold" panose="020B0702040204020203" pitchFamily="34" charset="0"/>
              </a:rPr>
              <a:t>Azure Virtual</a:t>
            </a:r>
          </a:p>
          <a:p>
            <a:pPr algn="l">
              <a:buNone/>
            </a:pPr>
            <a:r>
              <a:rPr lang="en-US" sz="1500" b="1">
                <a:solidFill>
                  <a:srgbClr val="004578"/>
                </a:solidFill>
                <a:effectLst/>
                <a:latin typeface="Segoe UI Semibold" panose="020B0702040204020203" pitchFamily="34" charset="0"/>
              </a:rPr>
              <a:t>Machines</a:t>
            </a:r>
            <a:endParaRPr lang="en-US"/>
          </a:p>
        </p:txBody>
      </p:sp>
      <p:sp>
        <p:nvSpPr>
          <p:cNvPr id="15002" name="Rectangle 15001">
            <a:extLst>
              <a:ext uri="{FF2B5EF4-FFF2-40B4-BE49-F238E27FC236}">
                <a16:creationId xmlns:a16="http://schemas.microsoft.com/office/drawing/2014/main" id="{6E642F0C-8C0A-9D85-13FB-EC372F59C2F4}"/>
              </a:ext>
            </a:extLst>
          </p:cNvPr>
          <p:cNvSpPr/>
          <p:nvPr/>
        </p:nvSpPr>
        <p:spPr>
          <a:xfrm>
            <a:off x="3695700" y="2765840"/>
            <a:ext cx="217170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Best for: migrating (“lift and shift”) 3rd party apps to customer-managed Azure virtual machines.</a:t>
            </a:r>
          </a:p>
          <a:p>
            <a:pPr algn="l">
              <a:buNone/>
            </a:pPr>
            <a:r>
              <a:rPr lang="en-US" sz="100">
                <a:effectLst/>
              </a:rPr>
              <a:t> </a:t>
            </a:r>
            <a:endParaRPr lang="en-US"/>
          </a:p>
        </p:txBody>
      </p:sp>
      <p:sp>
        <p:nvSpPr>
          <p:cNvPr id="15039" name="Rectangle 15038">
            <a:extLst>
              <a:ext uri="{FF2B5EF4-FFF2-40B4-BE49-F238E27FC236}">
                <a16:creationId xmlns:a16="http://schemas.microsoft.com/office/drawing/2014/main" id="{82EAB723-62D5-0F9C-A006-3B7978B82084}"/>
              </a:ext>
            </a:extLst>
          </p:cNvPr>
          <p:cNvSpPr/>
          <p:nvPr/>
        </p:nvSpPr>
        <p:spPr>
          <a:xfrm>
            <a:off x="6172200" y="1700000"/>
            <a:ext cx="2476500" cy="2803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77" name="Rectangle 15076">
            <a:extLst>
              <a:ext uri="{FF2B5EF4-FFF2-40B4-BE49-F238E27FC236}">
                <a16:creationId xmlns:a16="http://schemas.microsoft.com/office/drawing/2014/main" id="{9A3423F0-4743-6DF1-F712-00493C217199}"/>
              </a:ext>
            </a:extLst>
          </p:cNvPr>
          <p:cNvSpPr/>
          <p:nvPr/>
        </p:nvSpPr>
        <p:spPr>
          <a:xfrm>
            <a:off x="6324600" y="1928600"/>
            <a:ext cx="21717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Azure SQL</a:t>
            </a:r>
          </a:p>
          <a:p>
            <a:pPr algn="l">
              <a:buNone/>
            </a:pPr>
            <a:r>
              <a:rPr lang="en-US" sz="1500" b="1">
                <a:solidFill>
                  <a:srgbClr val="004578"/>
                </a:solidFill>
                <a:effectLst/>
                <a:latin typeface="Segoe UI Semibold" panose="020B0702040204020203" pitchFamily="34" charset="0"/>
              </a:rPr>
              <a:t>Managed Instance</a:t>
            </a:r>
            <a:endParaRPr lang="en-US"/>
          </a:p>
        </p:txBody>
      </p:sp>
      <p:sp>
        <p:nvSpPr>
          <p:cNvPr id="15116" name="Rectangle 15115">
            <a:extLst>
              <a:ext uri="{FF2B5EF4-FFF2-40B4-BE49-F238E27FC236}">
                <a16:creationId xmlns:a16="http://schemas.microsoft.com/office/drawing/2014/main" id="{9C152F26-DCCB-480A-CB13-ED50280FA01B}"/>
              </a:ext>
            </a:extLst>
          </p:cNvPr>
          <p:cNvSpPr/>
          <p:nvPr/>
        </p:nvSpPr>
        <p:spPr>
          <a:xfrm>
            <a:off x="6324600" y="2537240"/>
            <a:ext cx="217170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Best for: migrating custom apps at-scale to a Microsoft-managed, SQL Server-compatible instance.</a:t>
            </a:r>
          </a:p>
          <a:p>
            <a:pPr algn="l">
              <a:buNone/>
            </a:pPr>
            <a:r>
              <a:rPr lang="en-US" sz="100">
                <a:effectLst/>
              </a:rPr>
              <a:t> </a:t>
            </a:r>
            <a:endParaRPr lang="en-US"/>
          </a:p>
        </p:txBody>
      </p:sp>
      <p:sp>
        <p:nvSpPr>
          <p:cNvPr id="15156" name="Rectangle 15155">
            <a:extLst>
              <a:ext uri="{FF2B5EF4-FFF2-40B4-BE49-F238E27FC236}">
                <a16:creationId xmlns:a16="http://schemas.microsoft.com/office/drawing/2014/main" id="{F97CD4E8-A96F-561F-EE20-B1990F143283}"/>
              </a:ext>
            </a:extLst>
          </p:cNvPr>
          <p:cNvSpPr/>
          <p:nvPr/>
        </p:nvSpPr>
        <p:spPr>
          <a:xfrm>
            <a:off x="8801100" y="1700000"/>
            <a:ext cx="2476500" cy="2803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97" name="Rectangle 15196">
            <a:extLst>
              <a:ext uri="{FF2B5EF4-FFF2-40B4-BE49-F238E27FC236}">
                <a16:creationId xmlns:a16="http://schemas.microsoft.com/office/drawing/2014/main" id="{2F674155-13A3-C02B-BCA5-3CF46A00C7B3}"/>
              </a:ext>
            </a:extLst>
          </p:cNvPr>
          <p:cNvSpPr/>
          <p:nvPr/>
        </p:nvSpPr>
        <p:spPr>
          <a:xfrm>
            <a:off x="8953500" y="1928600"/>
            <a:ext cx="21717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Azure SQL</a:t>
            </a:r>
          </a:p>
          <a:p>
            <a:pPr algn="l">
              <a:buNone/>
            </a:pPr>
            <a:r>
              <a:rPr lang="en-US" sz="1500" b="1">
                <a:solidFill>
                  <a:srgbClr val="004578"/>
                </a:solidFill>
                <a:effectLst/>
                <a:latin typeface="Segoe UI Semibold" panose="020B0702040204020203" pitchFamily="34" charset="0"/>
              </a:rPr>
              <a:t>Database</a:t>
            </a:r>
            <a:endParaRPr lang="en-US"/>
          </a:p>
        </p:txBody>
      </p:sp>
      <p:sp>
        <p:nvSpPr>
          <p:cNvPr id="15239" name="Rectangle 15238">
            <a:extLst>
              <a:ext uri="{FF2B5EF4-FFF2-40B4-BE49-F238E27FC236}">
                <a16:creationId xmlns:a16="http://schemas.microsoft.com/office/drawing/2014/main" id="{509715BC-C6AA-06FF-3E45-39CAFA723DBE}"/>
              </a:ext>
            </a:extLst>
          </p:cNvPr>
          <p:cNvSpPr/>
          <p:nvPr/>
        </p:nvSpPr>
        <p:spPr>
          <a:xfrm>
            <a:off x="8953500" y="2537240"/>
            <a:ext cx="21717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Best for: developing highly-scalable, AI-ready applications with SQL's reliability and security at commercial open-source database costs.</a:t>
            </a:r>
          </a:p>
          <a:p>
            <a:pPr algn="l">
              <a:buNone/>
            </a:pPr>
            <a:r>
              <a:rPr lang="en-US" sz="100">
                <a:effectLst/>
              </a:rPr>
              <a:t> </a:t>
            </a:r>
            <a:endParaRPr lang="en-US"/>
          </a:p>
        </p:txBody>
      </p:sp>
      <p:sp>
        <p:nvSpPr>
          <p:cNvPr id="15282" name="Arrow: Right 15281">
            <a:extLst>
              <a:ext uri="{FF2B5EF4-FFF2-40B4-BE49-F238E27FC236}">
                <a16:creationId xmlns:a16="http://schemas.microsoft.com/office/drawing/2014/main" id="{BC956FE9-5A9A-7192-0B17-3A1BB6F251FD}"/>
              </a:ext>
            </a:extLst>
          </p:cNvPr>
          <p:cNvSpPr/>
          <p:nvPr/>
        </p:nvSpPr>
        <p:spPr>
          <a:xfrm>
            <a:off x="914400" y="4703200"/>
            <a:ext cx="10363200" cy="260000"/>
          </a:xfrm>
          <a:prstGeom prst="rightArrow">
            <a:avLst/>
          </a:prstGeom>
          <a:solidFill>
            <a:srgbClr val="DEECF9"/>
          </a:solidFill>
          <a:ln>
            <a:solidFill>
              <a:srgbClr val="DEECF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26" name="Rectangle 15325">
            <a:extLst>
              <a:ext uri="{FF2B5EF4-FFF2-40B4-BE49-F238E27FC236}">
                <a16:creationId xmlns:a16="http://schemas.microsoft.com/office/drawing/2014/main" id="{C54D438C-E63D-E073-7146-A72FE2726646}"/>
              </a:ext>
            </a:extLst>
          </p:cNvPr>
          <p:cNvSpPr/>
          <p:nvPr/>
        </p:nvSpPr>
        <p:spPr>
          <a:xfrm>
            <a:off x="914400" y="5033200"/>
            <a:ext cx="24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4578"/>
                </a:solidFill>
                <a:effectLst/>
                <a:latin typeface="Segoe UI Semibold" panose="020B0702040204020203" pitchFamily="34" charset="0"/>
              </a:rPr>
              <a:t>MIGRATION</a:t>
            </a:r>
          </a:p>
          <a:p>
            <a:pPr algn="l">
              <a:buNone/>
            </a:pPr>
            <a:r>
              <a:rPr lang="en-US" sz="100">
                <a:effectLst/>
              </a:rPr>
              <a:t> </a:t>
            </a:r>
            <a:endParaRPr lang="en-US"/>
          </a:p>
        </p:txBody>
      </p:sp>
      <p:sp>
        <p:nvSpPr>
          <p:cNvPr id="15371" name="Rectangle 15370">
            <a:extLst>
              <a:ext uri="{FF2B5EF4-FFF2-40B4-BE49-F238E27FC236}">
                <a16:creationId xmlns:a16="http://schemas.microsoft.com/office/drawing/2014/main" id="{BD049B33-14C6-3FA3-C52F-80343375FAF4}"/>
              </a:ext>
            </a:extLst>
          </p:cNvPr>
          <p:cNvSpPr/>
          <p:nvPr/>
        </p:nvSpPr>
        <p:spPr>
          <a:xfrm>
            <a:off x="8801100" y="5033200"/>
            <a:ext cx="24765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4578"/>
                </a:solidFill>
                <a:effectLst/>
                <a:latin typeface="Segoe UI Semibold" panose="020B0702040204020203" pitchFamily="34" charset="0"/>
              </a:rPr>
              <a:t>INNOVATION</a:t>
            </a:r>
          </a:p>
          <a:p>
            <a:pPr algn="l">
              <a:buNone/>
            </a:pPr>
            <a:r>
              <a:rPr lang="en-US" sz="100">
                <a:effectLst/>
              </a:rPr>
              <a:t> </a:t>
            </a:r>
            <a:endParaRPr lang="en-US"/>
          </a:p>
        </p:txBody>
      </p:sp>
      <p:sp>
        <p:nvSpPr>
          <p:cNvPr id="15417" name="Rectangle 15416">
            <a:extLst>
              <a:ext uri="{FF2B5EF4-FFF2-40B4-BE49-F238E27FC236}">
                <a16:creationId xmlns:a16="http://schemas.microsoft.com/office/drawing/2014/main" id="{D4CBDC72-E230-601F-774D-3211109796CA}"/>
              </a:ext>
            </a:extLst>
          </p:cNvPr>
          <p:cNvSpPr/>
          <p:nvPr/>
        </p:nvSpPr>
        <p:spPr>
          <a:xfrm>
            <a:off x="914400" y="5493200"/>
            <a:ext cx="103632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004578"/>
                </a:solidFill>
                <a:effectLst/>
                <a:latin typeface="Segoe UI Semibold" panose="020B0702040204020203" pitchFamily="34" charset="0"/>
              </a:rPr>
              <a:t>Azure is the cloud that knows SQL Server best.</a:t>
            </a:r>
          </a:p>
          <a:p>
            <a:pPr algn="l">
              <a:buNone/>
            </a:pPr>
            <a:r>
              <a:rPr lang="en-US" sz="100">
                <a:effectLst/>
              </a:rPr>
              <a:t> </a:t>
            </a:r>
            <a:endParaRPr lang="en-US"/>
          </a:p>
        </p:txBody>
      </p:sp>
    </p:spTree>
    <p:extLst>
      <p:ext uri="{BB962C8B-B14F-4D97-AF65-F5344CB8AC3E}">
        <p14:creationId xmlns:p14="http://schemas.microsoft.com/office/powerpoint/2010/main" val="2005260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32" name="Rectangle 22031">
            <a:extLst>
              <a:ext uri="{FF2B5EF4-FFF2-40B4-BE49-F238E27FC236}">
                <a16:creationId xmlns:a16="http://schemas.microsoft.com/office/drawing/2014/main" id="{BD70E0CE-9282-5812-C1F8-EC4B81A8A5F8}"/>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AZURE ARC</a:t>
            </a:r>
          </a:p>
          <a:p>
            <a:pPr algn="l">
              <a:buNone/>
            </a:pPr>
            <a:r>
              <a:rPr lang="en-US" sz="100">
                <a:effectLst/>
              </a:rPr>
              <a:t> </a:t>
            </a:r>
            <a:endParaRPr lang="en-US"/>
          </a:p>
        </p:txBody>
      </p:sp>
      <p:sp>
        <p:nvSpPr>
          <p:cNvPr id="22070" name="Rectangle 22069">
            <a:extLst>
              <a:ext uri="{FF2B5EF4-FFF2-40B4-BE49-F238E27FC236}">
                <a16:creationId xmlns:a16="http://schemas.microsoft.com/office/drawing/2014/main" id="{0F39780C-AC55-5135-1AB4-390569282B69}"/>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Why Extended Security Updates enabled by Arc?</a:t>
            </a:r>
          </a:p>
          <a:p>
            <a:pPr algn="l">
              <a:buNone/>
            </a:pPr>
            <a:r>
              <a:rPr lang="en-US" sz="100">
                <a:effectLst/>
              </a:rPr>
              <a:t> </a:t>
            </a:r>
            <a:endParaRPr lang="en-US"/>
          </a:p>
        </p:txBody>
      </p:sp>
      <p:sp>
        <p:nvSpPr>
          <p:cNvPr id="22109" name="Rectangle 22108">
            <a:extLst>
              <a:ext uri="{FF2B5EF4-FFF2-40B4-BE49-F238E27FC236}">
                <a16:creationId xmlns:a16="http://schemas.microsoft.com/office/drawing/2014/main" id="{5FE51678-5873-28F4-9321-33FF878E6D88}"/>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49" name="Rectangle 22148">
            <a:extLst>
              <a:ext uri="{FF2B5EF4-FFF2-40B4-BE49-F238E27FC236}">
                <a16:creationId xmlns:a16="http://schemas.microsoft.com/office/drawing/2014/main" id="{1905D5EE-E001-2BFA-A229-E5F735CE3AF7}"/>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2190" name="Rectangle 22189">
            <a:extLst>
              <a:ext uri="{FF2B5EF4-FFF2-40B4-BE49-F238E27FC236}">
                <a16:creationId xmlns:a16="http://schemas.microsoft.com/office/drawing/2014/main" id="{CA53D706-72FB-F225-4BDB-126CF5A74E7A}"/>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12</a:t>
            </a:r>
          </a:p>
          <a:p>
            <a:pPr algn="r">
              <a:buNone/>
            </a:pPr>
            <a:r>
              <a:rPr lang="en-US" sz="100">
                <a:effectLst/>
              </a:rPr>
              <a:t> </a:t>
            </a:r>
            <a:endParaRPr lang="en-US"/>
          </a:p>
        </p:txBody>
      </p:sp>
      <p:sp>
        <p:nvSpPr>
          <p:cNvPr id="22232" name="Rectangle 22231">
            <a:extLst>
              <a:ext uri="{FF2B5EF4-FFF2-40B4-BE49-F238E27FC236}">
                <a16:creationId xmlns:a16="http://schemas.microsoft.com/office/drawing/2014/main" id="{5DC3CE17-5D81-990C-657C-1B70C54197C7}"/>
              </a:ext>
            </a:extLst>
          </p:cNvPr>
          <p:cNvSpPr/>
          <p:nvPr/>
        </p:nvSpPr>
        <p:spPr>
          <a:xfrm>
            <a:off x="914400" y="1700000"/>
            <a:ext cx="3352800" cy="245744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75" name="Rectangle 22274">
            <a:extLst>
              <a:ext uri="{FF2B5EF4-FFF2-40B4-BE49-F238E27FC236}">
                <a16:creationId xmlns:a16="http://schemas.microsoft.com/office/drawing/2014/main" id="{6C56CA4C-849E-74EC-A2B9-2EBB283721FD}"/>
              </a:ext>
            </a:extLst>
          </p:cNvPr>
          <p:cNvSpPr/>
          <p:nvPr/>
        </p:nvSpPr>
        <p:spPr>
          <a:xfrm>
            <a:off x="1143000" y="192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Flexible billing</a:t>
            </a:r>
          </a:p>
          <a:p>
            <a:pPr algn="l">
              <a:buNone/>
            </a:pPr>
            <a:r>
              <a:rPr lang="en-US" sz="1800" b="1">
                <a:solidFill>
                  <a:srgbClr val="004578"/>
                </a:solidFill>
                <a:effectLst/>
                <a:latin typeface="Segoe UI Semibold" panose="020B0702040204020203" pitchFamily="34" charset="0"/>
              </a:rPr>
              <a:t>and savings</a:t>
            </a:r>
            <a:endParaRPr lang="en-US"/>
          </a:p>
        </p:txBody>
      </p:sp>
      <p:sp>
        <p:nvSpPr>
          <p:cNvPr id="22319" name="Rectangle 22318">
            <a:extLst>
              <a:ext uri="{FF2B5EF4-FFF2-40B4-BE49-F238E27FC236}">
                <a16:creationId xmlns:a16="http://schemas.microsoft.com/office/drawing/2014/main" id="{0CB10FA9-7219-034D-6AB3-04D4E3969FA4}"/>
              </a:ext>
            </a:extLst>
          </p:cNvPr>
          <p:cNvSpPr/>
          <p:nvPr/>
        </p:nvSpPr>
        <p:spPr>
          <a:xfrm>
            <a:off x="1143000" y="2648680"/>
            <a:ext cx="289560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Monthly billing model centralised in Azure to run end-of-support operating systems</a:t>
            </a:r>
          </a:p>
          <a:p>
            <a:pPr algn="l">
              <a:buNone/>
            </a:pPr>
            <a:r>
              <a:rPr lang="en-US" sz="100">
                <a:effectLst/>
              </a:rPr>
              <a:t> </a:t>
            </a:r>
            <a:endParaRPr lang="en-US"/>
          </a:p>
        </p:txBody>
      </p:sp>
      <p:sp>
        <p:nvSpPr>
          <p:cNvPr id="22364" name="Rectangle 22363">
            <a:extLst>
              <a:ext uri="{FF2B5EF4-FFF2-40B4-BE49-F238E27FC236}">
                <a16:creationId xmlns:a16="http://schemas.microsoft.com/office/drawing/2014/main" id="{0D43D848-72AB-2147-93DE-6CB4300B0B23}"/>
              </a:ext>
            </a:extLst>
          </p:cNvPr>
          <p:cNvSpPr/>
          <p:nvPr/>
        </p:nvSpPr>
        <p:spPr>
          <a:xfrm>
            <a:off x="4419600" y="1700000"/>
            <a:ext cx="3352800" cy="245744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10" name="Rectangle 22409">
            <a:extLst>
              <a:ext uri="{FF2B5EF4-FFF2-40B4-BE49-F238E27FC236}">
                <a16:creationId xmlns:a16="http://schemas.microsoft.com/office/drawing/2014/main" id="{3ADD5CE8-B22E-7431-E07F-393E9DAC16EC}"/>
              </a:ext>
            </a:extLst>
          </p:cNvPr>
          <p:cNvSpPr/>
          <p:nvPr/>
        </p:nvSpPr>
        <p:spPr>
          <a:xfrm>
            <a:off x="4648200" y="192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Visibility and</a:t>
            </a:r>
          </a:p>
          <a:p>
            <a:pPr algn="l">
              <a:buNone/>
            </a:pPr>
            <a:r>
              <a:rPr lang="en-US" sz="1800" b="1">
                <a:solidFill>
                  <a:srgbClr val="004578"/>
                </a:solidFill>
                <a:effectLst/>
                <a:latin typeface="Segoe UI Semibold" panose="020B0702040204020203" pitchFamily="34" charset="0"/>
              </a:rPr>
              <a:t>reliability</a:t>
            </a:r>
            <a:endParaRPr lang="en-US"/>
          </a:p>
        </p:txBody>
      </p:sp>
      <p:sp>
        <p:nvSpPr>
          <p:cNvPr id="22457" name="Rectangle 22456">
            <a:extLst>
              <a:ext uri="{FF2B5EF4-FFF2-40B4-BE49-F238E27FC236}">
                <a16:creationId xmlns:a16="http://schemas.microsoft.com/office/drawing/2014/main" id="{D1785C39-0E27-74C9-F6F2-6BCF7A14DB09}"/>
              </a:ext>
            </a:extLst>
          </p:cNvPr>
          <p:cNvSpPr/>
          <p:nvPr/>
        </p:nvSpPr>
        <p:spPr>
          <a:xfrm>
            <a:off x="4648200" y="2648680"/>
            <a:ext cx="2895600" cy="1280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Ensure consistent Windows Server 2016 and SQL Server 2016 performance with high availability and visibility over your entire data and server estate</a:t>
            </a:r>
          </a:p>
          <a:p>
            <a:pPr algn="l">
              <a:buNone/>
            </a:pPr>
            <a:r>
              <a:rPr lang="en-US" sz="100">
                <a:effectLst/>
              </a:rPr>
              <a:t> </a:t>
            </a:r>
            <a:endParaRPr lang="en-US"/>
          </a:p>
        </p:txBody>
      </p:sp>
      <p:sp>
        <p:nvSpPr>
          <p:cNvPr id="22505" name="Rectangle 22504">
            <a:extLst>
              <a:ext uri="{FF2B5EF4-FFF2-40B4-BE49-F238E27FC236}">
                <a16:creationId xmlns:a16="http://schemas.microsoft.com/office/drawing/2014/main" id="{F16C8EE3-1779-9CE2-E1D1-A02B647AAE26}"/>
              </a:ext>
            </a:extLst>
          </p:cNvPr>
          <p:cNvSpPr/>
          <p:nvPr/>
        </p:nvSpPr>
        <p:spPr>
          <a:xfrm>
            <a:off x="7924800" y="1700000"/>
            <a:ext cx="3352800" cy="245744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54" name="Rectangle 22553">
            <a:extLst>
              <a:ext uri="{FF2B5EF4-FFF2-40B4-BE49-F238E27FC236}">
                <a16:creationId xmlns:a16="http://schemas.microsoft.com/office/drawing/2014/main" id="{EAF808A2-DCCE-F7EA-1F31-995034AEBD47}"/>
              </a:ext>
            </a:extLst>
          </p:cNvPr>
          <p:cNvSpPr/>
          <p:nvPr/>
        </p:nvSpPr>
        <p:spPr>
          <a:xfrm>
            <a:off x="8153400" y="1928600"/>
            <a:ext cx="2895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Security and</a:t>
            </a:r>
          </a:p>
          <a:p>
            <a:pPr algn="l">
              <a:buNone/>
            </a:pPr>
            <a:r>
              <a:rPr lang="en-US" sz="1800" b="1">
                <a:solidFill>
                  <a:srgbClr val="004578"/>
                </a:solidFill>
                <a:effectLst/>
                <a:latin typeface="Segoe UI Semibold" panose="020B0702040204020203" pitchFamily="34" charset="0"/>
              </a:rPr>
              <a:t>compliance</a:t>
            </a:r>
            <a:endParaRPr lang="en-US"/>
          </a:p>
        </p:txBody>
      </p:sp>
      <p:sp>
        <p:nvSpPr>
          <p:cNvPr id="22604" name="Rectangle 22603">
            <a:extLst>
              <a:ext uri="{FF2B5EF4-FFF2-40B4-BE49-F238E27FC236}">
                <a16:creationId xmlns:a16="http://schemas.microsoft.com/office/drawing/2014/main" id="{E6751EF1-7A8B-4050-F62E-0BF8B320852C}"/>
              </a:ext>
            </a:extLst>
          </p:cNvPr>
          <p:cNvSpPr/>
          <p:nvPr/>
        </p:nvSpPr>
        <p:spPr>
          <a:xfrm>
            <a:off x="8153400" y="2648680"/>
            <a:ext cx="2895600" cy="1082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Seamlessly extend Azure security and governance to your environment and stay compliant with supported software</a:t>
            </a:r>
          </a:p>
          <a:p>
            <a:pPr algn="l">
              <a:buNone/>
            </a:pPr>
            <a:r>
              <a:rPr lang="en-US" sz="100">
                <a:effectLst/>
              </a:rPr>
              <a:t> </a:t>
            </a:r>
            <a:endParaRPr lang="en-US"/>
          </a:p>
        </p:txBody>
      </p:sp>
      <p:sp>
        <p:nvSpPr>
          <p:cNvPr id="22655" name="Rectangle 22654">
            <a:extLst>
              <a:ext uri="{FF2B5EF4-FFF2-40B4-BE49-F238E27FC236}">
                <a16:creationId xmlns:a16="http://schemas.microsoft.com/office/drawing/2014/main" id="{54CDB019-8D5F-D18B-0982-A2777FD0DC41}"/>
              </a:ext>
            </a:extLst>
          </p:cNvPr>
          <p:cNvSpPr/>
          <p:nvPr/>
        </p:nvSpPr>
        <p:spPr>
          <a:xfrm>
            <a:off x="914400" y="4377440"/>
            <a:ext cx="10363200" cy="10000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07" name="Rectangle 22706">
            <a:extLst>
              <a:ext uri="{FF2B5EF4-FFF2-40B4-BE49-F238E27FC236}">
                <a16:creationId xmlns:a16="http://schemas.microsoft.com/office/drawing/2014/main" id="{36B08D03-B4B5-8689-6801-2187E8245831}"/>
              </a:ext>
            </a:extLst>
          </p:cNvPr>
          <p:cNvSpPr/>
          <p:nvPr/>
        </p:nvSpPr>
        <p:spPr>
          <a:xfrm>
            <a:off x="1143000" y="4557440"/>
            <a:ext cx="1900000" cy="6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605E5C"/>
                </a:solidFill>
                <a:effectLst/>
                <a:latin typeface="Segoe UI Semibold" panose="020B0702040204020203" pitchFamily="34" charset="0"/>
              </a:rPr>
              <a:t>AZURE</a:t>
            </a:r>
          </a:p>
          <a:p>
            <a:pPr algn="l">
              <a:buNone/>
            </a:pPr>
            <a:r>
              <a:rPr lang="en-US" sz="1200" b="1" spc="100">
                <a:solidFill>
                  <a:srgbClr val="605E5C"/>
                </a:solidFill>
                <a:effectLst/>
                <a:latin typeface="Segoe UI Semibold" panose="020B0702040204020203" pitchFamily="34" charset="0"/>
              </a:rPr>
              <a:t>SERVICES</a:t>
            </a:r>
            <a:endParaRPr lang="en-US"/>
          </a:p>
        </p:txBody>
      </p:sp>
      <p:sp>
        <p:nvSpPr>
          <p:cNvPr id="22760" name="Rectangle: Rounded Corners 22759">
            <a:extLst>
              <a:ext uri="{FF2B5EF4-FFF2-40B4-BE49-F238E27FC236}">
                <a16:creationId xmlns:a16="http://schemas.microsoft.com/office/drawing/2014/main" id="{025E9E3D-28B7-F7D3-0BAA-90B8E1C5B910}"/>
              </a:ext>
            </a:extLst>
          </p:cNvPr>
          <p:cNvSpPr/>
          <p:nvPr/>
        </p:nvSpPr>
        <p:spPr>
          <a:xfrm>
            <a:off x="3200000" y="4557440"/>
            <a:ext cx="1876775" cy="64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Microsoft Defender</a:t>
            </a:r>
          </a:p>
          <a:p>
            <a:pPr algn="ctr">
              <a:buNone/>
            </a:pPr>
            <a:r>
              <a:rPr lang="en-US" sz="1200">
                <a:solidFill>
                  <a:srgbClr val="FFFFFF"/>
                </a:solidFill>
                <a:effectLst/>
                <a:latin typeface="Segoe UI" panose="020B0502040204020203" pitchFamily="34" charset="0"/>
              </a:rPr>
              <a:t>for Cloud</a:t>
            </a:r>
            <a:endParaRPr lang="en-US"/>
          </a:p>
        </p:txBody>
      </p:sp>
      <p:sp>
        <p:nvSpPr>
          <p:cNvPr id="22814" name="Rectangle: Rounded Corners 22813">
            <a:extLst>
              <a:ext uri="{FF2B5EF4-FFF2-40B4-BE49-F238E27FC236}">
                <a16:creationId xmlns:a16="http://schemas.microsoft.com/office/drawing/2014/main" id="{C54CE0E8-7809-A732-38D6-7DF8526724A9}"/>
              </a:ext>
            </a:extLst>
          </p:cNvPr>
          <p:cNvSpPr/>
          <p:nvPr/>
        </p:nvSpPr>
        <p:spPr>
          <a:xfrm>
            <a:off x="5191075" y="4557440"/>
            <a:ext cx="1876775" cy="64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Azure</a:t>
            </a:r>
          </a:p>
          <a:p>
            <a:pPr algn="ctr">
              <a:buNone/>
            </a:pPr>
            <a:r>
              <a:rPr lang="en-US" sz="1200">
                <a:solidFill>
                  <a:srgbClr val="FFFFFF"/>
                </a:solidFill>
                <a:effectLst/>
                <a:latin typeface="Segoe UI" panose="020B0502040204020203" pitchFamily="34" charset="0"/>
              </a:rPr>
              <a:t>Monitor</a:t>
            </a:r>
            <a:endParaRPr lang="en-US"/>
          </a:p>
        </p:txBody>
      </p:sp>
      <p:sp>
        <p:nvSpPr>
          <p:cNvPr id="22869" name="Rectangle: Rounded Corners 22868">
            <a:extLst>
              <a:ext uri="{FF2B5EF4-FFF2-40B4-BE49-F238E27FC236}">
                <a16:creationId xmlns:a16="http://schemas.microsoft.com/office/drawing/2014/main" id="{09C271B1-1E93-3D22-2C65-FBA9E2D7DA34}"/>
              </a:ext>
            </a:extLst>
          </p:cNvPr>
          <p:cNvSpPr/>
          <p:nvPr/>
        </p:nvSpPr>
        <p:spPr>
          <a:xfrm>
            <a:off x="7182150" y="4557440"/>
            <a:ext cx="1876775" cy="64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Azure</a:t>
            </a:r>
          </a:p>
          <a:p>
            <a:pPr algn="ctr">
              <a:buNone/>
            </a:pPr>
            <a:r>
              <a:rPr lang="en-US" sz="1200">
                <a:solidFill>
                  <a:srgbClr val="FFFFFF"/>
                </a:solidFill>
                <a:effectLst/>
                <a:latin typeface="Segoe UI" panose="020B0502040204020203" pitchFamily="34" charset="0"/>
              </a:rPr>
              <a:t>Policy</a:t>
            </a:r>
            <a:endParaRPr lang="en-US"/>
          </a:p>
        </p:txBody>
      </p:sp>
      <p:sp>
        <p:nvSpPr>
          <p:cNvPr id="22925" name="Rectangle: Rounded Corners 22924">
            <a:extLst>
              <a:ext uri="{FF2B5EF4-FFF2-40B4-BE49-F238E27FC236}">
                <a16:creationId xmlns:a16="http://schemas.microsoft.com/office/drawing/2014/main" id="{A69CB018-E004-B9D6-12B7-452747F324F4}"/>
              </a:ext>
            </a:extLst>
          </p:cNvPr>
          <p:cNvSpPr/>
          <p:nvPr/>
        </p:nvSpPr>
        <p:spPr>
          <a:xfrm>
            <a:off x="9173225" y="4557440"/>
            <a:ext cx="1876775" cy="64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Microsoft</a:t>
            </a:r>
          </a:p>
          <a:p>
            <a:pPr algn="ctr">
              <a:buNone/>
            </a:pPr>
            <a:r>
              <a:rPr lang="en-US" sz="1200">
                <a:solidFill>
                  <a:srgbClr val="FFFFFF"/>
                </a:solidFill>
                <a:effectLst/>
                <a:latin typeface="Segoe UI" panose="020B0502040204020203" pitchFamily="34" charset="0"/>
              </a:rPr>
              <a:t>Sentinel</a:t>
            </a:r>
            <a:endParaRPr lang="en-US"/>
          </a:p>
        </p:txBody>
      </p:sp>
    </p:spTree>
    <p:extLst>
      <p:ext uri="{BB962C8B-B14F-4D97-AF65-F5344CB8AC3E}">
        <p14:creationId xmlns:p14="http://schemas.microsoft.com/office/powerpoint/2010/main" val="127673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04" name="Rectangle 5403">
            <a:extLst>
              <a:ext uri="{FF2B5EF4-FFF2-40B4-BE49-F238E27FC236}">
                <a16:creationId xmlns:a16="http://schemas.microsoft.com/office/drawing/2014/main" id="{41209A15-BE9A-862A-0AEB-18C419256C60}"/>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AZURE ARC</a:t>
            </a:r>
          </a:p>
          <a:p>
            <a:pPr algn="l">
              <a:buNone/>
            </a:pPr>
            <a:r>
              <a:rPr lang="en-US" sz="100">
                <a:effectLst/>
              </a:rPr>
              <a:t> </a:t>
            </a:r>
            <a:endParaRPr lang="en-US"/>
          </a:p>
        </p:txBody>
      </p:sp>
      <p:sp>
        <p:nvSpPr>
          <p:cNvPr id="5426" name="Rectangle 5425">
            <a:extLst>
              <a:ext uri="{FF2B5EF4-FFF2-40B4-BE49-F238E27FC236}">
                <a16:creationId xmlns:a16="http://schemas.microsoft.com/office/drawing/2014/main" id="{8ED2CFF1-71A6-F3AB-7824-97D07F3F7ECF}"/>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Visibility across the estate</a:t>
            </a:r>
          </a:p>
          <a:p>
            <a:pPr algn="l">
              <a:buNone/>
            </a:pPr>
            <a:r>
              <a:rPr lang="en-US" sz="100">
                <a:effectLst/>
              </a:rPr>
              <a:t> </a:t>
            </a:r>
            <a:endParaRPr lang="en-US"/>
          </a:p>
        </p:txBody>
      </p:sp>
      <p:sp>
        <p:nvSpPr>
          <p:cNvPr id="5449" name="Rectangle 5448">
            <a:extLst>
              <a:ext uri="{FF2B5EF4-FFF2-40B4-BE49-F238E27FC236}">
                <a16:creationId xmlns:a16="http://schemas.microsoft.com/office/drawing/2014/main" id="{06235251-82DC-D21D-C037-2E5BF0AAF4B8}"/>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73" name="Rectangle 5472">
            <a:extLst>
              <a:ext uri="{FF2B5EF4-FFF2-40B4-BE49-F238E27FC236}">
                <a16:creationId xmlns:a16="http://schemas.microsoft.com/office/drawing/2014/main" id="{D7A7E11A-5444-5B0B-54B1-6EDF9236B929}"/>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5498" name="Rectangle 5497">
            <a:extLst>
              <a:ext uri="{FF2B5EF4-FFF2-40B4-BE49-F238E27FC236}">
                <a16:creationId xmlns:a16="http://schemas.microsoft.com/office/drawing/2014/main" id="{3F9175B4-EDC8-1E59-25EE-3D67026143C7}"/>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13</a:t>
            </a:r>
          </a:p>
          <a:p>
            <a:pPr algn="r">
              <a:buNone/>
            </a:pPr>
            <a:r>
              <a:rPr lang="en-US" sz="100">
                <a:effectLst/>
              </a:rPr>
              <a:t> </a:t>
            </a:r>
            <a:endParaRPr lang="en-US"/>
          </a:p>
        </p:txBody>
      </p:sp>
      <p:sp>
        <p:nvSpPr>
          <p:cNvPr id="5524" name="Rectangle 5523">
            <a:extLst>
              <a:ext uri="{FF2B5EF4-FFF2-40B4-BE49-F238E27FC236}">
                <a16:creationId xmlns:a16="http://schemas.microsoft.com/office/drawing/2014/main" id="{E412FD21-3339-0321-7A8E-0695810D95DA}"/>
              </a:ext>
            </a:extLst>
          </p:cNvPr>
          <p:cNvSpPr/>
          <p:nvPr/>
        </p:nvSpPr>
        <p:spPr>
          <a:xfrm>
            <a:off x="914400" y="1700000"/>
            <a:ext cx="5105400" cy="29956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51" name="Rectangle 5550">
            <a:extLst>
              <a:ext uri="{FF2B5EF4-FFF2-40B4-BE49-F238E27FC236}">
                <a16:creationId xmlns:a16="http://schemas.microsoft.com/office/drawing/2014/main" id="{18386EBF-8B97-27F8-1BF2-EF0AF94E5027}"/>
              </a:ext>
            </a:extLst>
          </p:cNvPr>
          <p:cNvSpPr/>
          <p:nvPr/>
        </p:nvSpPr>
        <p:spPr>
          <a:xfrm>
            <a:off x="1143000" y="1928600"/>
            <a:ext cx="4648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Detailed inventory of your SQL Server estate</a:t>
            </a:r>
          </a:p>
          <a:p>
            <a:pPr algn="l">
              <a:buNone/>
            </a:pPr>
            <a:r>
              <a:rPr lang="en-US" sz="100">
                <a:effectLst/>
              </a:rPr>
              <a:t> </a:t>
            </a:r>
            <a:endParaRPr lang="en-US"/>
          </a:p>
        </p:txBody>
      </p:sp>
      <p:sp>
        <p:nvSpPr>
          <p:cNvPr id="5579" name="Rectangle 5578">
            <a:extLst>
              <a:ext uri="{FF2B5EF4-FFF2-40B4-BE49-F238E27FC236}">
                <a16:creationId xmlns:a16="http://schemas.microsoft.com/office/drawing/2014/main" id="{64FCF605-6D3B-D14C-A1DC-DD15BF4D0AC2}"/>
              </a:ext>
            </a:extLst>
          </p:cNvPr>
          <p:cNvSpPr/>
          <p:nvPr/>
        </p:nvSpPr>
        <p:spPr>
          <a:xfrm>
            <a:off x="1143000" y="2668680"/>
            <a:ext cx="464820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Single view for your entire SQL Server estate</a:t>
            </a:r>
          </a:p>
          <a:p>
            <a:pPr algn="l">
              <a:buNone/>
            </a:pPr>
            <a:r>
              <a:rPr lang="en-US" sz="1400">
                <a:solidFill>
                  <a:srgbClr val="201F1E"/>
                </a:solidFill>
                <a:effectLst/>
                <a:latin typeface="Segoe UI" panose="020B0502040204020203" pitchFamily="34" charset="0"/>
              </a:rPr>
              <a:t> </a:t>
            </a:r>
          </a:p>
          <a:p>
            <a:pPr algn="l">
              <a:buNone/>
            </a:pPr>
            <a:r>
              <a:rPr lang="en-US" sz="1400">
                <a:solidFill>
                  <a:srgbClr val="201F1E"/>
                </a:solidFill>
                <a:effectLst/>
                <a:latin typeface="Segoe UI" panose="020B0502040204020203" pitchFamily="34" charset="0"/>
              </a:rPr>
              <a:t>Detailed inventory information for your SQL Server</a:t>
            </a:r>
          </a:p>
          <a:p>
            <a:pPr algn="l">
              <a:buNone/>
            </a:pPr>
            <a:r>
              <a:rPr lang="en-US" sz="1400">
                <a:solidFill>
                  <a:srgbClr val="201F1E"/>
                </a:solidFill>
                <a:effectLst/>
                <a:latin typeface="Segoe UI" panose="020B0502040204020203" pitchFamily="34" charset="0"/>
              </a:rPr>
              <a:t> </a:t>
            </a:r>
          </a:p>
          <a:p>
            <a:pPr algn="l">
              <a:buNone/>
            </a:pPr>
            <a:r>
              <a:rPr lang="en-US" sz="1400">
                <a:solidFill>
                  <a:srgbClr val="201F1E"/>
                </a:solidFill>
                <a:effectLst/>
                <a:latin typeface="Segoe UI" panose="020B0502040204020203" pitchFamily="34" charset="0"/>
              </a:rPr>
              <a:t>Combine to see Azure SQL and hybrid SQL together</a:t>
            </a:r>
            <a:endParaRPr lang="en-US"/>
          </a:p>
        </p:txBody>
      </p:sp>
      <p:sp>
        <p:nvSpPr>
          <p:cNvPr id="5608" name="Rectangle 5607">
            <a:extLst>
              <a:ext uri="{FF2B5EF4-FFF2-40B4-BE49-F238E27FC236}">
                <a16:creationId xmlns:a16="http://schemas.microsoft.com/office/drawing/2014/main" id="{90879A99-0DAA-BF09-994C-737DBCCAAFE1}"/>
              </a:ext>
            </a:extLst>
          </p:cNvPr>
          <p:cNvSpPr/>
          <p:nvPr/>
        </p:nvSpPr>
        <p:spPr>
          <a:xfrm>
            <a:off x="6172200" y="1700000"/>
            <a:ext cx="5105400" cy="29956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8" name="Rectangle 5637">
            <a:extLst>
              <a:ext uri="{FF2B5EF4-FFF2-40B4-BE49-F238E27FC236}">
                <a16:creationId xmlns:a16="http://schemas.microsoft.com/office/drawing/2014/main" id="{9F7FD683-AFBF-3862-48FE-19279236631A}"/>
              </a:ext>
            </a:extLst>
          </p:cNvPr>
          <p:cNvSpPr/>
          <p:nvPr/>
        </p:nvSpPr>
        <p:spPr>
          <a:xfrm>
            <a:off x="6400800" y="1928600"/>
            <a:ext cx="4648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Segoe UI Semibold" panose="020B0702040204020203" pitchFamily="34" charset="0"/>
              </a:rPr>
              <a:t>Performance monitoring for SQL Server enabled by Azure Arc</a:t>
            </a:r>
          </a:p>
          <a:p>
            <a:pPr algn="l">
              <a:buNone/>
            </a:pPr>
            <a:r>
              <a:rPr lang="en-US" sz="100">
                <a:effectLst/>
              </a:rPr>
              <a:t> </a:t>
            </a:r>
            <a:endParaRPr lang="en-US"/>
          </a:p>
        </p:txBody>
      </p:sp>
      <p:sp>
        <p:nvSpPr>
          <p:cNvPr id="5669" name="Rectangle 5668">
            <a:extLst>
              <a:ext uri="{FF2B5EF4-FFF2-40B4-BE49-F238E27FC236}">
                <a16:creationId xmlns:a16="http://schemas.microsoft.com/office/drawing/2014/main" id="{342E9A15-D06C-CDA1-42BA-0531A0D28606}"/>
              </a:ext>
            </a:extLst>
          </p:cNvPr>
          <p:cNvSpPr/>
          <p:nvPr/>
        </p:nvSpPr>
        <p:spPr>
          <a:xfrm>
            <a:off x="6400800" y="2668680"/>
            <a:ext cx="464820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View key SQL performance metrics in near real time right from the Azure Portal</a:t>
            </a:r>
          </a:p>
          <a:p>
            <a:pPr algn="l">
              <a:buNone/>
            </a:pPr>
            <a:r>
              <a:rPr lang="en-US" sz="1400">
                <a:solidFill>
                  <a:srgbClr val="201F1E"/>
                </a:solidFill>
                <a:effectLst/>
                <a:latin typeface="Segoe UI" panose="020B0502040204020203" pitchFamily="34" charset="0"/>
              </a:rPr>
              <a:t> </a:t>
            </a:r>
          </a:p>
          <a:p>
            <a:pPr algn="l">
              <a:buNone/>
            </a:pPr>
            <a:r>
              <a:rPr lang="en-US" sz="1400">
                <a:solidFill>
                  <a:srgbClr val="201F1E"/>
                </a:solidFill>
                <a:effectLst/>
                <a:latin typeface="Segoe UI" panose="020B0502040204020203" pitchFamily="34" charset="0"/>
              </a:rPr>
              <a:t>Out-of-box monitoring dashboards, with zero additional setup</a:t>
            </a:r>
          </a:p>
          <a:p>
            <a:pPr algn="l">
              <a:buNone/>
            </a:pPr>
            <a:r>
              <a:rPr lang="en-US" sz="1400">
                <a:solidFill>
                  <a:srgbClr val="201F1E"/>
                </a:solidFill>
                <a:effectLst/>
                <a:latin typeface="Segoe UI" panose="020B0502040204020203" pitchFamily="34" charset="0"/>
              </a:rPr>
              <a:t> </a:t>
            </a:r>
          </a:p>
          <a:p>
            <a:pPr algn="l">
              <a:buNone/>
            </a:pPr>
            <a:r>
              <a:rPr lang="en-US" sz="1400">
                <a:solidFill>
                  <a:srgbClr val="201F1E"/>
                </a:solidFill>
                <a:effectLst/>
                <a:latin typeface="Segoe UI" panose="020B0502040204020203" pitchFamily="34" charset="0"/>
              </a:rPr>
              <a:t>All telemetry and logs securely stored in Azure for downstream analysis</a:t>
            </a:r>
            <a:endParaRPr lang="en-US"/>
          </a:p>
        </p:txBody>
      </p:sp>
      <p:sp>
        <p:nvSpPr>
          <p:cNvPr id="5701" name="Rectangle 5700">
            <a:extLst>
              <a:ext uri="{FF2B5EF4-FFF2-40B4-BE49-F238E27FC236}">
                <a16:creationId xmlns:a16="http://schemas.microsoft.com/office/drawing/2014/main" id="{023AF1A9-481E-EADF-0B23-F4D9AB78DE17}"/>
              </a:ext>
            </a:extLst>
          </p:cNvPr>
          <p:cNvSpPr/>
          <p:nvPr/>
        </p:nvSpPr>
        <p:spPr>
          <a:xfrm>
            <a:off x="914400" y="4875600"/>
            <a:ext cx="10363200" cy="10458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4" name="Rectangle 5733">
            <a:extLst>
              <a:ext uri="{FF2B5EF4-FFF2-40B4-BE49-F238E27FC236}">
                <a16:creationId xmlns:a16="http://schemas.microsoft.com/office/drawing/2014/main" id="{EEF744F7-D570-043C-4483-7BB75FA4609B}"/>
              </a:ext>
            </a:extLst>
          </p:cNvPr>
          <p:cNvSpPr/>
          <p:nvPr/>
        </p:nvSpPr>
        <p:spPr>
          <a:xfrm>
            <a:off x="1143000" y="5055600"/>
            <a:ext cx="320040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Reduce risks of incidents, unplanned downtime and security breaches</a:t>
            </a:r>
          </a:p>
          <a:p>
            <a:pPr algn="l">
              <a:buNone/>
            </a:pPr>
            <a:r>
              <a:rPr lang="en-US" sz="100">
                <a:effectLst/>
              </a:rPr>
              <a:t> </a:t>
            </a:r>
            <a:endParaRPr lang="en-US"/>
          </a:p>
        </p:txBody>
      </p:sp>
      <p:sp>
        <p:nvSpPr>
          <p:cNvPr id="5768" name="Rectangle 5767">
            <a:extLst>
              <a:ext uri="{FF2B5EF4-FFF2-40B4-BE49-F238E27FC236}">
                <a16:creationId xmlns:a16="http://schemas.microsoft.com/office/drawing/2014/main" id="{5FFB6043-EF75-CBD5-F537-8FEF52493603}"/>
              </a:ext>
            </a:extLst>
          </p:cNvPr>
          <p:cNvSpPr/>
          <p:nvPr/>
        </p:nvSpPr>
        <p:spPr>
          <a:xfrm>
            <a:off x="4495800" y="5055600"/>
            <a:ext cx="320040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Increase the efficiency of DBA maintenance and troubleshooting</a:t>
            </a:r>
          </a:p>
          <a:p>
            <a:pPr algn="l">
              <a:buNone/>
            </a:pPr>
            <a:r>
              <a:rPr lang="en-US" sz="100">
                <a:effectLst/>
              </a:rPr>
              <a:t> </a:t>
            </a:r>
            <a:endParaRPr lang="en-US"/>
          </a:p>
        </p:txBody>
      </p:sp>
      <p:sp>
        <p:nvSpPr>
          <p:cNvPr id="5803" name="Rectangle 5802">
            <a:extLst>
              <a:ext uri="{FF2B5EF4-FFF2-40B4-BE49-F238E27FC236}">
                <a16:creationId xmlns:a16="http://schemas.microsoft.com/office/drawing/2014/main" id="{ACD853EF-089C-A437-5653-47050849D1EB}"/>
              </a:ext>
            </a:extLst>
          </p:cNvPr>
          <p:cNvSpPr/>
          <p:nvPr/>
        </p:nvSpPr>
        <p:spPr>
          <a:xfrm>
            <a:off x="7848600" y="5055600"/>
            <a:ext cx="320040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Reduce the cost of underlying infrastructure with better capacity planning</a:t>
            </a:r>
          </a:p>
          <a:p>
            <a:pPr algn="l">
              <a:buNone/>
            </a:pPr>
            <a:r>
              <a:rPr lang="en-US" sz="100">
                <a:effectLst/>
              </a:rPr>
              <a:t> </a:t>
            </a:r>
            <a:endParaRPr lang="en-US"/>
          </a:p>
        </p:txBody>
      </p:sp>
    </p:spTree>
    <p:extLst>
      <p:ext uri="{BB962C8B-B14F-4D97-AF65-F5344CB8AC3E}">
        <p14:creationId xmlns:p14="http://schemas.microsoft.com/office/powerpoint/2010/main" val="3606406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982" name="Rectangle 22981">
            <a:extLst>
              <a:ext uri="{FF2B5EF4-FFF2-40B4-BE49-F238E27FC236}">
                <a16:creationId xmlns:a16="http://schemas.microsoft.com/office/drawing/2014/main" id="{EF310C50-B9AB-8900-B4D7-59A2C6B6E8EB}"/>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AZURE ACCELERATE</a:t>
            </a:r>
          </a:p>
          <a:p>
            <a:pPr algn="l">
              <a:buNone/>
            </a:pPr>
            <a:r>
              <a:rPr lang="en-US" sz="100">
                <a:effectLst/>
              </a:rPr>
              <a:t> </a:t>
            </a:r>
            <a:endParaRPr lang="en-US"/>
          </a:p>
        </p:txBody>
      </p:sp>
      <p:sp>
        <p:nvSpPr>
          <p:cNvPr id="23040" name="Rectangle 23039">
            <a:extLst>
              <a:ext uri="{FF2B5EF4-FFF2-40B4-BE49-F238E27FC236}">
                <a16:creationId xmlns:a16="http://schemas.microsoft.com/office/drawing/2014/main" id="{DFF7F373-619D-1BFD-45EB-36BDC23644B7}"/>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Cloud Accelerate Factory</a:t>
            </a:r>
          </a:p>
          <a:p>
            <a:pPr algn="l">
              <a:buNone/>
            </a:pPr>
            <a:r>
              <a:rPr lang="en-US" sz="100">
                <a:effectLst/>
              </a:rPr>
              <a:t> </a:t>
            </a:r>
            <a:endParaRPr lang="en-US"/>
          </a:p>
        </p:txBody>
      </p:sp>
      <p:sp>
        <p:nvSpPr>
          <p:cNvPr id="23099" name="Rectangle 23098">
            <a:extLst>
              <a:ext uri="{FF2B5EF4-FFF2-40B4-BE49-F238E27FC236}">
                <a16:creationId xmlns:a16="http://schemas.microsoft.com/office/drawing/2014/main" id="{79A724C9-73C5-5C26-12B2-CC94E8078C44}"/>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59" name="Rectangle 23158">
            <a:extLst>
              <a:ext uri="{FF2B5EF4-FFF2-40B4-BE49-F238E27FC236}">
                <a16:creationId xmlns:a16="http://schemas.microsoft.com/office/drawing/2014/main" id="{7AC6833B-17C5-5841-C144-1EC2B3A071BD}"/>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3220" name="Rectangle 23219">
            <a:extLst>
              <a:ext uri="{FF2B5EF4-FFF2-40B4-BE49-F238E27FC236}">
                <a16:creationId xmlns:a16="http://schemas.microsoft.com/office/drawing/2014/main" id="{94037612-A736-330C-AB2F-12D7A4AAA0B1}"/>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14</a:t>
            </a:r>
          </a:p>
          <a:p>
            <a:pPr algn="r">
              <a:buNone/>
            </a:pPr>
            <a:r>
              <a:rPr lang="en-US" sz="100">
                <a:effectLst/>
              </a:rPr>
              <a:t> </a:t>
            </a:r>
            <a:endParaRPr lang="en-US"/>
          </a:p>
        </p:txBody>
      </p:sp>
      <p:sp>
        <p:nvSpPr>
          <p:cNvPr id="23282" name="Rectangle 23281">
            <a:extLst>
              <a:ext uri="{FF2B5EF4-FFF2-40B4-BE49-F238E27FC236}">
                <a16:creationId xmlns:a16="http://schemas.microsoft.com/office/drawing/2014/main" id="{CC8C4156-71FF-6EFC-10B0-2640A9C9FD50}"/>
              </a:ext>
            </a:extLst>
          </p:cNvPr>
          <p:cNvSpPr/>
          <p:nvPr/>
        </p:nvSpPr>
        <p:spPr>
          <a:xfrm>
            <a:off x="914400" y="1620000"/>
            <a:ext cx="103632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Jumpstart Azure projects with zero-cost deployment from Microsoft experts</a:t>
            </a:r>
          </a:p>
          <a:p>
            <a:pPr algn="l">
              <a:buNone/>
            </a:pPr>
            <a:r>
              <a:rPr lang="en-US" sz="100">
                <a:effectLst/>
              </a:rPr>
              <a:t> </a:t>
            </a:r>
            <a:endParaRPr lang="en-US"/>
          </a:p>
        </p:txBody>
      </p:sp>
      <p:sp>
        <p:nvSpPr>
          <p:cNvPr id="23345" name="Rectangle 23344">
            <a:extLst>
              <a:ext uri="{FF2B5EF4-FFF2-40B4-BE49-F238E27FC236}">
                <a16:creationId xmlns:a16="http://schemas.microsoft.com/office/drawing/2014/main" id="{07151558-9DAA-8CBE-FEC7-6A79F51BCAD7}"/>
              </a:ext>
            </a:extLst>
          </p:cNvPr>
          <p:cNvSpPr/>
          <p:nvPr/>
        </p:nvSpPr>
        <p:spPr>
          <a:xfrm>
            <a:off x="914400" y="2150000"/>
            <a:ext cx="3352800" cy="219836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09" name="Rectangle 23408">
            <a:extLst>
              <a:ext uri="{FF2B5EF4-FFF2-40B4-BE49-F238E27FC236}">
                <a16:creationId xmlns:a16="http://schemas.microsoft.com/office/drawing/2014/main" id="{783F3C88-A7FC-D0A1-D8FB-8F9419FF341A}"/>
              </a:ext>
            </a:extLst>
          </p:cNvPr>
          <p:cNvSpPr/>
          <p:nvPr/>
        </p:nvSpPr>
        <p:spPr>
          <a:xfrm>
            <a:off x="1143000" y="2378600"/>
            <a:ext cx="2895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Get zero-cost</a:t>
            </a:r>
          </a:p>
          <a:p>
            <a:pPr algn="l">
              <a:buNone/>
            </a:pPr>
            <a:r>
              <a:rPr lang="en-US" sz="1600" b="1">
                <a:solidFill>
                  <a:srgbClr val="004578"/>
                </a:solidFill>
                <a:effectLst/>
                <a:latin typeface="Segoe UI Semibold" panose="020B0702040204020203" pitchFamily="34" charset="0"/>
              </a:rPr>
              <a:t>deployment assistance</a:t>
            </a:r>
            <a:endParaRPr lang="en-US"/>
          </a:p>
        </p:txBody>
      </p:sp>
      <p:sp>
        <p:nvSpPr>
          <p:cNvPr id="23474" name="Rectangle 23473">
            <a:extLst>
              <a:ext uri="{FF2B5EF4-FFF2-40B4-BE49-F238E27FC236}">
                <a16:creationId xmlns:a16="http://schemas.microsoft.com/office/drawing/2014/main" id="{8F9FF420-0482-C1B9-4BB3-F493B829A355}"/>
              </a:ext>
            </a:extLst>
          </p:cNvPr>
          <p:cNvSpPr/>
          <p:nvPr/>
        </p:nvSpPr>
        <p:spPr>
          <a:xfrm>
            <a:off x="1143000" y="3037720"/>
            <a:ext cx="2895600" cy="1082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Microsoft assistance to deploy 30+ Azure services via joint delivery with an Azure partner, no matter the project size</a:t>
            </a:r>
          </a:p>
          <a:p>
            <a:pPr algn="l">
              <a:buNone/>
            </a:pPr>
            <a:r>
              <a:rPr lang="en-US" sz="100">
                <a:effectLst/>
              </a:rPr>
              <a:t> </a:t>
            </a:r>
            <a:endParaRPr lang="en-US"/>
          </a:p>
        </p:txBody>
      </p:sp>
      <p:sp>
        <p:nvSpPr>
          <p:cNvPr id="23540" name="Rectangle 23539">
            <a:extLst>
              <a:ext uri="{FF2B5EF4-FFF2-40B4-BE49-F238E27FC236}">
                <a16:creationId xmlns:a16="http://schemas.microsoft.com/office/drawing/2014/main" id="{99B7FE8A-AFE7-01CC-F564-AC45D27988B8}"/>
              </a:ext>
            </a:extLst>
          </p:cNvPr>
          <p:cNvSpPr/>
          <p:nvPr/>
        </p:nvSpPr>
        <p:spPr>
          <a:xfrm>
            <a:off x="4419600" y="2150000"/>
            <a:ext cx="3352800" cy="219836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07" name="Rectangle 23606">
            <a:extLst>
              <a:ext uri="{FF2B5EF4-FFF2-40B4-BE49-F238E27FC236}">
                <a16:creationId xmlns:a16="http://schemas.microsoft.com/office/drawing/2014/main" id="{1018CB1A-5E5E-B60E-CA3C-58A6CBD46681}"/>
              </a:ext>
            </a:extLst>
          </p:cNvPr>
          <p:cNvSpPr/>
          <p:nvPr/>
        </p:nvSpPr>
        <p:spPr>
          <a:xfrm>
            <a:off x="4648200" y="2378600"/>
            <a:ext cx="28956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Accelerate with</a:t>
            </a:r>
          </a:p>
          <a:p>
            <a:pPr algn="l">
              <a:buNone/>
            </a:pPr>
            <a:r>
              <a:rPr lang="en-US" sz="1600" b="1">
                <a:solidFill>
                  <a:srgbClr val="004578"/>
                </a:solidFill>
                <a:effectLst/>
                <a:latin typeface="Segoe UI Semibold" panose="020B0702040204020203" pitchFamily="34" charset="0"/>
              </a:rPr>
              <a:t>industry best</a:t>
            </a:r>
          </a:p>
          <a:p>
            <a:pPr algn="l">
              <a:buNone/>
            </a:pPr>
            <a:r>
              <a:rPr lang="en-US" sz="1600" b="1">
                <a:solidFill>
                  <a:srgbClr val="004578"/>
                </a:solidFill>
                <a:effectLst/>
                <a:latin typeface="Segoe UI Semibold" panose="020B0702040204020203" pitchFamily="34" charset="0"/>
              </a:rPr>
              <a:t>practices</a:t>
            </a:r>
            <a:endParaRPr lang="en-US"/>
          </a:p>
        </p:txBody>
      </p:sp>
      <p:sp>
        <p:nvSpPr>
          <p:cNvPr id="23675" name="Rectangle 23674">
            <a:extLst>
              <a:ext uri="{FF2B5EF4-FFF2-40B4-BE49-F238E27FC236}">
                <a16:creationId xmlns:a16="http://schemas.microsoft.com/office/drawing/2014/main" id="{EB920DAD-4696-6EE0-8ED0-0863F1E0CC77}"/>
              </a:ext>
            </a:extLst>
          </p:cNvPr>
          <p:cNvSpPr/>
          <p:nvPr/>
        </p:nvSpPr>
        <p:spPr>
          <a:xfrm>
            <a:off x="4648200" y="3281560"/>
            <a:ext cx="289560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Proven strategies developed over thousands of customer engagements</a:t>
            </a:r>
          </a:p>
          <a:p>
            <a:pPr algn="l">
              <a:buNone/>
            </a:pPr>
            <a:r>
              <a:rPr lang="en-US" sz="100">
                <a:effectLst/>
              </a:rPr>
              <a:t> </a:t>
            </a:r>
            <a:endParaRPr lang="en-US"/>
          </a:p>
        </p:txBody>
      </p:sp>
      <p:sp>
        <p:nvSpPr>
          <p:cNvPr id="23744" name="Rectangle 23743">
            <a:extLst>
              <a:ext uri="{FF2B5EF4-FFF2-40B4-BE49-F238E27FC236}">
                <a16:creationId xmlns:a16="http://schemas.microsoft.com/office/drawing/2014/main" id="{3E954EB1-065B-11A7-20F8-46BBE1E2AAC6}"/>
              </a:ext>
            </a:extLst>
          </p:cNvPr>
          <p:cNvSpPr/>
          <p:nvPr/>
        </p:nvSpPr>
        <p:spPr>
          <a:xfrm>
            <a:off x="7924800" y="2150000"/>
            <a:ext cx="3352800" cy="219836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14" name="Rectangle 23813">
            <a:extLst>
              <a:ext uri="{FF2B5EF4-FFF2-40B4-BE49-F238E27FC236}">
                <a16:creationId xmlns:a16="http://schemas.microsoft.com/office/drawing/2014/main" id="{60DA34A5-A7B5-4EB7-8DFE-57485CB00906}"/>
              </a:ext>
            </a:extLst>
          </p:cNvPr>
          <p:cNvSpPr/>
          <p:nvPr/>
        </p:nvSpPr>
        <p:spPr>
          <a:xfrm>
            <a:off x="8153400" y="2378600"/>
            <a:ext cx="2895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Unlock and scale your</a:t>
            </a:r>
          </a:p>
          <a:p>
            <a:pPr algn="l">
              <a:buNone/>
            </a:pPr>
            <a:r>
              <a:rPr lang="en-US" sz="1600" b="1">
                <a:solidFill>
                  <a:srgbClr val="004578"/>
                </a:solidFill>
                <a:effectLst/>
                <a:latin typeface="Segoe UI Semibold" panose="020B0702040204020203" pitchFamily="34" charset="0"/>
              </a:rPr>
              <a:t>resources</a:t>
            </a:r>
            <a:endParaRPr lang="en-US"/>
          </a:p>
        </p:txBody>
      </p:sp>
      <p:sp>
        <p:nvSpPr>
          <p:cNvPr id="23885" name="Rectangle 23884">
            <a:extLst>
              <a:ext uri="{FF2B5EF4-FFF2-40B4-BE49-F238E27FC236}">
                <a16:creationId xmlns:a16="http://schemas.microsoft.com/office/drawing/2014/main" id="{3ED0B1E4-DC2D-0E13-16B3-189950441ED3}"/>
              </a:ext>
            </a:extLst>
          </p:cNvPr>
          <p:cNvSpPr/>
          <p:nvPr/>
        </p:nvSpPr>
        <p:spPr>
          <a:xfrm>
            <a:off x="8153400" y="3037720"/>
            <a:ext cx="289560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Prioritise funding and skilled resources for more advanced components to boost business impact</a:t>
            </a:r>
          </a:p>
          <a:p>
            <a:pPr algn="l">
              <a:buNone/>
            </a:pPr>
            <a:r>
              <a:rPr lang="en-US" sz="100">
                <a:effectLst/>
              </a:rPr>
              <a:t> </a:t>
            </a:r>
            <a:endParaRPr lang="en-US"/>
          </a:p>
        </p:txBody>
      </p:sp>
      <p:sp>
        <p:nvSpPr>
          <p:cNvPr id="23957" name="Rectangle 23956">
            <a:extLst>
              <a:ext uri="{FF2B5EF4-FFF2-40B4-BE49-F238E27FC236}">
                <a16:creationId xmlns:a16="http://schemas.microsoft.com/office/drawing/2014/main" id="{5BAD3B08-330F-E584-D50F-703B18D575E2}"/>
              </a:ext>
            </a:extLst>
          </p:cNvPr>
          <p:cNvSpPr/>
          <p:nvPr/>
        </p:nvSpPr>
        <p:spPr>
          <a:xfrm>
            <a:off x="914400" y="4598360"/>
            <a:ext cx="10363200" cy="937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30" name="Rectangle 24029">
            <a:extLst>
              <a:ext uri="{FF2B5EF4-FFF2-40B4-BE49-F238E27FC236}">
                <a16:creationId xmlns:a16="http://schemas.microsoft.com/office/drawing/2014/main" id="{F0296CB9-2989-2DE8-1949-D4AF17CBEDE8}"/>
              </a:ext>
            </a:extLst>
          </p:cNvPr>
          <p:cNvSpPr/>
          <p:nvPr/>
        </p:nvSpPr>
        <p:spPr>
          <a:xfrm>
            <a:off x="1143000" y="4778360"/>
            <a:ext cx="1900000" cy="57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605E5C"/>
                </a:solidFill>
                <a:effectLst/>
                <a:latin typeface="Segoe UI Semibold" panose="020B0702040204020203" pitchFamily="34" charset="0"/>
              </a:rPr>
              <a:t>SCOPE</a:t>
            </a:r>
          </a:p>
          <a:p>
            <a:pPr algn="l">
              <a:buNone/>
            </a:pPr>
            <a:r>
              <a:rPr lang="en-US" sz="1200" b="1" spc="100">
                <a:solidFill>
                  <a:srgbClr val="605E5C"/>
                </a:solidFill>
                <a:effectLst/>
                <a:latin typeface="Segoe UI Semibold" panose="020B0702040204020203" pitchFamily="34" charset="0"/>
              </a:rPr>
              <a:t>ITEMS</a:t>
            </a:r>
            <a:endParaRPr lang="en-US"/>
          </a:p>
        </p:txBody>
      </p:sp>
      <p:sp>
        <p:nvSpPr>
          <p:cNvPr id="24104" name="Rectangle: Rounded Corners 24103">
            <a:extLst>
              <a:ext uri="{FF2B5EF4-FFF2-40B4-BE49-F238E27FC236}">
                <a16:creationId xmlns:a16="http://schemas.microsoft.com/office/drawing/2014/main" id="{1F42053E-2484-9374-AB18-EC912646B8A1}"/>
              </a:ext>
            </a:extLst>
          </p:cNvPr>
          <p:cNvSpPr/>
          <p:nvPr/>
        </p:nvSpPr>
        <p:spPr>
          <a:xfrm>
            <a:off x="3200000" y="4778360"/>
            <a:ext cx="2540466" cy="5772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Migrate Infrastructure</a:t>
            </a:r>
          </a:p>
          <a:p>
            <a:pPr algn="ctr">
              <a:buNone/>
            </a:pPr>
            <a:r>
              <a:rPr lang="en-US" sz="1200">
                <a:solidFill>
                  <a:srgbClr val="FFFFFF"/>
                </a:solidFill>
                <a:effectLst/>
                <a:latin typeface="Segoe UI" panose="020B0502040204020203" pitchFamily="34" charset="0"/>
              </a:rPr>
              <a:t>and Databases</a:t>
            </a:r>
            <a:endParaRPr lang="en-US"/>
          </a:p>
        </p:txBody>
      </p:sp>
      <p:sp>
        <p:nvSpPr>
          <p:cNvPr id="24179" name="Rectangle: Rounded Corners 24178">
            <a:extLst>
              <a:ext uri="{FF2B5EF4-FFF2-40B4-BE49-F238E27FC236}">
                <a16:creationId xmlns:a16="http://schemas.microsoft.com/office/drawing/2014/main" id="{285A1602-5430-0D3B-E70B-73FFA6A5611D}"/>
              </a:ext>
            </a:extLst>
          </p:cNvPr>
          <p:cNvSpPr/>
          <p:nvPr/>
        </p:nvSpPr>
        <p:spPr>
          <a:xfrm>
            <a:off x="5854766" y="4778360"/>
            <a:ext cx="2540466" cy="5772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Modernize SQL, OSS &amp;</a:t>
            </a:r>
          </a:p>
          <a:p>
            <a:pPr algn="ctr">
              <a:buNone/>
            </a:pPr>
            <a:r>
              <a:rPr lang="en-US" sz="1200">
                <a:solidFill>
                  <a:srgbClr val="FFFFFF"/>
                </a:solidFill>
                <a:effectLst/>
                <a:latin typeface="Segoe UI" panose="020B0502040204020203" pitchFamily="34" charset="0"/>
              </a:rPr>
              <a:t>NoSQL Database to PaaS</a:t>
            </a:r>
            <a:endParaRPr lang="en-US"/>
          </a:p>
        </p:txBody>
      </p:sp>
      <p:sp>
        <p:nvSpPr>
          <p:cNvPr id="24255" name="Rectangle: Rounded Corners 24254">
            <a:extLst>
              <a:ext uri="{FF2B5EF4-FFF2-40B4-BE49-F238E27FC236}">
                <a16:creationId xmlns:a16="http://schemas.microsoft.com/office/drawing/2014/main" id="{9A8D9EEC-5350-AD4F-1A34-653BCF1339F5}"/>
              </a:ext>
            </a:extLst>
          </p:cNvPr>
          <p:cNvSpPr/>
          <p:nvPr/>
        </p:nvSpPr>
        <p:spPr>
          <a:xfrm>
            <a:off x="8509532" y="4778360"/>
            <a:ext cx="2540466" cy="5772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Deploy Arc (Windows/SQL</a:t>
            </a:r>
          </a:p>
          <a:p>
            <a:pPr algn="ctr">
              <a:buNone/>
            </a:pPr>
            <a:r>
              <a:rPr lang="en-US" sz="1200">
                <a:solidFill>
                  <a:srgbClr val="FFFFFF"/>
                </a:solidFill>
                <a:effectLst/>
                <a:latin typeface="Segoe UI" panose="020B0502040204020203" pitchFamily="34" charset="0"/>
              </a:rPr>
              <a:t>Arc)</a:t>
            </a:r>
            <a:endParaRPr lang="en-US"/>
          </a:p>
        </p:txBody>
      </p:sp>
    </p:spTree>
    <p:extLst>
      <p:ext uri="{BB962C8B-B14F-4D97-AF65-F5344CB8AC3E}">
        <p14:creationId xmlns:p14="http://schemas.microsoft.com/office/powerpoint/2010/main" val="1215552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78" name="Rectangle 16777">
            <a:extLst>
              <a:ext uri="{FF2B5EF4-FFF2-40B4-BE49-F238E27FC236}">
                <a16:creationId xmlns:a16="http://schemas.microsoft.com/office/drawing/2014/main" id="{6657E410-B622-DD54-B8F0-52EC5F7D1C10}"/>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NEW OFFER  ·  SQL SERVER 2016 ON AZURE VMs</a:t>
            </a:r>
          </a:p>
          <a:p>
            <a:pPr algn="l">
              <a:buNone/>
            </a:pPr>
            <a:r>
              <a:rPr lang="en-US" sz="100">
                <a:effectLst/>
              </a:rPr>
              <a:t> </a:t>
            </a:r>
            <a:endParaRPr lang="en-US"/>
          </a:p>
        </p:txBody>
      </p:sp>
      <p:sp>
        <p:nvSpPr>
          <p:cNvPr id="16800" name="Rectangle 16799">
            <a:extLst>
              <a:ext uri="{FF2B5EF4-FFF2-40B4-BE49-F238E27FC236}">
                <a16:creationId xmlns:a16="http://schemas.microsoft.com/office/drawing/2014/main" id="{A9E88034-B240-F9E7-A24C-18154E6DD5D1}"/>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Zero-cost modernisation offer</a:t>
            </a:r>
          </a:p>
          <a:p>
            <a:pPr algn="l">
              <a:buNone/>
            </a:pPr>
            <a:r>
              <a:rPr lang="en-US" sz="100">
                <a:effectLst/>
              </a:rPr>
              <a:t> </a:t>
            </a:r>
            <a:endParaRPr lang="en-US"/>
          </a:p>
        </p:txBody>
      </p:sp>
      <p:sp>
        <p:nvSpPr>
          <p:cNvPr id="16823" name="Rectangle 16822">
            <a:extLst>
              <a:ext uri="{FF2B5EF4-FFF2-40B4-BE49-F238E27FC236}">
                <a16:creationId xmlns:a16="http://schemas.microsoft.com/office/drawing/2014/main" id="{771355C7-B28B-A2B3-A9AA-3711FB3A9C81}"/>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47" name="Rectangle 16846">
            <a:extLst>
              <a:ext uri="{FF2B5EF4-FFF2-40B4-BE49-F238E27FC236}">
                <a16:creationId xmlns:a16="http://schemas.microsoft.com/office/drawing/2014/main" id="{A1575A67-EC95-2EF1-F929-560284870060}"/>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6872" name="Rectangle 16871">
            <a:extLst>
              <a:ext uri="{FF2B5EF4-FFF2-40B4-BE49-F238E27FC236}">
                <a16:creationId xmlns:a16="http://schemas.microsoft.com/office/drawing/2014/main" id="{24C63369-F9AD-A81E-3495-E85C84F205C8}"/>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15</a:t>
            </a:r>
          </a:p>
          <a:p>
            <a:pPr algn="r">
              <a:buNone/>
            </a:pPr>
            <a:r>
              <a:rPr lang="en-US" sz="100">
                <a:effectLst/>
              </a:rPr>
              <a:t> </a:t>
            </a:r>
            <a:endParaRPr lang="en-US"/>
          </a:p>
        </p:txBody>
      </p:sp>
      <p:sp>
        <p:nvSpPr>
          <p:cNvPr id="16898" name="Rectangle 16897">
            <a:extLst>
              <a:ext uri="{FF2B5EF4-FFF2-40B4-BE49-F238E27FC236}">
                <a16:creationId xmlns:a16="http://schemas.microsoft.com/office/drawing/2014/main" id="{1497DAFD-A98D-C347-F3F8-B1573E5C5059}"/>
              </a:ext>
            </a:extLst>
          </p:cNvPr>
          <p:cNvSpPr/>
          <p:nvPr/>
        </p:nvSpPr>
        <p:spPr>
          <a:xfrm>
            <a:off x="914400" y="1700000"/>
            <a:ext cx="2476500" cy="332612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25" name="Rectangle 16924">
            <a:extLst>
              <a:ext uri="{FF2B5EF4-FFF2-40B4-BE49-F238E27FC236}">
                <a16:creationId xmlns:a16="http://schemas.microsoft.com/office/drawing/2014/main" id="{94D4B1F4-E86B-62F3-6616-9A6B4E9C896C}"/>
              </a:ext>
            </a:extLst>
          </p:cNvPr>
          <p:cNvSpPr/>
          <p:nvPr/>
        </p:nvSpPr>
        <p:spPr>
          <a:xfrm>
            <a:off x="1028700" y="1814300"/>
            <a:ext cx="2247900" cy="40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Who's eligible</a:t>
            </a:r>
          </a:p>
          <a:p>
            <a:pPr algn="l">
              <a:buNone/>
            </a:pPr>
            <a:r>
              <a:rPr lang="en-US" sz="100">
                <a:effectLst/>
              </a:rPr>
              <a:t> </a:t>
            </a:r>
            <a:endParaRPr lang="en-US"/>
          </a:p>
        </p:txBody>
      </p:sp>
      <p:sp>
        <p:nvSpPr>
          <p:cNvPr id="16953" name="Rectangle 16952">
            <a:extLst>
              <a:ext uri="{FF2B5EF4-FFF2-40B4-BE49-F238E27FC236}">
                <a16:creationId xmlns:a16="http://schemas.microsoft.com/office/drawing/2014/main" id="{32659A52-5A0A-0A2E-7D0D-EDB8F567E2B1}"/>
              </a:ext>
            </a:extLst>
          </p:cNvPr>
          <p:cNvSpPr/>
          <p:nvPr/>
        </p:nvSpPr>
        <p:spPr>
          <a:xfrm>
            <a:off x="1028700" y="2214340"/>
            <a:ext cx="2247900" cy="1280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All customers who are running SQL Server 2016 on Azure VMs across all industries and project sizes.</a:t>
            </a:r>
          </a:p>
          <a:p>
            <a:pPr algn="l">
              <a:buNone/>
            </a:pPr>
            <a:r>
              <a:rPr lang="en-US" sz="100">
                <a:effectLst/>
              </a:rPr>
              <a:t> </a:t>
            </a:r>
            <a:endParaRPr lang="en-US"/>
          </a:p>
        </p:txBody>
      </p:sp>
      <p:sp>
        <p:nvSpPr>
          <p:cNvPr id="16982" name="Rectangle 16981">
            <a:extLst>
              <a:ext uri="{FF2B5EF4-FFF2-40B4-BE49-F238E27FC236}">
                <a16:creationId xmlns:a16="http://schemas.microsoft.com/office/drawing/2014/main" id="{C7BF425B-1755-75FC-D46B-9365A180E561}"/>
              </a:ext>
            </a:extLst>
          </p:cNvPr>
          <p:cNvSpPr/>
          <p:nvPr/>
        </p:nvSpPr>
        <p:spPr>
          <a:xfrm>
            <a:off x="3543300" y="1700000"/>
            <a:ext cx="2476500" cy="332612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12" name="Rectangle 17011">
            <a:extLst>
              <a:ext uri="{FF2B5EF4-FFF2-40B4-BE49-F238E27FC236}">
                <a16:creationId xmlns:a16="http://schemas.microsoft.com/office/drawing/2014/main" id="{E00FEBF5-D389-ACD6-12DA-5CDF40D7E5C8}"/>
              </a:ext>
            </a:extLst>
          </p:cNvPr>
          <p:cNvSpPr/>
          <p:nvPr/>
        </p:nvSpPr>
        <p:spPr>
          <a:xfrm>
            <a:off x="3657600" y="1814300"/>
            <a:ext cx="22479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What's the</a:t>
            </a:r>
          </a:p>
          <a:p>
            <a:pPr algn="l">
              <a:buNone/>
            </a:pPr>
            <a:r>
              <a:rPr lang="en-US" sz="1500" b="1">
                <a:solidFill>
                  <a:srgbClr val="004578"/>
                </a:solidFill>
                <a:effectLst/>
                <a:latin typeface="Segoe UI Semibold" panose="020B0702040204020203" pitchFamily="34" charset="0"/>
              </a:rPr>
              <a:t>project scope</a:t>
            </a:r>
            <a:endParaRPr lang="en-US"/>
          </a:p>
        </p:txBody>
      </p:sp>
      <p:sp>
        <p:nvSpPr>
          <p:cNvPr id="17043" name="Rectangle 17042">
            <a:extLst>
              <a:ext uri="{FF2B5EF4-FFF2-40B4-BE49-F238E27FC236}">
                <a16:creationId xmlns:a16="http://schemas.microsoft.com/office/drawing/2014/main" id="{C8BBEE30-462D-FB08-0096-C8F0EE3D7B56}"/>
              </a:ext>
            </a:extLst>
          </p:cNvPr>
          <p:cNvSpPr/>
          <p:nvPr/>
        </p:nvSpPr>
        <p:spPr>
          <a:xfrm>
            <a:off x="3657600" y="2442940"/>
            <a:ext cx="2247900" cy="2468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Modernise SQL Server 2016 workloads to Azure SQL Managed Instance at zero cost. The project will be a joint delivery where customers own development and testing of any business logic changes.</a:t>
            </a:r>
          </a:p>
          <a:p>
            <a:pPr algn="l">
              <a:buNone/>
            </a:pPr>
            <a:r>
              <a:rPr lang="en-US" sz="100">
                <a:effectLst/>
              </a:rPr>
              <a:t> </a:t>
            </a:r>
            <a:endParaRPr lang="en-US"/>
          </a:p>
        </p:txBody>
      </p:sp>
      <p:sp>
        <p:nvSpPr>
          <p:cNvPr id="17075" name="Rectangle 17074">
            <a:extLst>
              <a:ext uri="{FF2B5EF4-FFF2-40B4-BE49-F238E27FC236}">
                <a16:creationId xmlns:a16="http://schemas.microsoft.com/office/drawing/2014/main" id="{BADF6CDD-409E-E8B5-288C-5E2F12B0952A}"/>
              </a:ext>
            </a:extLst>
          </p:cNvPr>
          <p:cNvSpPr/>
          <p:nvPr/>
        </p:nvSpPr>
        <p:spPr>
          <a:xfrm>
            <a:off x="6172200" y="1700000"/>
            <a:ext cx="2476500" cy="332612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08" name="Rectangle 17107">
            <a:extLst>
              <a:ext uri="{FF2B5EF4-FFF2-40B4-BE49-F238E27FC236}">
                <a16:creationId xmlns:a16="http://schemas.microsoft.com/office/drawing/2014/main" id="{C5416311-14EF-E326-A843-D4387D526362}"/>
              </a:ext>
            </a:extLst>
          </p:cNvPr>
          <p:cNvSpPr/>
          <p:nvPr/>
        </p:nvSpPr>
        <p:spPr>
          <a:xfrm>
            <a:off x="6286500" y="1814300"/>
            <a:ext cx="22479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How to get</a:t>
            </a:r>
          </a:p>
          <a:p>
            <a:pPr algn="l">
              <a:buNone/>
            </a:pPr>
            <a:r>
              <a:rPr lang="en-US" sz="1500" b="1">
                <a:solidFill>
                  <a:srgbClr val="004578"/>
                </a:solidFill>
                <a:effectLst/>
                <a:latin typeface="Segoe UI Semibold" panose="020B0702040204020203" pitchFamily="34" charset="0"/>
              </a:rPr>
              <a:t>started</a:t>
            </a:r>
            <a:endParaRPr lang="en-US"/>
          </a:p>
        </p:txBody>
      </p:sp>
      <p:sp>
        <p:nvSpPr>
          <p:cNvPr id="17142" name="Rectangle 17141">
            <a:extLst>
              <a:ext uri="{FF2B5EF4-FFF2-40B4-BE49-F238E27FC236}">
                <a16:creationId xmlns:a16="http://schemas.microsoft.com/office/drawing/2014/main" id="{C3827790-7581-E7E2-10BF-3199286034EF}"/>
              </a:ext>
            </a:extLst>
          </p:cNvPr>
          <p:cNvSpPr/>
          <p:nvPr/>
        </p:nvSpPr>
        <p:spPr>
          <a:xfrm>
            <a:off x="6286500" y="2442940"/>
            <a:ext cx="2247900" cy="1874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For managed customers, reach out to your Microsoft account team. For unmanaged customers, work with an Azure partner to request Factory support and get nominated.</a:t>
            </a:r>
          </a:p>
          <a:p>
            <a:pPr algn="l">
              <a:buNone/>
            </a:pPr>
            <a:r>
              <a:rPr lang="en-US" sz="100">
                <a:effectLst/>
              </a:rPr>
              <a:t> </a:t>
            </a:r>
            <a:endParaRPr lang="en-US"/>
          </a:p>
        </p:txBody>
      </p:sp>
      <p:sp>
        <p:nvSpPr>
          <p:cNvPr id="17177" name="Rectangle 17176">
            <a:extLst>
              <a:ext uri="{FF2B5EF4-FFF2-40B4-BE49-F238E27FC236}">
                <a16:creationId xmlns:a16="http://schemas.microsoft.com/office/drawing/2014/main" id="{F194106E-5C5C-1AF4-00DF-FD41975B3E71}"/>
              </a:ext>
            </a:extLst>
          </p:cNvPr>
          <p:cNvSpPr/>
          <p:nvPr/>
        </p:nvSpPr>
        <p:spPr>
          <a:xfrm>
            <a:off x="8801100" y="1700000"/>
            <a:ext cx="2476500" cy="332612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13" name="Rectangle 17212">
            <a:extLst>
              <a:ext uri="{FF2B5EF4-FFF2-40B4-BE49-F238E27FC236}">
                <a16:creationId xmlns:a16="http://schemas.microsoft.com/office/drawing/2014/main" id="{2BE3748A-97B8-0BA3-8DC1-007A35A47712}"/>
              </a:ext>
            </a:extLst>
          </p:cNvPr>
          <p:cNvSpPr/>
          <p:nvPr/>
        </p:nvSpPr>
        <p:spPr>
          <a:xfrm>
            <a:off x="8915400" y="1814300"/>
            <a:ext cx="22479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004578"/>
                </a:solidFill>
                <a:effectLst/>
                <a:latin typeface="Segoe UI Semibold" panose="020B0702040204020203" pitchFamily="34" charset="0"/>
              </a:rPr>
              <a:t>Is this offer</a:t>
            </a:r>
          </a:p>
          <a:p>
            <a:pPr algn="l">
              <a:buNone/>
            </a:pPr>
            <a:r>
              <a:rPr lang="en-US" sz="1500" b="1">
                <a:solidFill>
                  <a:srgbClr val="004578"/>
                </a:solidFill>
                <a:effectLst/>
                <a:latin typeface="Segoe UI Semibold" panose="020B0702040204020203" pitchFamily="34" charset="0"/>
              </a:rPr>
              <a:t>time-bound</a:t>
            </a:r>
            <a:endParaRPr lang="en-US"/>
          </a:p>
        </p:txBody>
      </p:sp>
      <p:sp>
        <p:nvSpPr>
          <p:cNvPr id="17250" name="Rectangle 17249">
            <a:extLst>
              <a:ext uri="{FF2B5EF4-FFF2-40B4-BE49-F238E27FC236}">
                <a16:creationId xmlns:a16="http://schemas.microsoft.com/office/drawing/2014/main" id="{3FBCE155-2734-99C8-101C-741314C2F8DC}"/>
              </a:ext>
            </a:extLst>
          </p:cNvPr>
          <p:cNvSpPr/>
          <p:nvPr/>
        </p:nvSpPr>
        <p:spPr>
          <a:xfrm>
            <a:off x="8915400" y="2442940"/>
            <a:ext cx="2247900" cy="1874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The Cloud Accelerate Factory modernisation offer is available through 13 July 2027, which corresponds to the end of Year 1 of SQL Server 2016 Extended Security Updates.</a:t>
            </a:r>
          </a:p>
          <a:p>
            <a:pPr algn="l">
              <a:buNone/>
            </a:pPr>
            <a:r>
              <a:rPr lang="en-US" sz="100">
                <a:effectLst/>
              </a:rPr>
              <a:t> </a:t>
            </a:r>
            <a:endParaRPr lang="en-US"/>
          </a:p>
        </p:txBody>
      </p:sp>
      <p:sp>
        <p:nvSpPr>
          <p:cNvPr id="17288" name="Rectangle 17287">
            <a:extLst>
              <a:ext uri="{FF2B5EF4-FFF2-40B4-BE49-F238E27FC236}">
                <a16:creationId xmlns:a16="http://schemas.microsoft.com/office/drawing/2014/main" id="{4789D554-A839-D817-BCFC-4AD017D2B26F}"/>
              </a:ext>
            </a:extLst>
          </p:cNvPr>
          <p:cNvSpPr/>
          <p:nvPr/>
        </p:nvSpPr>
        <p:spPr>
          <a:xfrm>
            <a:off x="914400" y="5136120"/>
            <a:ext cx="10363200" cy="88000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27" name="Rectangle 17326">
            <a:extLst>
              <a:ext uri="{FF2B5EF4-FFF2-40B4-BE49-F238E27FC236}">
                <a16:creationId xmlns:a16="http://schemas.microsoft.com/office/drawing/2014/main" id="{1CA9223E-64E0-3F15-F5D9-DEC0C83F813D}"/>
              </a:ext>
            </a:extLst>
          </p:cNvPr>
          <p:cNvSpPr/>
          <p:nvPr/>
        </p:nvSpPr>
        <p:spPr>
          <a:xfrm>
            <a:off x="1143000" y="5276120"/>
            <a:ext cx="9906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FFFFF"/>
                </a:solidFill>
                <a:effectLst/>
                <a:latin typeface="Segoe UI Semibold" panose="020B0702040204020203" pitchFamily="34" charset="0"/>
              </a:rPr>
              <a:t>Available through 13 July 2027</a:t>
            </a:r>
          </a:p>
          <a:p>
            <a:pPr algn="l">
              <a:buNone/>
            </a:pPr>
            <a:r>
              <a:rPr lang="en-US" sz="1400">
                <a:solidFill>
                  <a:srgbClr val="50E6FF"/>
                </a:solidFill>
                <a:effectLst/>
                <a:latin typeface="Segoe UI Semibold" panose="020B0702040204020203" pitchFamily="34" charset="0"/>
              </a:rPr>
              <a:t>The end of Year 1 of SQL Server 2016 Extended Security Updates</a:t>
            </a:r>
            <a:endParaRPr lang="en-US"/>
          </a:p>
        </p:txBody>
      </p:sp>
    </p:spTree>
    <p:extLst>
      <p:ext uri="{BB962C8B-B14F-4D97-AF65-F5344CB8AC3E}">
        <p14:creationId xmlns:p14="http://schemas.microsoft.com/office/powerpoint/2010/main" val="4032330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8350" name="Rectangle 28349">
            <a:extLst>
              <a:ext uri="{FF2B5EF4-FFF2-40B4-BE49-F238E27FC236}">
                <a16:creationId xmlns:a16="http://schemas.microsoft.com/office/drawing/2014/main" id="{4077FB15-3406-8B6A-0B35-3604A27DF02D}"/>
              </a:ext>
            </a:extLst>
          </p:cNvPr>
          <p:cNvSpPr/>
          <p:nvPr/>
        </p:nvSpPr>
        <p:spPr>
          <a:xfrm>
            <a:off x="914400" y="1900000"/>
            <a:ext cx="2600000" cy="2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0">
                <a:solidFill>
                  <a:srgbClr val="50E6FF"/>
                </a:solidFill>
                <a:effectLst/>
                <a:latin typeface="Segoe UI Light" panose="020B0502040204020203" pitchFamily="34" charset="0"/>
              </a:rPr>
              <a:t>03</a:t>
            </a:r>
          </a:p>
          <a:p>
            <a:pPr algn="l">
              <a:buNone/>
            </a:pPr>
            <a:r>
              <a:rPr lang="en-US" sz="100">
                <a:effectLst/>
              </a:rPr>
              <a:t> </a:t>
            </a:r>
            <a:endParaRPr lang="en-US"/>
          </a:p>
        </p:txBody>
      </p:sp>
      <p:sp>
        <p:nvSpPr>
          <p:cNvPr id="28368" name="Rectangle 28367">
            <a:extLst>
              <a:ext uri="{FF2B5EF4-FFF2-40B4-BE49-F238E27FC236}">
                <a16:creationId xmlns:a16="http://schemas.microsoft.com/office/drawing/2014/main" id="{B34022EA-A96D-766E-8F9C-3C89561CDB3C}"/>
              </a:ext>
            </a:extLst>
          </p:cNvPr>
          <p:cNvSpPr/>
          <p:nvPr/>
        </p:nvSpPr>
        <p:spPr>
          <a:xfrm>
            <a:off x="3600000" y="1900000"/>
            <a:ext cx="76776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a:solidFill>
                  <a:srgbClr val="FFFFFF"/>
                </a:solidFill>
                <a:effectLst/>
                <a:latin typeface="Segoe UI Light" panose="020B0502040204020203" pitchFamily="34" charset="0"/>
              </a:rPr>
              <a:t>First, find what you actually have</a:t>
            </a:r>
          </a:p>
          <a:p>
            <a:pPr algn="l">
              <a:buNone/>
            </a:pPr>
            <a:r>
              <a:rPr lang="en-US" sz="100">
                <a:effectLst/>
              </a:rPr>
              <a:t> </a:t>
            </a:r>
            <a:endParaRPr lang="en-US"/>
          </a:p>
        </p:txBody>
      </p:sp>
      <p:sp>
        <p:nvSpPr>
          <p:cNvPr id="28387" name="Rectangle 28386">
            <a:extLst>
              <a:ext uri="{FF2B5EF4-FFF2-40B4-BE49-F238E27FC236}">
                <a16:creationId xmlns:a16="http://schemas.microsoft.com/office/drawing/2014/main" id="{29E70BA4-68D3-40AC-9B25-D64CF1D98D43}"/>
              </a:ext>
            </a:extLst>
          </p:cNvPr>
          <p:cNvSpPr/>
          <p:nvPr/>
        </p:nvSpPr>
        <p:spPr>
          <a:xfrm>
            <a:off x="3600000" y="3390640"/>
            <a:ext cx="1920240" cy="50800"/>
          </a:xfrm>
          <a:prstGeom prst="rect">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07" name="Rectangle 28406">
            <a:extLst>
              <a:ext uri="{FF2B5EF4-FFF2-40B4-BE49-F238E27FC236}">
                <a16:creationId xmlns:a16="http://schemas.microsoft.com/office/drawing/2014/main" id="{E609BC4A-D0A0-2ADD-C053-9D58534A3F6E}"/>
              </a:ext>
            </a:extLst>
          </p:cNvPr>
          <p:cNvSpPr/>
          <p:nvPr/>
        </p:nvSpPr>
        <p:spPr>
          <a:xfrm>
            <a:off x="3600000" y="3661440"/>
            <a:ext cx="76776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C7D5EA"/>
                </a:solidFill>
                <a:effectLst/>
                <a:latin typeface="Segoe UI" panose="020B0502040204020203" pitchFamily="34" charset="0"/>
              </a:rPr>
              <a:t>You cannot cost, license or migrate an estate you can't see.</a:t>
            </a:r>
          </a:p>
          <a:p>
            <a:pPr algn="l">
              <a:buNone/>
            </a:pPr>
            <a:r>
              <a:rPr lang="en-US" sz="100">
                <a:effectLst/>
              </a:rPr>
              <a:t> </a:t>
            </a:r>
            <a:endParaRPr lang="en-US"/>
          </a:p>
        </p:txBody>
      </p:sp>
      <p:sp>
        <p:nvSpPr>
          <p:cNvPr id="28428" name="Rectangle 28427">
            <a:extLst>
              <a:ext uri="{FF2B5EF4-FFF2-40B4-BE49-F238E27FC236}">
                <a16:creationId xmlns:a16="http://schemas.microsoft.com/office/drawing/2014/main" id="{63BD88AC-0DF0-2392-A69A-4545C8A44C28}"/>
              </a:ext>
            </a:extLst>
          </p:cNvPr>
          <p:cNvSpPr/>
          <p:nvPr/>
        </p:nvSpPr>
        <p:spPr>
          <a:xfrm>
            <a:off x="3600000" y="4481520"/>
            <a:ext cx="7677600" cy="1344880"/>
          </a:xfrm>
          <a:prstGeom prst="rect">
            <a:avLst/>
          </a:prstGeom>
          <a:solidFill>
            <a:srgbClr val="004578"/>
          </a:solidFill>
          <a:ln>
            <a:solidFill>
              <a:srgbClr val="004578"/>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50" name="Rectangle 28449">
            <a:extLst>
              <a:ext uri="{FF2B5EF4-FFF2-40B4-BE49-F238E27FC236}">
                <a16:creationId xmlns:a16="http://schemas.microsoft.com/office/drawing/2014/main" id="{B595A476-9453-862C-79C6-DB511E5862DB}"/>
              </a:ext>
            </a:extLst>
          </p:cNvPr>
          <p:cNvSpPr/>
          <p:nvPr/>
        </p:nvSpPr>
        <p:spPr>
          <a:xfrm>
            <a:off x="3800000" y="4681520"/>
            <a:ext cx="727760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3F2F1"/>
                </a:solidFill>
                <a:effectLst/>
                <a:latin typeface="Segoe UI" panose="020B0502040204020203" pitchFamily="34" charset="0"/>
              </a:rPr>
              <a:t>Two discovery scripts, and what they need</a:t>
            </a:r>
          </a:p>
          <a:p>
            <a:pPr algn="l">
              <a:buNone/>
            </a:pPr>
            <a:r>
              <a:rPr lang="en-US" sz="700">
                <a:solidFill>
                  <a:srgbClr val="F3F2F1"/>
                </a:solidFill>
                <a:effectLst/>
                <a:latin typeface="Segoe UI" panose="020B0502040204020203" pitchFamily="34" charset="0"/>
              </a:rPr>
              <a:t> </a:t>
            </a:r>
          </a:p>
          <a:p>
            <a:pPr algn="l">
              <a:buNone/>
            </a:pPr>
            <a:r>
              <a:rPr lang="en-US" sz="1400">
                <a:solidFill>
                  <a:srgbClr val="F3F2F1"/>
                </a:solidFill>
                <a:effectLst/>
                <a:latin typeface="Segoe UI" panose="020B0502040204020203" pitchFamily="34" charset="0"/>
              </a:rPr>
              <a:t>Usage, tuning and example output</a:t>
            </a:r>
          </a:p>
          <a:p>
            <a:pPr algn="l">
              <a:buNone/>
            </a:pPr>
            <a:r>
              <a:rPr lang="en-US" sz="700">
                <a:solidFill>
                  <a:srgbClr val="F3F2F1"/>
                </a:solidFill>
                <a:effectLst/>
                <a:latin typeface="Segoe UI" panose="020B0502040204020203" pitchFamily="34" charset="0"/>
              </a:rPr>
              <a:t> </a:t>
            </a:r>
          </a:p>
          <a:p>
            <a:pPr algn="l">
              <a:buNone/>
            </a:pPr>
            <a:r>
              <a:rPr lang="en-US" sz="1400">
                <a:solidFill>
                  <a:srgbClr val="F3F2F1"/>
                </a:solidFill>
                <a:effectLst/>
                <a:latin typeface="Segoe UI" panose="020B0502040204020203" pitchFamily="34" charset="0"/>
              </a:rPr>
              <a:t>From inventory to plan</a:t>
            </a:r>
            <a:endParaRPr lang="en-US"/>
          </a:p>
        </p:txBody>
      </p:sp>
      <p:sp>
        <p:nvSpPr>
          <p:cNvPr id="28473" name="Rectangle 28472">
            <a:extLst>
              <a:ext uri="{FF2B5EF4-FFF2-40B4-BE49-F238E27FC236}">
                <a16:creationId xmlns:a16="http://schemas.microsoft.com/office/drawing/2014/main" id="{050612F6-C01C-F90C-6052-C3663035FAF6}"/>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C7D5EA"/>
                </a:solidFill>
                <a:effectLst/>
                <a:latin typeface="Segoe UI" panose="020B0502040204020203" pitchFamily="34" charset="0"/>
              </a:rPr>
              <a:t>SQL Server 2016 End of Support</a:t>
            </a:r>
          </a:p>
          <a:p>
            <a:pPr algn="l">
              <a:buNone/>
            </a:pPr>
            <a:r>
              <a:rPr lang="en-US" sz="100">
                <a:effectLst/>
              </a:rPr>
              <a:t> </a:t>
            </a:r>
            <a:endParaRPr lang="en-US"/>
          </a:p>
        </p:txBody>
      </p:sp>
      <p:sp>
        <p:nvSpPr>
          <p:cNvPr id="28497" name="Rectangle 28496">
            <a:extLst>
              <a:ext uri="{FF2B5EF4-FFF2-40B4-BE49-F238E27FC236}">
                <a16:creationId xmlns:a16="http://schemas.microsoft.com/office/drawing/2014/main" id="{357156C7-C258-56BE-55E0-17773A3169A7}"/>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C7D5EA"/>
                </a:solidFill>
                <a:effectLst/>
                <a:latin typeface="Segoe UI" panose="020B0502040204020203" pitchFamily="34" charset="0"/>
              </a:rPr>
              <a:t>16</a:t>
            </a:r>
          </a:p>
          <a:p>
            <a:pPr algn="r">
              <a:buNone/>
            </a:pPr>
            <a:r>
              <a:rPr lang="en-US" sz="100">
                <a:effectLst/>
              </a:rPr>
              <a:t> </a:t>
            </a:r>
            <a:endParaRPr lang="en-US"/>
          </a:p>
        </p:txBody>
      </p:sp>
    </p:spTree>
    <p:extLst>
      <p:ext uri="{BB962C8B-B14F-4D97-AF65-F5344CB8AC3E}">
        <p14:creationId xmlns:p14="http://schemas.microsoft.com/office/powerpoint/2010/main" val="3776606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900" name="Rectangle 24899">
            <a:extLst>
              <a:ext uri="{FF2B5EF4-FFF2-40B4-BE49-F238E27FC236}">
                <a16:creationId xmlns:a16="http://schemas.microsoft.com/office/drawing/2014/main" id="{4A476D49-5CDB-387C-FDCC-06581C41715D}"/>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DISCOVERY TOOLKIT</a:t>
            </a:r>
          </a:p>
          <a:p>
            <a:pPr algn="l">
              <a:buNone/>
            </a:pPr>
            <a:r>
              <a:rPr lang="en-US" sz="100">
                <a:effectLst/>
              </a:rPr>
              <a:t> </a:t>
            </a:r>
            <a:endParaRPr lang="en-US"/>
          </a:p>
        </p:txBody>
      </p:sp>
      <p:sp>
        <p:nvSpPr>
          <p:cNvPr id="24902" name="Rectangle 24901">
            <a:extLst>
              <a:ext uri="{FF2B5EF4-FFF2-40B4-BE49-F238E27FC236}">
                <a16:creationId xmlns:a16="http://schemas.microsoft.com/office/drawing/2014/main" id="{D41B92F3-3BF2-5026-0769-D0E24ED7FB7E}"/>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Two scripts, two questions</a:t>
            </a:r>
          </a:p>
          <a:p>
            <a:pPr algn="l">
              <a:buNone/>
            </a:pPr>
            <a:r>
              <a:rPr lang="en-US" sz="100">
                <a:effectLst/>
              </a:rPr>
              <a:t> </a:t>
            </a:r>
            <a:endParaRPr lang="en-US"/>
          </a:p>
        </p:txBody>
      </p:sp>
      <p:sp>
        <p:nvSpPr>
          <p:cNvPr id="24905" name="Rectangle 24904">
            <a:extLst>
              <a:ext uri="{FF2B5EF4-FFF2-40B4-BE49-F238E27FC236}">
                <a16:creationId xmlns:a16="http://schemas.microsoft.com/office/drawing/2014/main" id="{5ED78AD6-2DBE-7190-2751-63410ABB0714}"/>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09" name="Rectangle 24908">
            <a:extLst>
              <a:ext uri="{FF2B5EF4-FFF2-40B4-BE49-F238E27FC236}">
                <a16:creationId xmlns:a16="http://schemas.microsoft.com/office/drawing/2014/main" id="{1A539269-5DC8-B7AA-D192-AEA7A080A39C}"/>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4914" name="Rectangle 24913">
            <a:extLst>
              <a:ext uri="{FF2B5EF4-FFF2-40B4-BE49-F238E27FC236}">
                <a16:creationId xmlns:a16="http://schemas.microsoft.com/office/drawing/2014/main" id="{E0C0BCEF-C2CE-CA61-575A-FD076E529DA6}"/>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17</a:t>
            </a:r>
          </a:p>
          <a:p>
            <a:pPr algn="r">
              <a:buNone/>
            </a:pPr>
            <a:r>
              <a:rPr lang="en-US" sz="100">
                <a:effectLst/>
              </a:rPr>
              <a:t> </a:t>
            </a:r>
            <a:endParaRPr lang="en-US"/>
          </a:p>
        </p:txBody>
      </p:sp>
      <p:sp>
        <p:nvSpPr>
          <p:cNvPr id="24920" name="Rectangle 24919">
            <a:extLst>
              <a:ext uri="{FF2B5EF4-FFF2-40B4-BE49-F238E27FC236}">
                <a16:creationId xmlns:a16="http://schemas.microsoft.com/office/drawing/2014/main" id="{8F838947-FD9B-7CAB-CC72-9C5CE682D9B0}"/>
              </a:ext>
            </a:extLst>
          </p:cNvPr>
          <p:cNvSpPr/>
          <p:nvPr/>
        </p:nvSpPr>
        <p:spPr>
          <a:xfrm>
            <a:off x="914400" y="1620000"/>
            <a:ext cx="103632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Two complementary PowerShell scripts that inventory Microsoft SQL Server instances across an estate and export the results to CSV. Both capture the same core fields: Server Name, Instance, SQL Version, SQL Edition, FQDN and IP Address.</a:t>
            </a:r>
          </a:p>
          <a:p>
            <a:pPr algn="l">
              <a:buNone/>
            </a:pPr>
            <a:r>
              <a:rPr lang="en-US" sz="100">
                <a:effectLst/>
              </a:rPr>
              <a:t> </a:t>
            </a:r>
            <a:endParaRPr lang="en-US"/>
          </a:p>
        </p:txBody>
      </p:sp>
      <p:graphicFrame>
        <p:nvGraphicFramePr>
          <p:cNvPr id="16" name="Table 15">
            <a:extLst>
              <a:ext uri="{FF2B5EF4-FFF2-40B4-BE49-F238E27FC236}">
                <a16:creationId xmlns:a16="http://schemas.microsoft.com/office/drawing/2014/main" id="{E594394E-1B6B-4734-8C42-12DB74E9542B}"/>
              </a:ext>
            </a:extLst>
          </p:cNvPr>
          <p:cNvGraphicFramePr>
            <a:graphicFrameLocks noGrp="1"/>
          </p:cNvGraphicFramePr>
          <p:nvPr/>
        </p:nvGraphicFramePr>
        <p:xfrm>
          <a:off x="914400" y="2471520"/>
          <a:ext cx="8128000" cy="118872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4081338400"/>
                    </a:ext>
                  </a:extLst>
                </a:gridCol>
                <a:gridCol w="2032000">
                  <a:extLst>
                    <a:ext uri="{9D8B030D-6E8A-4147-A177-3AD203B41FA5}">
                      <a16:colId xmlns:a16="http://schemas.microsoft.com/office/drawing/2014/main" val="3498974566"/>
                    </a:ext>
                  </a:extLst>
                </a:gridCol>
                <a:gridCol w="2032000">
                  <a:extLst>
                    <a:ext uri="{9D8B030D-6E8A-4147-A177-3AD203B41FA5}">
                      <a16:colId xmlns:a16="http://schemas.microsoft.com/office/drawing/2014/main" val="2890879198"/>
                    </a:ext>
                  </a:extLst>
                </a:gridCol>
                <a:gridCol w="2032000">
                  <a:extLst>
                    <a:ext uri="{9D8B030D-6E8A-4147-A177-3AD203B41FA5}">
                      <a16:colId xmlns:a16="http://schemas.microsoft.com/office/drawing/2014/main" val="4083486968"/>
                    </a:ext>
                  </a:extLst>
                </a:gridCol>
              </a:tblGrid>
              <a:tr h="0">
                <a:tc>
                  <a:txBody>
                    <a:bodyPr/>
                    <a:lstStyle/>
                    <a:p>
                      <a:pPr>
                        <a:buNone/>
                      </a:pPr>
                      <a:r>
                        <a:rPr lang="en-US" sz="1200" b="1">
                          <a:solidFill>
                            <a:srgbClr val="FFFFFF"/>
                          </a:solidFill>
                          <a:effectLst/>
                          <a:latin typeface="Segoe UI" panose="020B0502040204020203" pitchFamily="34" charset="0"/>
                        </a:rPr>
                        <a:t>Script</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Runs from</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Finds SQL by</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Best for</a:t>
                      </a:r>
                    </a:p>
                  </a:txBody>
                  <a:tcPr anchor="ctr">
                    <a:lnL>
                      <a:noFill/>
                    </a:lnL>
                    <a:lnR>
                      <a:noFill/>
                    </a:lnR>
                    <a:lnT>
                      <a:noFill/>
                    </a:lnT>
                    <a:lnB>
                      <a:noFill/>
                    </a:lnB>
                    <a:solidFill>
                      <a:srgbClr val="243A5E"/>
                    </a:solidFill>
                  </a:tcPr>
                </a:tc>
                <a:extLst>
                  <a:ext uri="{0D108BD9-81ED-4DB2-BD59-A6C34878D82A}">
                    <a16:rowId xmlns:a16="http://schemas.microsoft.com/office/drawing/2014/main" val="1498895509"/>
                  </a:ext>
                </a:extLst>
              </a:tr>
              <a:tr h="0">
                <a:tc>
                  <a:txBody>
                    <a:bodyPr/>
                    <a:lstStyle/>
                    <a:p>
                      <a:pPr>
                        <a:buNone/>
                      </a:pPr>
                      <a:r>
                        <a:rPr lang="en-US" sz="1200">
                          <a:effectLst/>
                          <a:latin typeface="Segoe UI" panose="020B0502040204020203" pitchFamily="34" charset="0"/>
                        </a:rPr>
                        <a:t>SQL-Discovery-DomainController.ps1</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 domain controller (or any host with RSAT)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Querying Active Directory for MSSQLSvc SPNs</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Fast, authoritative sweep of everything registered in AD</a:t>
                      </a:r>
                    </a:p>
                  </a:txBody>
                  <a:tcPr anchor="ctr">
                    <a:lnL>
                      <a:noFill/>
                    </a:lnL>
                    <a:lnR>
                      <a:noFill/>
                    </a:lnR>
                    <a:lnT>
                      <a:noFill/>
                    </a:lnT>
                    <a:lnB>
                      <a:noFill/>
                    </a:lnB>
                    <a:noFill/>
                  </a:tcPr>
                </a:tc>
                <a:extLst>
                  <a:ext uri="{0D108BD9-81ED-4DB2-BD59-A6C34878D82A}">
                    <a16:rowId xmlns:a16="http://schemas.microsoft.com/office/drawing/2014/main" val="2403631967"/>
                  </a:ext>
                </a:extLst>
              </a:tr>
              <a:tr h="0">
                <a:tc>
                  <a:txBody>
                    <a:bodyPr/>
                    <a:lstStyle/>
                    <a:p>
                      <a:pPr>
                        <a:buNone/>
                      </a:pPr>
                      <a:r>
                        <a:rPr lang="en-US" sz="1200">
                          <a:effectLst/>
                          <a:latin typeface="Segoe UI" panose="020B0502040204020203" pitchFamily="34" charset="0"/>
                        </a:rPr>
                        <a:t>SQL-Discovery-MemberServer.ps1</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Any domain member server</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Sweeping every IP in a subnet</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Finding instances AD doesn't know about</a:t>
                      </a:r>
                    </a:p>
                  </a:txBody>
                  <a:tcPr anchor="ctr">
                    <a:lnL>
                      <a:noFill/>
                    </a:lnL>
                    <a:lnR>
                      <a:noFill/>
                    </a:lnR>
                    <a:lnT>
                      <a:noFill/>
                    </a:lnT>
                    <a:lnB>
                      <a:noFill/>
                    </a:lnB>
                    <a:solidFill>
                      <a:srgbClr val="E9EBEF"/>
                    </a:solidFill>
                  </a:tcPr>
                </a:tc>
                <a:extLst>
                  <a:ext uri="{0D108BD9-81ED-4DB2-BD59-A6C34878D82A}">
                    <a16:rowId xmlns:a16="http://schemas.microsoft.com/office/drawing/2014/main" val="2897013960"/>
                  </a:ext>
                </a:extLst>
              </a:tr>
            </a:tbl>
          </a:graphicData>
        </a:graphic>
      </p:graphicFrame>
      <p:sp>
        <p:nvSpPr>
          <p:cNvPr id="24928" name="Rectangle 24927">
            <a:extLst>
              <a:ext uri="{FF2B5EF4-FFF2-40B4-BE49-F238E27FC236}">
                <a16:creationId xmlns:a16="http://schemas.microsoft.com/office/drawing/2014/main" id="{339CA315-1436-C379-5121-0AA67FEA45A1}"/>
              </a:ext>
            </a:extLst>
          </p:cNvPr>
          <p:cNvSpPr/>
          <p:nvPr/>
        </p:nvSpPr>
        <p:spPr>
          <a:xfrm>
            <a:off x="914400" y="4041520"/>
            <a:ext cx="10363200" cy="85912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37" name="Rectangle 24936">
            <a:extLst>
              <a:ext uri="{FF2B5EF4-FFF2-40B4-BE49-F238E27FC236}">
                <a16:creationId xmlns:a16="http://schemas.microsoft.com/office/drawing/2014/main" id="{F606595C-15EA-A6DF-5543-C0D23CC6FFE8}"/>
              </a:ext>
            </a:extLst>
          </p:cNvPr>
          <p:cNvSpPr/>
          <p:nvPr/>
        </p:nvSpPr>
        <p:spPr>
          <a:xfrm>
            <a:off x="1143000" y="4181520"/>
            <a:ext cx="99060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Run both and compare. Anything the subnet scan finds that the AD scan missed is either an unregistered instance or shadow IT, and both are worth knowing about.</a:t>
            </a:r>
          </a:p>
          <a:p>
            <a:pPr algn="l">
              <a:buNone/>
            </a:pPr>
            <a:r>
              <a:rPr lang="en-US" sz="100">
                <a:effectLst/>
              </a:rPr>
              <a:t> </a:t>
            </a:r>
            <a:endParaRPr lang="en-US"/>
          </a:p>
        </p:txBody>
      </p:sp>
      <p:sp>
        <p:nvSpPr>
          <p:cNvPr id="24947" name="Rectangle 24946">
            <a:extLst>
              <a:ext uri="{FF2B5EF4-FFF2-40B4-BE49-F238E27FC236}">
                <a16:creationId xmlns:a16="http://schemas.microsoft.com/office/drawing/2014/main" id="{52217462-1BB8-6F01-8CB1-F248A860B4EA}"/>
              </a:ext>
            </a:extLst>
          </p:cNvPr>
          <p:cNvSpPr/>
          <p:nvPr/>
        </p:nvSpPr>
        <p:spPr>
          <a:xfrm>
            <a:off x="914400" y="4980640"/>
            <a:ext cx="10363200" cy="100104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70" name="Rectangle 24969">
            <a:extLst>
              <a:ext uri="{FF2B5EF4-FFF2-40B4-BE49-F238E27FC236}">
                <a16:creationId xmlns:a16="http://schemas.microsoft.com/office/drawing/2014/main" id="{E941E598-13AB-05FE-9411-C6DC3650B7BD}"/>
              </a:ext>
            </a:extLst>
          </p:cNvPr>
          <p:cNvSpPr/>
          <p:nvPr/>
        </p:nvSpPr>
        <p:spPr>
          <a:xfrm>
            <a:off x="3200000" y="5130640"/>
            <a:ext cx="2540466"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0078D4"/>
                </a:solidFill>
                <a:effectLst/>
                <a:latin typeface="Segoe UI Semibold" panose="020B0702040204020203" pitchFamily="34" charset="0"/>
              </a:rPr>
              <a:t>1.3 seconds</a:t>
            </a:r>
          </a:p>
          <a:p>
            <a:pPr algn="l">
              <a:buNone/>
            </a:pPr>
            <a:r>
              <a:rPr lang="en-US" sz="1200">
                <a:solidFill>
                  <a:srgbClr val="605E5C"/>
                </a:solidFill>
                <a:effectLst/>
                <a:latin typeface="Segoe UI Semibold" panose="020B0702040204020203" pitchFamily="34" charset="0"/>
              </a:rPr>
              <a:t>Domain controller script</a:t>
            </a:r>
            <a:endParaRPr lang="en-US"/>
          </a:p>
        </p:txBody>
      </p:sp>
      <p:sp>
        <p:nvSpPr>
          <p:cNvPr id="24983" name="Rectangle 24982">
            <a:extLst>
              <a:ext uri="{FF2B5EF4-FFF2-40B4-BE49-F238E27FC236}">
                <a16:creationId xmlns:a16="http://schemas.microsoft.com/office/drawing/2014/main" id="{095863D8-A2F7-EB67-4540-61BD2C1D28CA}"/>
              </a:ext>
            </a:extLst>
          </p:cNvPr>
          <p:cNvSpPr/>
          <p:nvPr/>
        </p:nvSpPr>
        <p:spPr>
          <a:xfrm>
            <a:off x="5854766" y="5130640"/>
            <a:ext cx="2540466"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0078D4"/>
                </a:solidFill>
                <a:effectLst/>
                <a:latin typeface="Segoe UI Semibold" panose="020B0702040204020203" pitchFamily="34" charset="0"/>
              </a:rPr>
              <a:t>13.2 seconds</a:t>
            </a:r>
          </a:p>
          <a:p>
            <a:pPr algn="l">
              <a:buNone/>
            </a:pPr>
            <a:r>
              <a:rPr lang="en-US" sz="1200">
                <a:solidFill>
                  <a:srgbClr val="605E5C"/>
                </a:solidFill>
                <a:effectLst/>
                <a:latin typeface="Segoe UI Semibold" panose="020B0702040204020203" pitchFamily="34" charset="0"/>
              </a:rPr>
              <a:t>Member server script, /24</a:t>
            </a:r>
            <a:endParaRPr lang="en-US"/>
          </a:p>
        </p:txBody>
      </p:sp>
      <p:sp>
        <p:nvSpPr>
          <p:cNvPr id="24997" name="Rectangle 24996">
            <a:extLst>
              <a:ext uri="{FF2B5EF4-FFF2-40B4-BE49-F238E27FC236}">
                <a16:creationId xmlns:a16="http://schemas.microsoft.com/office/drawing/2014/main" id="{66E63BDE-C804-98F3-BF19-83096D800EA6}"/>
              </a:ext>
            </a:extLst>
          </p:cNvPr>
          <p:cNvSpPr/>
          <p:nvPr/>
        </p:nvSpPr>
        <p:spPr>
          <a:xfrm>
            <a:off x="8509532" y="5130640"/>
            <a:ext cx="2540466"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0078D4"/>
                </a:solidFill>
                <a:effectLst/>
                <a:latin typeface="Segoe UI Semibold" panose="020B0702040204020203" pitchFamily="34" charset="0"/>
              </a:rPr>
              <a:t>None</a:t>
            </a:r>
          </a:p>
          <a:p>
            <a:pPr algn="l">
              <a:buNone/>
            </a:pPr>
            <a:r>
              <a:rPr lang="en-US" sz="1200">
                <a:solidFill>
                  <a:srgbClr val="605E5C"/>
                </a:solidFill>
                <a:effectLst/>
                <a:latin typeface="Segoe UI Semibold" panose="020B0702040204020203" pitchFamily="34" charset="0"/>
              </a:rPr>
              <a:t>SQL login used</a:t>
            </a:r>
            <a:endParaRPr lang="en-US"/>
          </a:p>
        </p:txBody>
      </p:sp>
      <p:sp>
        <p:nvSpPr>
          <p:cNvPr id="28182" name="Rectangle 28181">
            <a:extLst>
              <a:ext uri="{FF2B5EF4-FFF2-40B4-BE49-F238E27FC236}">
                <a16:creationId xmlns:a16="http://schemas.microsoft.com/office/drawing/2014/main" id="{1BEB1BDC-DA7A-C208-8F8D-8194AF117D89}"/>
              </a:ext>
            </a:extLst>
          </p:cNvPr>
          <p:cNvSpPr/>
          <p:nvPr/>
        </p:nvSpPr>
        <p:spPr>
          <a:xfrm>
            <a:off x="1143000" y="5130640"/>
            <a:ext cx="2000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605E5C"/>
                </a:solidFill>
                <a:effectLst/>
                <a:latin typeface="Segoe UI Semibold" panose="020B0702040204020203" pitchFamily="34" charset="0"/>
              </a:rPr>
              <a:t>Azure lab</a:t>
            </a:r>
          </a:p>
          <a:p>
            <a:pPr algn="l">
              <a:buNone/>
            </a:pPr>
            <a:r>
              <a:rPr lang="en-US" sz="1200" b="1">
                <a:solidFill>
                  <a:srgbClr val="605E5C"/>
                </a:solidFill>
                <a:effectLst/>
                <a:latin typeface="Segoe UI Semibold" panose="020B0702040204020203" pitchFamily="34" charset="0"/>
              </a:rPr>
              <a:t>sqltest.local</a:t>
            </a:r>
            <a:endParaRPr lang="en-US"/>
          </a:p>
        </p:txBody>
      </p:sp>
    </p:spTree>
    <p:extLst>
      <p:ext uri="{BB962C8B-B14F-4D97-AF65-F5344CB8AC3E}">
        <p14:creationId xmlns:p14="http://schemas.microsoft.com/office/powerpoint/2010/main" val="1043410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26" name="Rectangle 8525">
            <a:extLst>
              <a:ext uri="{FF2B5EF4-FFF2-40B4-BE49-F238E27FC236}">
                <a16:creationId xmlns:a16="http://schemas.microsoft.com/office/drawing/2014/main" id="{D7F7423F-BD3A-98CB-B15E-1EDD326341D1}"/>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DESIGN DECISION</a:t>
            </a:r>
          </a:p>
          <a:p>
            <a:pPr algn="l">
              <a:buNone/>
            </a:pPr>
            <a:r>
              <a:rPr lang="en-US" sz="100">
                <a:effectLst/>
              </a:rPr>
              <a:t> </a:t>
            </a:r>
            <a:endParaRPr lang="en-US"/>
          </a:p>
        </p:txBody>
      </p:sp>
      <p:sp>
        <p:nvSpPr>
          <p:cNvPr id="8542" name="Rectangle 8541">
            <a:extLst>
              <a:ext uri="{FF2B5EF4-FFF2-40B4-BE49-F238E27FC236}">
                <a16:creationId xmlns:a16="http://schemas.microsoft.com/office/drawing/2014/main" id="{E24C24D5-7759-EA7D-D3FD-A29D21CCFD68}"/>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No SQL login required</a:t>
            </a:r>
          </a:p>
          <a:p>
            <a:pPr algn="l">
              <a:buNone/>
            </a:pPr>
            <a:r>
              <a:rPr lang="en-US" sz="100">
                <a:effectLst/>
              </a:rPr>
              <a:t> </a:t>
            </a:r>
            <a:endParaRPr lang="en-US"/>
          </a:p>
        </p:txBody>
      </p:sp>
      <p:sp>
        <p:nvSpPr>
          <p:cNvPr id="8559" name="Rectangle 8558">
            <a:extLst>
              <a:ext uri="{FF2B5EF4-FFF2-40B4-BE49-F238E27FC236}">
                <a16:creationId xmlns:a16="http://schemas.microsoft.com/office/drawing/2014/main" id="{F8EB6DD9-EE5C-962E-D83A-89EA8CE5F505}"/>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77" name="Rectangle 8576">
            <a:extLst>
              <a:ext uri="{FF2B5EF4-FFF2-40B4-BE49-F238E27FC236}">
                <a16:creationId xmlns:a16="http://schemas.microsoft.com/office/drawing/2014/main" id="{AB3A5730-680F-F1A4-1774-35F8A7659936}"/>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8596" name="Rectangle 8595">
            <a:extLst>
              <a:ext uri="{FF2B5EF4-FFF2-40B4-BE49-F238E27FC236}">
                <a16:creationId xmlns:a16="http://schemas.microsoft.com/office/drawing/2014/main" id="{B2D8DCC1-3CCD-A833-81C3-1D5A2476F056}"/>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18</a:t>
            </a:r>
          </a:p>
          <a:p>
            <a:pPr algn="r">
              <a:buNone/>
            </a:pPr>
            <a:r>
              <a:rPr lang="en-US" sz="100">
                <a:effectLst/>
              </a:rPr>
              <a:t> </a:t>
            </a:r>
            <a:endParaRPr lang="en-US"/>
          </a:p>
        </p:txBody>
      </p:sp>
      <p:sp>
        <p:nvSpPr>
          <p:cNvPr id="8616" name="Rectangle 8615">
            <a:extLst>
              <a:ext uri="{FF2B5EF4-FFF2-40B4-BE49-F238E27FC236}">
                <a16:creationId xmlns:a16="http://schemas.microsoft.com/office/drawing/2014/main" id="{9639C2AA-B050-7105-532C-E3323FFD7645}"/>
              </a:ext>
            </a:extLst>
          </p:cNvPr>
          <p:cNvSpPr/>
          <p:nvPr/>
        </p:nvSpPr>
        <p:spPr>
          <a:xfrm>
            <a:off x="914400" y="1620000"/>
            <a:ext cx="51054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D13438"/>
                </a:solidFill>
                <a:effectLst/>
                <a:latin typeface="Segoe UI Semibold" panose="020B0702040204020203" pitchFamily="34" charset="0"/>
              </a:rPr>
              <a:t>THE PROBLEM</a:t>
            </a:r>
          </a:p>
          <a:p>
            <a:pPr algn="l">
              <a:buNone/>
            </a:pPr>
            <a:r>
              <a:rPr lang="en-US" sz="100">
                <a:effectLst/>
              </a:rPr>
              <a:t> </a:t>
            </a:r>
            <a:endParaRPr lang="en-US"/>
          </a:p>
        </p:txBody>
      </p:sp>
      <p:sp>
        <p:nvSpPr>
          <p:cNvPr id="8637" name="Rectangle 8636">
            <a:extLst>
              <a:ext uri="{FF2B5EF4-FFF2-40B4-BE49-F238E27FC236}">
                <a16:creationId xmlns:a16="http://schemas.microsoft.com/office/drawing/2014/main" id="{4CF5941A-8A44-A06A-048D-4530AE0C72DF}"/>
              </a:ext>
            </a:extLst>
          </p:cNvPr>
          <p:cNvSpPr/>
          <p:nvPr/>
        </p:nvSpPr>
        <p:spPr>
          <a:xfrm>
            <a:off x="914400" y="1980000"/>
            <a:ext cx="5105400" cy="1082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Most SQL discovery scripts connect to each instance and run SELECT SERVERPROPERTY(...). That fails the moment you hit an instance where your account has no SQL login — even if you're a Domain Admin.</a:t>
            </a:r>
          </a:p>
          <a:p>
            <a:pPr algn="l">
              <a:buNone/>
            </a:pPr>
            <a:r>
              <a:rPr lang="en-US" sz="100">
                <a:effectLst/>
              </a:rPr>
              <a:t> </a:t>
            </a:r>
            <a:endParaRPr lang="en-US"/>
          </a:p>
        </p:txBody>
      </p:sp>
      <p:sp>
        <p:nvSpPr>
          <p:cNvPr id="8659" name="Rectangle 8658">
            <a:extLst>
              <a:ext uri="{FF2B5EF4-FFF2-40B4-BE49-F238E27FC236}">
                <a16:creationId xmlns:a16="http://schemas.microsoft.com/office/drawing/2014/main" id="{30A9983C-0665-4309-4988-062D01A4C1C8}"/>
              </a:ext>
            </a:extLst>
          </p:cNvPr>
          <p:cNvSpPr/>
          <p:nvPr/>
        </p:nvSpPr>
        <p:spPr>
          <a:xfrm>
            <a:off x="914400" y="3162040"/>
            <a:ext cx="5105400" cy="560000"/>
          </a:xfrm>
          <a:prstGeom prst="rect">
            <a:avLst/>
          </a:prstGeom>
          <a:solidFill>
            <a:srgbClr val="1B1A1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82" name="Rectangle 8681">
            <a:extLst>
              <a:ext uri="{FF2B5EF4-FFF2-40B4-BE49-F238E27FC236}">
                <a16:creationId xmlns:a16="http://schemas.microsoft.com/office/drawing/2014/main" id="{7A664D8E-B4A7-36D2-6D57-1C4318E7017D}"/>
              </a:ext>
            </a:extLst>
          </p:cNvPr>
          <p:cNvSpPr/>
          <p:nvPr/>
        </p:nvSpPr>
        <p:spPr>
          <a:xfrm>
            <a:off x="1066800" y="3282040"/>
            <a:ext cx="4800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F1707B"/>
                </a:solidFill>
                <a:effectLst/>
                <a:latin typeface="Consolas" panose="020B0609020204030204" pitchFamily="49" charset="0"/>
              </a:rPr>
              <a:t>Login failed for user 'SQLTEST\azureadmin'</a:t>
            </a:r>
          </a:p>
          <a:p>
            <a:pPr algn="l">
              <a:buNone/>
            </a:pPr>
            <a:r>
              <a:rPr lang="en-US" sz="100">
                <a:effectLst/>
              </a:rPr>
              <a:t> </a:t>
            </a:r>
            <a:endParaRPr lang="en-US"/>
          </a:p>
        </p:txBody>
      </p:sp>
      <p:sp>
        <p:nvSpPr>
          <p:cNvPr id="8706" name="Rectangle 8705">
            <a:extLst>
              <a:ext uri="{FF2B5EF4-FFF2-40B4-BE49-F238E27FC236}">
                <a16:creationId xmlns:a16="http://schemas.microsoft.com/office/drawing/2014/main" id="{61761AB1-94D0-608C-EA10-B189A18B5BBB}"/>
              </a:ext>
            </a:extLst>
          </p:cNvPr>
          <p:cNvSpPr/>
          <p:nvPr/>
        </p:nvSpPr>
        <p:spPr>
          <a:xfrm>
            <a:off x="914400" y="3822040"/>
            <a:ext cx="510540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Being an administrator of the Windows server grants you nothing inside the SQL engine; they are separate permission systems.</a:t>
            </a:r>
          </a:p>
          <a:p>
            <a:pPr algn="l">
              <a:buNone/>
            </a:pPr>
            <a:r>
              <a:rPr lang="en-US" sz="100">
                <a:effectLst/>
              </a:rPr>
              <a:t> </a:t>
            </a:r>
            <a:endParaRPr lang="en-US"/>
          </a:p>
        </p:txBody>
      </p:sp>
      <p:sp>
        <p:nvSpPr>
          <p:cNvPr id="8731" name="Rectangle 8730">
            <a:extLst>
              <a:ext uri="{FF2B5EF4-FFF2-40B4-BE49-F238E27FC236}">
                <a16:creationId xmlns:a16="http://schemas.microsoft.com/office/drawing/2014/main" id="{E41B3D2D-08F5-3985-E0A7-C704B614F1BF}"/>
              </a:ext>
            </a:extLst>
          </p:cNvPr>
          <p:cNvSpPr/>
          <p:nvPr/>
        </p:nvSpPr>
        <p:spPr>
          <a:xfrm>
            <a:off x="6172200" y="1620000"/>
            <a:ext cx="51054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THE FIX</a:t>
            </a:r>
          </a:p>
          <a:p>
            <a:pPr algn="l">
              <a:buNone/>
            </a:pPr>
            <a:r>
              <a:rPr lang="en-US" sz="100">
                <a:effectLst/>
              </a:rPr>
              <a:t> </a:t>
            </a:r>
            <a:endParaRPr lang="en-US"/>
          </a:p>
        </p:txBody>
      </p:sp>
      <p:sp>
        <p:nvSpPr>
          <p:cNvPr id="8757" name="Rectangle 8756">
            <a:extLst>
              <a:ext uri="{FF2B5EF4-FFF2-40B4-BE49-F238E27FC236}">
                <a16:creationId xmlns:a16="http://schemas.microsoft.com/office/drawing/2014/main" id="{2BEE9D13-0BE9-2B83-B42C-4993368D2A0A}"/>
              </a:ext>
            </a:extLst>
          </p:cNvPr>
          <p:cNvSpPr/>
          <p:nvPr/>
        </p:nvSpPr>
        <p:spPr>
          <a:xfrm>
            <a:off x="6172200" y="1980000"/>
            <a:ext cx="51054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004578"/>
                </a:solidFill>
                <a:effectLst/>
                <a:latin typeface="Segoe UI Semibold" panose="020B0702040204020203" pitchFamily="34" charset="0"/>
              </a:rPr>
              <a:t>Read the Windows registry instead of querying SQL.</a:t>
            </a:r>
          </a:p>
          <a:p>
            <a:pPr algn="l">
              <a:buNone/>
            </a:pPr>
            <a:r>
              <a:rPr lang="en-US" sz="100">
                <a:effectLst/>
              </a:rPr>
              <a:t> </a:t>
            </a:r>
            <a:endParaRPr lang="en-US"/>
          </a:p>
        </p:txBody>
      </p:sp>
      <p:sp>
        <p:nvSpPr>
          <p:cNvPr id="8784" name="Rectangle 8783">
            <a:extLst>
              <a:ext uri="{FF2B5EF4-FFF2-40B4-BE49-F238E27FC236}">
                <a16:creationId xmlns:a16="http://schemas.microsoft.com/office/drawing/2014/main" id="{AC1AEB3B-43C2-5CFF-FDDE-C487666CCB1F}"/>
              </a:ext>
            </a:extLst>
          </p:cNvPr>
          <p:cNvSpPr/>
          <p:nvPr/>
        </p:nvSpPr>
        <p:spPr>
          <a:xfrm>
            <a:off x="6172200" y="2547680"/>
            <a:ext cx="510540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Reading those keys needs local administrator on the target server — which a Domain Admin already has — and no SQL permissions whatsoever. The SQL service doesn't even need to be running.</a:t>
            </a:r>
          </a:p>
          <a:p>
            <a:pPr algn="l">
              <a:buNone/>
            </a:pPr>
            <a:r>
              <a:rPr lang="en-US" sz="100">
                <a:effectLst/>
              </a:rPr>
              <a:t> </a:t>
            </a:r>
            <a:endParaRPr lang="en-US"/>
          </a:p>
        </p:txBody>
      </p:sp>
      <p:sp>
        <p:nvSpPr>
          <p:cNvPr id="8812" name="Rectangle 8811">
            <a:extLst>
              <a:ext uri="{FF2B5EF4-FFF2-40B4-BE49-F238E27FC236}">
                <a16:creationId xmlns:a16="http://schemas.microsoft.com/office/drawing/2014/main" id="{96A4CA45-CA2F-7FF0-DB69-5C5FEC5DCA80}"/>
              </a:ext>
            </a:extLst>
          </p:cNvPr>
          <p:cNvSpPr/>
          <p:nvPr/>
        </p:nvSpPr>
        <p:spPr>
          <a:xfrm>
            <a:off x="6172200" y="3511600"/>
            <a:ext cx="51054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Done via WMI's StdRegProv class over a CIM session, which accepts alternate credentials.</a:t>
            </a:r>
          </a:p>
          <a:p>
            <a:pPr algn="l">
              <a:buNone/>
            </a:pPr>
            <a:r>
              <a:rPr lang="en-US" sz="100">
                <a:effectLst/>
              </a:rPr>
              <a:t> </a:t>
            </a:r>
            <a:endParaRPr lang="en-US"/>
          </a:p>
        </p:txBody>
      </p:sp>
      <p:sp>
        <p:nvSpPr>
          <p:cNvPr id="8841" name="Rectangle 8840">
            <a:extLst>
              <a:ext uri="{FF2B5EF4-FFF2-40B4-BE49-F238E27FC236}">
                <a16:creationId xmlns:a16="http://schemas.microsoft.com/office/drawing/2014/main" id="{209B9351-7CBF-37C6-9F90-8C26A7C786A7}"/>
              </a:ext>
            </a:extLst>
          </p:cNvPr>
          <p:cNvSpPr/>
          <p:nvPr/>
        </p:nvSpPr>
        <p:spPr>
          <a:xfrm>
            <a:off x="914400" y="4687840"/>
            <a:ext cx="10363200" cy="757200"/>
          </a:xfrm>
          <a:prstGeom prst="rect">
            <a:avLst/>
          </a:prstGeom>
          <a:solidFill>
            <a:srgbClr val="1B1A1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71" name="Rectangle 8870">
            <a:extLst>
              <a:ext uri="{FF2B5EF4-FFF2-40B4-BE49-F238E27FC236}">
                <a16:creationId xmlns:a16="http://schemas.microsoft.com/office/drawing/2014/main" id="{26DC9C84-2C6B-DB9F-1BEC-C8FE070DB798}"/>
              </a:ext>
            </a:extLst>
          </p:cNvPr>
          <p:cNvSpPr/>
          <p:nvPr/>
        </p:nvSpPr>
        <p:spPr>
          <a:xfrm>
            <a:off x="1066800" y="4837840"/>
            <a:ext cx="6035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E8E6E3"/>
                </a:solidFill>
                <a:effectLst/>
                <a:latin typeface="Consolas" panose="020B0609020204030204" pitchFamily="49" charset="0"/>
              </a:rPr>
              <a:t>HKLM\SOFTWARE\Microsoft\Microsoft SQL Server\Instance Names\SQL</a:t>
            </a:r>
          </a:p>
          <a:p>
            <a:pPr algn="l">
              <a:buNone/>
            </a:pPr>
            <a:r>
              <a:rPr lang="en-US" sz="1200">
                <a:solidFill>
                  <a:srgbClr val="E8E6E3"/>
                </a:solidFill>
                <a:effectLst/>
                <a:latin typeface="Consolas" panose="020B0609020204030204" pitchFamily="49" charset="0"/>
              </a:rPr>
              <a:t>HKLM\SOFTWARE\Microsoft\Microsoft SQL Server\&lt;InstanceKey&gt;\Setup</a:t>
            </a:r>
            <a:endParaRPr lang="en-US"/>
          </a:p>
        </p:txBody>
      </p:sp>
      <p:sp>
        <p:nvSpPr>
          <p:cNvPr id="8902" name="Rectangle 8901">
            <a:extLst>
              <a:ext uri="{FF2B5EF4-FFF2-40B4-BE49-F238E27FC236}">
                <a16:creationId xmlns:a16="http://schemas.microsoft.com/office/drawing/2014/main" id="{47CAFB9D-C232-ECE7-6C77-C932738D0AC6}"/>
              </a:ext>
            </a:extLst>
          </p:cNvPr>
          <p:cNvSpPr/>
          <p:nvPr/>
        </p:nvSpPr>
        <p:spPr>
          <a:xfrm>
            <a:off x="7201840" y="4837840"/>
            <a:ext cx="28000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8CD98C"/>
                </a:solidFill>
                <a:effectLst/>
                <a:latin typeface="Consolas" panose="020B0609020204030204" pitchFamily="49" charset="0"/>
              </a:rPr>
              <a:t>&lt;-  instance list</a:t>
            </a:r>
          </a:p>
          <a:p>
            <a:pPr algn="l">
              <a:buNone/>
            </a:pPr>
            <a:r>
              <a:rPr lang="en-US" sz="1200">
                <a:solidFill>
                  <a:srgbClr val="8CD98C"/>
                </a:solidFill>
                <a:effectLst/>
                <a:latin typeface="Consolas" panose="020B0609020204030204" pitchFamily="49" charset="0"/>
              </a:rPr>
              <a:t>&lt;-  version, edition, patch</a:t>
            </a:r>
            <a:endParaRPr lang="en-US"/>
          </a:p>
        </p:txBody>
      </p:sp>
    </p:spTree>
    <p:extLst>
      <p:ext uri="{BB962C8B-B14F-4D97-AF65-F5344CB8AC3E}">
        <p14:creationId xmlns:p14="http://schemas.microsoft.com/office/powerpoint/2010/main" val="828205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6" name="Rectangle 18445">
            <a:extLst>
              <a:ext uri="{FF2B5EF4-FFF2-40B4-BE49-F238E27FC236}">
                <a16:creationId xmlns:a16="http://schemas.microsoft.com/office/drawing/2014/main" id="{63F95C90-94CE-58DA-D99D-F424B87C78DE}"/>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PREREQUISITES</a:t>
            </a:r>
          </a:p>
          <a:p>
            <a:pPr algn="l">
              <a:buNone/>
            </a:pPr>
            <a:r>
              <a:rPr lang="en-US" sz="100">
                <a:effectLst/>
              </a:rPr>
              <a:t> </a:t>
            </a:r>
            <a:endParaRPr lang="en-US"/>
          </a:p>
        </p:txBody>
      </p:sp>
      <p:sp>
        <p:nvSpPr>
          <p:cNvPr id="18509" name="Rectangle 18508">
            <a:extLst>
              <a:ext uri="{FF2B5EF4-FFF2-40B4-BE49-F238E27FC236}">
                <a16:creationId xmlns:a16="http://schemas.microsoft.com/office/drawing/2014/main" id="{1BEBE3E3-DA6C-783C-D284-C6AD5ABAEF9C}"/>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Access required before you run</a:t>
            </a:r>
          </a:p>
          <a:p>
            <a:pPr algn="l">
              <a:buNone/>
            </a:pPr>
            <a:r>
              <a:rPr lang="en-US" sz="100">
                <a:effectLst/>
              </a:rPr>
              <a:t> </a:t>
            </a:r>
            <a:endParaRPr lang="en-US"/>
          </a:p>
        </p:txBody>
      </p:sp>
      <p:sp>
        <p:nvSpPr>
          <p:cNvPr id="18573" name="Rectangle 18572">
            <a:extLst>
              <a:ext uri="{FF2B5EF4-FFF2-40B4-BE49-F238E27FC236}">
                <a16:creationId xmlns:a16="http://schemas.microsoft.com/office/drawing/2014/main" id="{AC579D0A-8CDF-B0CA-740D-EDABCFDA1287}"/>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38" name="Rectangle 18637">
            <a:extLst>
              <a:ext uri="{FF2B5EF4-FFF2-40B4-BE49-F238E27FC236}">
                <a16:creationId xmlns:a16="http://schemas.microsoft.com/office/drawing/2014/main" id="{BF72C955-2882-2B55-17D3-48578F4266A7}"/>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8704" name="Rectangle 18703">
            <a:extLst>
              <a:ext uri="{FF2B5EF4-FFF2-40B4-BE49-F238E27FC236}">
                <a16:creationId xmlns:a16="http://schemas.microsoft.com/office/drawing/2014/main" id="{37D7E9B5-B3ED-4B13-F722-FC5E96D05F0C}"/>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19</a:t>
            </a:r>
          </a:p>
          <a:p>
            <a:pPr algn="r">
              <a:buNone/>
            </a:pPr>
            <a:r>
              <a:rPr lang="en-US" sz="100">
                <a:effectLst/>
              </a:rPr>
              <a:t> </a:t>
            </a:r>
            <a:endParaRPr lang="en-US"/>
          </a:p>
        </p:txBody>
      </p:sp>
      <p:sp>
        <p:nvSpPr>
          <p:cNvPr id="18771" name="Rectangle 18770">
            <a:extLst>
              <a:ext uri="{FF2B5EF4-FFF2-40B4-BE49-F238E27FC236}">
                <a16:creationId xmlns:a16="http://schemas.microsoft.com/office/drawing/2014/main" id="{92592F68-1589-6525-E641-C1D03021A29E}"/>
              </a:ext>
            </a:extLst>
          </p:cNvPr>
          <p:cNvSpPr/>
          <p:nvPr/>
        </p:nvSpPr>
        <p:spPr>
          <a:xfrm>
            <a:off x="914400" y="1650000"/>
            <a:ext cx="5105400" cy="279748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39" name="Rectangle 18838">
            <a:extLst>
              <a:ext uri="{FF2B5EF4-FFF2-40B4-BE49-F238E27FC236}">
                <a16:creationId xmlns:a16="http://schemas.microsoft.com/office/drawing/2014/main" id="{6A65E563-187F-AD09-751C-CD69C7220470}"/>
              </a:ext>
            </a:extLst>
          </p:cNvPr>
          <p:cNvSpPr/>
          <p:nvPr/>
        </p:nvSpPr>
        <p:spPr>
          <a:xfrm>
            <a:off x="1143000" y="1878600"/>
            <a:ext cx="4648200" cy="43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Domain controller script</a:t>
            </a:r>
          </a:p>
          <a:p>
            <a:pPr algn="l">
              <a:buNone/>
            </a:pPr>
            <a:r>
              <a:rPr lang="en-US" sz="100">
                <a:effectLst/>
              </a:rPr>
              <a:t> </a:t>
            </a:r>
            <a:endParaRPr lang="en-US"/>
          </a:p>
        </p:txBody>
      </p:sp>
      <p:sp>
        <p:nvSpPr>
          <p:cNvPr id="18908" name="Rectangle 18907">
            <a:extLst>
              <a:ext uri="{FF2B5EF4-FFF2-40B4-BE49-F238E27FC236}">
                <a16:creationId xmlns:a16="http://schemas.microsoft.com/office/drawing/2014/main" id="{C8563278-8DD8-2742-4416-795586468630}"/>
              </a:ext>
            </a:extLst>
          </p:cNvPr>
          <p:cNvSpPr/>
          <p:nvPr/>
        </p:nvSpPr>
        <p:spPr>
          <a:xfrm>
            <a:off x="1143000" y="2313880"/>
            <a:ext cx="464820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   Read access to Active Directory (any authenticated domain user has this)</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RSAT ActiveDirectory PowerShell module</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Local Administrator on each target SQL host</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WMI/RPC to targets (TCP 135 + dynamic range)</a:t>
            </a:r>
            <a:endParaRPr lang="en-US"/>
          </a:p>
        </p:txBody>
      </p:sp>
      <p:sp>
        <p:nvSpPr>
          <p:cNvPr id="18978" name="Rectangle 18977">
            <a:extLst>
              <a:ext uri="{FF2B5EF4-FFF2-40B4-BE49-F238E27FC236}">
                <a16:creationId xmlns:a16="http://schemas.microsoft.com/office/drawing/2014/main" id="{E15CAFAF-0899-E70F-A822-0D710CD95421}"/>
              </a:ext>
            </a:extLst>
          </p:cNvPr>
          <p:cNvSpPr/>
          <p:nvPr/>
        </p:nvSpPr>
        <p:spPr>
          <a:xfrm>
            <a:off x="6172200" y="1650000"/>
            <a:ext cx="5105400" cy="279748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049" name="Rectangle 19048">
            <a:extLst>
              <a:ext uri="{FF2B5EF4-FFF2-40B4-BE49-F238E27FC236}">
                <a16:creationId xmlns:a16="http://schemas.microsoft.com/office/drawing/2014/main" id="{8698BE1E-6036-A184-F001-11D6C4852A2F}"/>
              </a:ext>
            </a:extLst>
          </p:cNvPr>
          <p:cNvSpPr/>
          <p:nvPr/>
        </p:nvSpPr>
        <p:spPr>
          <a:xfrm>
            <a:off x="6400800" y="1878600"/>
            <a:ext cx="4648200" cy="43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Member server script</a:t>
            </a:r>
          </a:p>
          <a:p>
            <a:pPr algn="l">
              <a:buNone/>
            </a:pPr>
            <a:r>
              <a:rPr lang="en-US" sz="100">
                <a:effectLst/>
              </a:rPr>
              <a:t> </a:t>
            </a:r>
            <a:endParaRPr lang="en-US"/>
          </a:p>
        </p:txBody>
      </p:sp>
      <p:sp>
        <p:nvSpPr>
          <p:cNvPr id="19121" name="Rectangle 19120">
            <a:extLst>
              <a:ext uri="{FF2B5EF4-FFF2-40B4-BE49-F238E27FC236}">
                <a16:creationId xmlns:a16="http://schemas.microsoft.com/office/drawing/2014/main" id="{E66D5CB6-B9D8-8413-6A07-1B4AD8123E79}"/>
              </a:ext>
            </a:extLst>
          </p:cNvPr>
          <p:cNvSpPr/>
          <p:nvPr/>
        </p:nvSpPr>
        <p:spPr>
          <a:xfrm>
            <a:off x="6400800" y="2313880"/>
            <a:ext cx="4648200" cy="1905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   UDP 1434 outbound (SQL Browser/SSRP discovery)</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TCP 1433 outbound and any custom ports</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Local Administrator on each target SQL host</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WMI/RPC to targets</a:t>
            </a:r>
          </a:p>
          <a:p>
            <a:pPr algn="l">
              <a:buNone/>
            </a:pPr>
            <a:r>
              <a:rPr lang="en-US" sz="700">
                <a:solidFill>
                  <a:srgbClr val="201F1E"/>
                </a:solidFill>
                <a:effectLst/>
                <a:latin typeface="Segoe UI" panose="020B0502040204020203" pitchFamily="34" charset="0"/>
              </a:rPr>
              <a:t> </a:t>
            </a:r>
          </a:p>
          <a:p>
            <a:pPr algn="l">
              <a:buNone/>
            </a:pPr>
            <a:r>
              <a:rPr lang="en-US" sz="1300">
                <a:solidFill>
                  <a:srgbClr val="201F1E"/>
                </a:solidFill>
                <a:effectLst/>
                <a:latin typeface="Segoe UI" panose="020B0502040204020203" pitchFamily="34" charset="0"/>
              </a:rPr>
              <a:t>·   Authorisation to scan the subnet</a:t>
            </a:r>
            <a:endParaRPr lang="en-US"/>
          </a:p>
        </p:txBody>
      </p:sp>
      <p:sp>
        <p:nvSpPr>
          <p:cNvPr id="19194" name="Rectangle 19193">
            <a:extLst>
              <a:ext uri="{FF2B5EF4-FFF2-40B4-BE49-F238E27FC236}">
                <a16:creationId xmlns:a16="http://schemas.microsoft.com/office/drawing/2014/main" id="{6CEBA3AC-BECE-AE4C-D76E-733F2ECE9B76}"/>
              </a:ext>
            </a:extLst>
          </p:cNvPr>
          <p:cNvSpPr/>
          <p:nvPr/>
        </p:nvSpPr>
        <p:spPr>
          <a:xfrm>
            <a:off x="914400" y="4607480"/>
            <a:ext cx="10363200" cy="122964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68" name="Rectangle 19267">
            <a:extLst>
              <a:ext uri="{FF2B5EF4-FFF2-40B4-BE49-F238E27FC236}">
                <a16:creationId xmlns:a16="http://schemas.microsoft.com/office/drawing/2014/main" id="{B541EB31-C226-4351-B21E-CA7537C2E853}"/>
              </a:ext>
            </a:extLst>
          </p:cNvPr>
          <p:cNvSpPr/>
          <p:nvPr/>
        </p:nvSpPr>
        <p:spPr>
          <a:xfrm>
            <a:off x="1143000" y="4757480"/>
            <a:ext cx="9906000" cy="929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Run PowerShell as Administrator — elevation is needed locally to establish the outbound CIM/WMI sessions.</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Least privilege: Domain Admin is sufficient but not required. The actual requirement is local administrator on the SQL hosts — create a dedicated discovery account, add it to the local Administrators group on the SQL servers only, and pass it with -Credential.</a:t>
            </a:r>
            <a:endParaRPr lang="en-US"/>
          </a:p>
        </p:txBody>
      </p:sp>
    </p:spTree>
    <p:extLst>
      <p:ext uri="{BB962C8B-B14F-4D97-AF65-F5344CB8AC3E}">
        <p14:creationId xmlns:p14="http://schemas.microsoft.com/office/powerpoint/2010/main" val="942810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012" name="Rectangle 25011">
            <a:extLst>
              <a:ext uri="{FF2B5EF4-FFF2-40B4-BE49-F238E27FC236}">
                <a16:creationId xmlns:a16="http://schemas.microsoft.com/office/drawing/2014/main" id="{4F3D84AB-630F-0F97-1DAF-879DD9EF4C1C}"/>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SCRIPT USAGE</a:t>
            </a:r>
          </a:p>
          <a:p>
            <a:pPr algn="l">
              <a:buNone/>
            </a:pPr>
            <a:r>
              <a:rPr lang="en-US" sz="100">
                <a:effectLst/>
              </a:rPr>
              <a:t> </a:t>
            </a:r>
            <a:endParaRPr lang="en-US"/>
          </a:p>
        </p:txBody>
      </p:sp>
      <p:sp>
        <p:nvSpPr>
          <p:cNvPr id="25028" name="Rectangle 25027">
            <a:extLst>
              <a:ext uri="{FF2B5EF4-FFF2-40B4-BE49-F238E27FC236}">
                <a16:creationId xmlns:a16="http://schemas.microsoft.com/office/drawing/2014/main" id="{7F8475F2-24D0-62FD-45C5-A8F76B982FC8}"/>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Domain controller</a:t>
            </a:r>
          </a:p>
          <a:p>
            <a:pPr algn="l">
              <a:buNone/>
            </a:pPr>
            <a:r>
              <a:rPr lang="en-US" sz="100">
                <a:effectLst/>
              </a:rPr>
              <a:t> </a:t>
            </a:r>
            <a:endParaRPr lang="en-US"/>
          </a:p>
        </p:txBody>
      </p:sp>
      <p:sp>
        <p:nvSpPr>
          <p:cNvPr id="25045" name="Rectangle 25044">
            <a:extLst>
              <a:ext uri="{FF2B5EF4-FFF2-40B4-BE49-F238E27FC236}">
                <a16:creationId xmlns:a16="http://schemas.microsoft.com/office/drawing/2014/main" id="{4C39B05E-F909-475D-D5F6-A64384D6E0AD}"/>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63" name="Rectangle 25062">
            <a:extLst>
              <a:ext uri="{FF2B5EF4-FFF2-40B4-BE49-F238E27FC236}">
                <a16:creationId xmlns:a16="http://schemas.microsoft.com/office/drawing/2014/main" id="{B0028828-3B5D-4BB4-A6B8-47F4217B3E37}"/>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5082" name="Rectangle 25081">
            <a:extLst>
              <a:ext uri="{FF2B5EF4-FFF2-40B4-BE49-F238E27FC236}">
                <a16:creationId xmlns:a16="http://schemas.microsoft.com/office/drawing/2014/main" id="{C348A2CF-10E9-9E92-5D61-3583247F821F}"/>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20</a:t>
            </a:r>
          </a:p>
          <a:p>
            <a:pPr algn="r">
              <a:buNone/>
            </a:pPr>
            <a:r>
              <a:rPr lang="en-US" sz="100">
                <a:effectLst/>
              </a:rPr>
              <a:t> </a:t>
            </a:r>
            <a:endParaRPr lang="en-US"/>
          </a:p>
        </p:txBody>
      </p:sp>
      <p:sp>
        <p:nvSpPr>
          <p:cNvPr id="25102" name="Rectangle 25101">
            <a:extLst>
              <a:ext uri="{FF2B5EF4-FFF2-40B4-BE49-F238E27FC236}">
                <a16:creationId xmlns:a16="http://schemas.microsoft.com/office/drawing/2014/main" id="{BCF49750-5094-BC0F-FC78-32EB8F88A057}"/>
              </a:ext>
            </a:extLst>
          </p:cNvPr>
          <p:cNvSpPr/>
          <p:nvPr/>
        </p:nvSpPr>
        <p:spPr>
          <a:xfrm>
            <a:off x="914400" y="1700000"/>
            <a:ext cx="10363200" cy="2806000"/>
          </a:xfrm>
          <a:prstGeom prst="rect">
            <a:avLst/>
          </a:prstGeom>
          <a:solidFill>
            <a:srgbClr val="1B1A19"/>
          </a:solidFill>
          <a:ln>
            <a:solidFill>
              <a:srgbClr val="1B1A1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23" name="Rectangle: Rounded Corners 25122">
            <a:extLst>
              <a:ext uri="{FF2B5EF4-FFF2-40B4-BE49-F238E27FC236}">
                <a16:creationId xmlns:a16="http://schemas.microsoft.com/office/drawing/2014/main" id="{3B61E9FC-D7F7-4483-B3A6-686435D84A97}"/>
              </a:ext>
            </a:extLst>
          </p:cNvPr>
          <p:cNvSpPr/>
          <p:nvPr/>
        </p:nvSpPr>
        <p:spPr>
          <a:xfrm>
            <a:off x="9867920" y="1907160"/>
            <a:ext cx="1257280" cy="38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PowerShell</a:t>
            </a:r>
          </a:p>
          <a:p>
            <a:pPr algn="ctr">
              <a:buNone/>
            </a:pPr>
            <a:r>
              <a:rPr lang="en-US" sz="100">
                <a:effectLst/>
              </a:rPr>
              <a:t> </a:t>
            </a:r>
            <a:endParaRPr lang="en-US"/>
          </a:p>
        </p:txBody>
      </p:sp>
      <p:sp>
        <p:nvSpPr>
          <p:cNvPr id="25145" name="Rectangle 25144">
            <a:extLst>
              <a:ext uri="{FF2B5EF4-FFF2-40B4-BE49-F238E27FC236}">
                <a16:creationId xmlns:a16="http://schemas.microsoft.com/office/drawing/2014/main" id="{B7A837CD-2B8C-5B38-A684-BC933F73CE12}"/>
              </a:ext>
            </a:extLst>
          </p:cNvPr>
          <p:cNvSpPr/>
          <p:nvPr/>
        </p:nvSpPr>
        <p:spPr>
          <a:xfrm>
            <a:off x="1066800" y="1960000"/>
            <a:ext cx="8658400" cy="2286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8CD98C"/>
                </a:solidFill>
                <a:effectLst/>
                <a:latin typeface="Consolas" panose="020B0609020204030204" pitchFamily="49" charset="0"/>
              </a:rPr>
              <a:t># Simplest form - current identity, CSV in the current folder</a:t>
            </a:r>
          </a:p>
          <a:p>
            <a:pPr algn="l">
              <a:buNone/>
            </a:pPr>
            <a:r>
              <a:rPr lang="en-US" sz="1200">
                <a:solidFill>
                  <a:srgbClr val="F3F2F1"/>
                </a:solidFill>
                <a:effectLst/>
                <a:latin typeface="Consolas" panose="020B0609020204030204" pitchFamily="49" charset="0"/>
              </a:rPr>
              <a:t>.\SQL-Discovery-DomainController.ps1</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Prompt for alternate credentials</a:t>
            </a:r>
          </a:p>
          <a:p>
            <a:pPr algn="l">
              <a:buNone/>
            </a:pPr>
            <a:r>
              <a:rPr lang="en-US" sz="1200">
                <a:solidFill>
                  <a:srgbClr val="F3F2F1"/>
                </a:solidFill>
                <a:effectLst/>
                <a:latin typeface="Consolas" panose="020B0609020204030204" pitchFamily="49" charset="0"/>
              </a:rPr>
              <a:t>.\SQL-Discovery-DomainController.ps1 -AuthMode Prompt</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Non-interactive (scheduled task / automation)</a:t>
            </a:r>
          </a:p>
          <a:p>
            <a:pPr algn="l">
              <a:buNone/>
            </a:pPr>
            <a:r>
              <a:rPr lang="en-US" sz="1200">
                <a:solidFill>
                  <a:srgbClr val="F3F2F1"/>
                </a:solidFill>
                <a:effectLst/>
                <a:latin typeface="Consolas" panose="020B0609020204030204" pitchFamily="49" charset="0"/>
              </a:rPr>
              <a:t>$cred = Get-Credential</a:t>
            </a:r>
          </a:p>
          <a:p>
            <a:pPr algn="l">
              <a:buNone/>
            </a:pPr>
            <a:r>
              <a:rPr lang="en-US" sz="1200">
                <a:solidFill>
                  <a:srgbClr val="F3F2F1"/>
                </a:solidFill>
                <a:effectLst/>
                <a:latin typeface="Consolas" panose="020B0609020204030204" pitchFamily="49" charset="0"/>
              </a:rPr>
              <a:t>.\SQL-Discovery-DomainController.ps1 -Credential $cred</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Custom output location</a:t>
            </a:r>
          </a:p>
          <a:p>
            <a:pPr algn="l">
              <a:buNone/>
            </a:pPr>
            <a:r>
              <a:rPr lang="en-US" sz="1200">
                <a:solidFill>
                  <a:srgbClr val="F3F2F1"/>
                </a:solidFill>
                <a:effectLst/>
                <a:latin typeface="Consolas" panose="020B0609020204030204" pitchFamily="49" charset="0"/>
              </a:rPr>
              <a:t>.\SQL-Discovery-DomainController.ps1 -OutputCsv '\\fileserver\reports\sql-estate.csv'</a:t>
            </a:r>
            <a:endParaRPr lang="en-US"/>
          </a:p>
        </p:txBody>
      </p:sp>
      <p:sp>
        <p:nvSpPr>
          <p:cNvPr id="25168" name="Rectangle 25167">
            <a:extLst>
              <a:ext uri="{FF2B5EF4-FFF2-40B4-BE49-F238E27FC236}">
                <a16:creationId xmlns:a16="http://schemas.microsoft.com/office/drawing/2014/main" id="{3188B260-089B-10A2-9E10-90654543F708}"/>
              </a:ext>
            </a:extLst>
          </p:cNvPr>
          <p:cNvSpPr/>
          <p:nvPr/>
        </p:nvSpPr>
        <p:spPr>
          <a:xfrm>
            <a:off x="914400" y="4706000"/>
            <a:ext cx="10363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There is no domain name variable — the script discovers the current domain automatically, so it's portable as-is.</a:t>
            </a:r>
          </a:p>
          <a:p>
            <a:pPr algn="l">
              <a:buNone/>
            </a:pPr>
            <a:r>
              <a:rPr lang="en-US" sz="100">
                <a:effectLst/>
              </a:rPr>
              <a:t> </a:t>
            </a:r>
            <a:endParaRPr lang="en-US"/>
          </a:p>
        </p:txBody>
      </p:sp>
    </p:spTree>
    <p:extLst>
      <p:ext uri="{BB962C8B-B14F-4D97-AF65-F5344CB8AC3E}">
        <p14:creationId xmlns:p14="http://schemas.microsoft.com/office/powerpoint/2010/main" val="1315265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192" name="Rectangle 25191">
            <a:extLst>
              <a:ext uri="{FF2B5EF4-FFF2-40B4-BE49-F238E27FC236}">
                <a16:creationId xmlns:a16="http://schemas.microsoft.com/office/drawing/2014/main" id="{22F9813E-DCF0-5712-B6B3-EDFD71005EB4}"/>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SCRIPT USAGE</a:t>
            </a:r>
          </a:p>
          <a:p>
            <a:pPr algn="l">
              <a:buNone/>
            </a:pPr>
            <a:r>
              <a:rPr lang="en-US" sz="100">
                <a:effectLst/>
              </a:rPr>
              <a:t> </a:t>
            </a:r>
            <a:endParaRPr lang="en-US"/>
          </a:p>
        </p:txBody>
      </p:sp>
      <p:sp>
        <p:nvSpPr>
          <p:cNvPr id="25217" name="Rectangle 25216">
            <a:extLst>
              <a:ext uri="{FF2B5EF4-FFF2-40B4-BE49-F238E27FC236}">
                <a16:creationId xmlns:a16="http://schemas.microsoft.com/office/drawing/2014/main" id="{E83FDE6A-4C34-794C-8500-9ED90C2E0697}"/>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Member server subnet scan</a:t>
            </a:r>
          </a:p>
          <a:p>
            <a:pPr algn="l">
              <a:buNone/>
            </a:pPr>
            <a:r>
              <a:rPr lang="en-US" sz="100">
                <a:effectLst/>
              </a:rPr>
              <a:t> </a:t>
            </a:r>
            <a:endParaRPr lang="en-US"/>
          </a:p>
        </p:txBody>
      </p:sp>
      <p:sp>
        <p:nvSpPr>
          <p:cNvPr id="25243" name="Rectangle 25242">
            <a:extLst>
              <a:ext uri="{FF2B5EF4-FFF2-40B4-BE49-F238E27FC236}">
                <a16:creationId xmlns:a16="http://schemas.microsoft.com/office/drawing/2014/main" id="{D69C67B3-B6AF-281C-0105-9D007DAA9665}"/>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70" name="Rectangle 25269">
            <a:extLst>
              <a:ext uri="{FF2B5EF4-FFF2-40B4-BE49-F238E27FC236}">
                <a16:creationId xmlns:a16="http://schemas.microsoft.com/office/drawing/2014/main" id="{2D15347A-0B45-B5AE-F408-7D9166560D2B}"/>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5298" name="Rectangle 25297">
            <a:extLst>
              <a:ext uri="{FF2B5EF4-FFF2-40B4-BE49-F238E27FC236}">
                <a16:creationId xmlns:a16="http://schemas.microsoft.com/office/drawing/2014/main" id="{BAC360A7-C01C-1D52-8CA9-9D99F84FBD6E}"/>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21</a:t>
            </a:r>
          </a:p>
          <a:p>
            <a:pPr algn="r">
              <a:buNone/>
            </a:pPr>
            <a:r>
              <a:rPr lang="en-US" sz="100">
                <a:effectLst/>
              </a:rPr>
              <a:t> </a:t>
            </a:r>
            <a:endParaRPr lang="en-US"/>
          </a:p>
        </p:txBody>
      </p:sp>
      <p:sp>
        <p:nvSpPr>
          <p:cNvPr id="25327" name="Rectangle 25326">
            <a:extLst>
              <a:ext uri="{FF2B5EF4-FFF2-40B4-BE49-F238E27FC236}">
                <a16:creationId xmlns:a16="http://schemas.microsoft.com/office/drawing/2014/main" id="{DC19B74F-DADF-08D5-FFB6-B89D978DC693}"/>
              </a:ext>
            </a:extLst>
          </p:cNvPr>
          <p:cNvSpPr/>
          <p:nvPr/>
        </p:nvSpPr>
        <p:spPr>
          <a:xfrm>
            <a:off x="914400" y="1600000"/>
            <a:ext cx="10363200" cy="2748880"/>
          </a:xfrm>
          <a:prstGeom prst="rect">
            <a:avLst/>
          </a:prstGeom>
          <a:solidFill>
            <a:srgbClr val="1B1A19"/>
          </a:solidFill>
          <a:ln>
            <a:solidFill>
              <a:srgbClr val="1B1A1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57" name="Rectangle: Rounded Corners 25356">
            <a:extLst>
              <a:ext uri="{FF2B5EF4-FFF2-40B4-BE49-F238E27FC236}">
                <a16:creationId xmlns:a16="http://schemas.microsoft.com/office/drawing/2014/main" id="{57236A86-D9ED-C650-8BC9-40CFB8B273D5}"/>
              </a:ext>
            </a:extLst>
          </p:cNvPr>
          <p:cNvSpPr/>
          <p:nvPr/>
        </p:nvSpPr>
        <p:spPr>
          <a:xfrm>
            <a:off x="9867920" y="1687160"/>
            <a:ext cx="1257280" cy="38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PowerShell</a:t>
            </a:r>
          </a:p>
          <a:p>
            <a:pPr algn="ctr">
              <a:buNone/>
            </a:pPr>
            <a:r>
              <a:rPr lang="en-US" sz="100">
                <a:effectLst/>
              </a:rPr>
              <a:t> </a:t>
            </a:r>
            <a:endParaRPr lang="en-US"/>
          </a:p>
        </p:txBody>
      </p:sp>
      <p:sp>
        <p:nvSpPr>
          <p:cNvPr id="25388" name="Rectangle 25387">
            <a:extLst>
              <a:ext uri="{FF2B5EF4-FFF2-40B4-BE49-F238E27FC236}">
                <a16:creationId xmlns:a16="http://schemas.microsoft.com/office/drawing/2014/main" id="{52C8A001-16D4-D799-6877-1E5178D213CA}"/>
              </a:ext>
            </a:extLst>
          </p:cNvPr>
          <p:cNvSpPr/>
          <p:nvPr/>
        </p:nvSpPr>
        <p:spPr>
          <a:xfrm>
            <a:off x="1066800" y="1740000"/>
            <a:ext cx="8658400" cy="2468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8CD98C"/>
                </a:solidFill>
                <a:effectLst/>
                <a:latin typeface="Consolas" panose="020B0609020204030204" pitchFamily="49" charset="0"/>
              </a:rPr>
              <a:t># Scan a /24</a:t>
            </a:r>
          </a:p>
          <a:p>
            <a:pPr algn="l">
              <a:buNone/>
            </a:pPr>
            <a:r>
              <a:rPr lang="en-US" sz="1200">
                <a:solidFill>
                  <a:srgbClr val="F3F2F1"/>
                </a:solidFill>
                <a:effectLst/>
                <a:latin typeface="Consolas" panose="020B0609020204030204" pitchFamily="49" charset="0"/>
              </a:rPr>
              <a:t>.\SQL-Discovery-MemberServer.ps1 -TargetSubnet '10.20.1.0/24'</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Prompt for credentials</a:t>
            </a:r>
          </a:p>
          <a:p>
            <a:pPr algn="l">
              <a:buNone/>
            </a:pPr>
            <a:r>
              <a:rPr lang="en-US" sz="1200">
                <a:solidFill>
                  <a:srgbClr val="F3F2F1"/>
                </a:solidFill>
                <a:effectLst/>
                <a:latin typeface="Consolas" panose="020B0609020204030204" pitchFamily="49" charset="0"/>
              </a:rPr>
              <a:t>.\SQL-Discovery-MemberServer.ps1 -TargetSubnet '192.168.50.0/24' -AuthMode Prompt</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Non-interactive</a:t>
            </a:r>
          </a:p>
          <a:p>
            <a:pPr algn="l">
              <a:buNone/>
            </a:pPr>
            <a:r>
              <a:rPr lang="en-US" sz="1200">
                <a:solidFill>
                  <a:srgbClr val="F3F2F1"/>
                </a:solidFill>
                <a:effectLst/>
                <a:latin typeface="Consolas" panose="020B0609020204030204" pitchFamily="49" charset="0"/>
              </a:rPr>
              <a:t>$cred = Get-Credential</a:t>
            </a:r>
          </a:p>
          <a:p>
            <a:pPr algn="l">
              <a:buNone/>
            </a:pPr>
            <a:r>
              <a:rPr lang="en-US" sz="1200">
                <a:solidFill>
                  <a:srgbClr val="F3F2F1"/>
                </a:solidFill>
                <a:effectLst/>
                <a:latin typeface="Consolas" panose="020B0609020204030204" pitchFamily="49" charset="0"/>
              </a:rPr>
              <a:t>.\SQL-Discovery-MemberServer.ps1 -TargetSubnet '10.10.0.0/22' -Credential $cred</a:t>
            </a:r>
          </a:p>
          <a:p>
            <a:pPr algn="l">
              <a:buNone/>
            </a:pPr>
            <a:r>
              <a:rPr lang="en-US" sz="1200">
                <a:solidFill>
                  <a:srgbClr val="F3F2F1"/>
                </a:solidFill>
                <a:effectLst/>
                <a:latin typeface="Consolas" panose="020B0609020204030204" pitchFamily="49" charset="0"/>
              </a:rPr>
              <a:t> </a:t>
            </a:r>
          </a:p>
          <a:p>
            <a:pPr algn="l">
              <a:buNone/>
            </a:pPr>
            <a:r>
              <a:rPr lang="en-US" sz="1200">
                <a:solidFill>
                  <a:srgbClr val="8CD98C"/>
                </a:solidFill>
                <a:effectLst/>
                <a:latin typeface="Consolas" panose="020B0609020204030204" pitchFamily="49" charset="0"/>
              </a:rPr>
              <a:t># Larger subnet, more parallelism, extra SQL ports</a:t>
            </a:r>
          </a:p>
          <a:p>
            <a:pPr algn="l">
              <a:buNone/>
            </a:pPr>
            <a:r>
              <a:rPr lang="en-US" sz="1200">
                <a:solidFill>
                  <a:srgbClr val="F3F2F1"/>
                </a:solidFill>
                <a:effectLst/>
                <a:latin typeface="Consolas" panose="020B0609020204030204" pitchFamily="49" charset="0"/>
              </a:rPr>
              <a:t>.\SQL-Discovery-MemberServer.ps1 -TargetSubnet '10.0.0.0/22' `</a:t>
            </a:r>
          </a:p>
          <a:p>
            <a:pPr algn="l">
              <a:buNone/>
            </a:pPr>
            <a:r>
              <a:rPr lang="en-US" sz="1200">
                <a:solidFill>
                  <a:srgbClr val="F3F2F1"/>
                </a:solidFill>
                <a:effectLst/>
                <a:latin typeface="Consolas" panose="020B0609020204030204" pitchFamily="49" charset="0"/>
              </a:rPr>
              <a:t>    -ThrottleLimit 64 -SqlPorts 1433,1434,49172 -MaxHosts 2000</a:t>
            </a:r>
            <a:endParaRPr lang="en-US"/>
          </a:p>
        </p:txBody>
      </p:sp>
      <p:graphicFrame>
        <p:nvGraphicFramePr>
          <p:cNvPr id="12" name="Table 11">
            <a:extLst>
              <a:ext uri="{FF2B5EF4-FFF2-40B4-BE49-F238E27FC236}">
                <a16:creationId xmlns:a16="http://schemas.microsoft.com/office/drawing/2014/main" id="{B5398C26-74D7-406E-BF72-8B02823554C2}"/>
              </a:ext>
            </a:extLst>
          </p:cNvPr>
          <p:cNvGraphicFramePr>
            <a:graphicFrameLocks noGrp="1"/>
          </p:cNvGraphicFramePr>
          <p:nvPr/>
        </p:nvGraphicFramePr>
        <p:xfrm>
          <a:off x="914400" y="4488880"/>
          <a:ext cx="8127999" cy="13716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3456541966"/>
                    </a:ext>
                  </a:extLst>
                </a:gridCol>
                <a:gridCol w="2709333">
                  <a:extLst>
                    <a:ext uri="{9D8B030D-6E8A-4147-A177-3AD203B41FA5}">
                      <a16:colId xmlns:a16="http://schemas.microsoft.com/office/drawing/2014/main" val="2892250577"/>
                    </a:ext>
                  </a:extLst>
                </a:gridCol>
                <a:gridCol w="2709333">
                  <a:extLst>
                    <a:ext uri="{9D8B030D-6E8A-4147-A177-3AD203B41FA5}">
                      <a16:colId xmlns:a16="http://schemas.microsoft.com/office/drawing/2014/main" val="3708023580"/>
                    </a:ext>
                  </a:extLst>
                </a:gridCol>
              </a:tblGrid>
              <a:tr h="0">
                <a:tc>
                  <a:txBody>
                    <a:bodyPr/>
                    <a:lstStyle/>
                    <a:p>
                      <a:pPr>
                        <a:buNone/>
                      </a:pPr>
                      <a:r>
                        <a:rPr lang="en-US" sz="1200" b="1">
                          <a:solidFill>
                            <a:srgbClr val="FFFFFF"/>
                          </a:solidFill>
                          <a:effectLst/>
                          <a:latin typeface="Segoe UI" panose="020B0502040204020203" pitchFamily="34" charset="0"/>
                        </a:rPr>
                        <a:t>Subnet</a:t>
                      </a:r>
                    </a:p>
                  </a:txBody>
                  <a:tcPr anchor="ctr">
                    <a:lnL>
                      <a:noFill/>
                    </a:lnL>
                    <a:lnR>
                      <a:noFill/>
                    </a:lnR>
                    <a:lnT>
                      <a:noFill/>
                    </a:lnT>
                    <a:lnB>
                      <a:noFill/>
                    </a:lnB>
                    <a:solidFill>
                      <a:srgbClr val="243A5E"/>
                    </a:solidFill>
                  </a:tcPr>
                </a:tc>
                <a:tc>
                  <a:txBody>
                    <a:bodyPr/>
                    <a:lstStyle/>
                    <a:p>
                      <a:pPr algn="ctr">
                        <a:buNone/>
                      </a:pPr>
                      <a:r>
                        <a:rPr lang="en-US" sz="1200" b="1">
                          <a:solidFill>
                            <a:srgbClr val="FFFFFF"/>
                          </a:solidFill>
                          <a:effectLst/>
                          <a:latin typeface="Segoe UI" panose="020B0502040204020203" pitchFamily="34" charset="0"/>
                        </a:rPr>
                        <a:t>Usable hosts</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Approx. scan time</a:t>
                      </a:r>
                    </a:p>
                  </a:txBody>
                  <a:tcPr anchor="ctr">
                    <a:lnL>
                      <a:noFill/>
                    </a:lnL>
                    <a:lnR>
                      <a:noFill/>
                    </a:lnR>
                    <a:lnT>
                      <a:noFill/>
                    </a:lnT>
                    <a:lnB>
                      <a:noFill/>
                    </a:lnB>
                    <a:solidFill>
                      <a:srgbClr val="243A5E"/>
                    </a:solidFill>
                  </a:tcPr>
                </a:tc>
                <a:extLst>
                  <a:ext uri="{0D108BD9-81ED-4DB2-BD59-A6C34878D82A}">
                    <a16:rowId xmlns:a16="http://schemas.microsoft.com/office/drawing/2014/main" val="4164410708"/>
                  </a:ext>
                </a:extLst>
              </a:tr>
              <a:tr h="0">
                <a:tc>
                  <a:txBody>
                    <a:bodyPr/>
                    <a:lstStyle/>
                    <a:p>
                      <a:pPr>
                        <a:buNone/>
                      </a:pPr>
                      <a:r>
                        <a:rPr lang="en-US" sz="1200">
                          <a:effectLst/>
                          <a:latin typeface="Segoe UI" panose="020B0502040204020203" pitchFamily="34" charset="0"/>
                        </a:rPr>
                        <a:t>10.20.1.0/24</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254</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~13 seconds</a:t>
                      </a:r>
                    </a:p>
                  </a:txBody>
                  <a:tcPr anchor="ctr">
                    <a:lnL>
                      <a:noFill/>
                    </a:lnL>
                    <a:lnR>
                      <a:noFill/>
                    </a:lnR>
                    <a:lnT>
                      <a:noFill/>
                    </a:lnT>
                    <a:lnB>
                      <a:noFill/>
                    </a:lnB>
                    <a:noFill/>
                  </a:tcPr>
                </a:tc>
                <a:extLst>
                  <a:ext uri="{0D108BD9-81ED-4DB2-BD59-A6C34878D82A}">
                    <a16:rowId xmlns:a16="http://schemas.microsoft.com/office/drawing/2014/main" val="990155301"/>
                  </a:ext>
                </a:extLst>
              </a:tr>
              <a:tr h="0">
                <a:tc>
                  <a:txBody>
                    <a:bodyPr/>
                    <a:lstStyle/>
                    <a:p>
                      <a:pPr>
                        <a:buNone/>
                      </a:pPr>
                      <a:r>
                        <a:rPr lang="en-US" sz="1200">
                          <a:effectLst/>
                          <a:latin typeface="Segoe UI" panose="020B0502040204020203" pitchFamily="34" charset="0"/>
                        </a:rPr>
                        <a:t>10.20.0.0/22</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1,022</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~50 seconds</a:t>
                      </a:r>
                    </a:p>
                  </a:txBody>
                  <a:tcPr anchor="ctr">
                    <a:lnL>
                      <a:noFill/>
                    </a:lnL>
                    <a:lnR>
                      <a:noFill/>
                    </a:lnR>
                    <a:lnT>
                      <a:noFill/>
                    </a:lnT>
                    <a:lnB>
                      <a:noFill/>
                    </a:lnB>
                    <a:solidFill>
                      <a:srgbClr val="E9EBEF"/>
                    </a:solidFill>
                  </a:tcPr>
                </a:tc>
                <a:extLst>
                  <a:ext uri="{0D108BD9-81ED-4DB2-BD59-A6C34878D82A}">
                    <a16:rowId xmlns:a16="http://schemas.microsoft.com/office/drawing/2014/main" val="2800131298"/>
                  </a:ext>
                </a:extLst>
              </a:tr>
              <a:tr h="0">
                <a:tc>
                  <a:txBody>
                    <a:bodyPr/>
                    <a:lstStyle/>
                    <a:p>
                      <a:pPr>
                        <a:buNone/>
                      </a:pPr>
                      <a:r>
                        <a:rPr lang="en-US" sz="1200">
                          <a:effectLst/>
                          <a:latin typeface="Segoe UI" panose="020B0502040204020203" pitchFamily="34" charset="0"/>
                        </a:rPr>
                        <a:t>192.168.1.0/25</a:t>
                      </a:r>
                    </a:p>
                  </a:txBody>
                  <a:tcPr anchor="ctr">
                    <a:lnL>
                      <a:noFill/>
                    </a:lnL>
                    <a:lnR>
                      <a:noFill/>
                    </a:lnR>
                    <a:lnT>
                      <a:noFill/>
                    </a:lnT>
                    <a:lnB>
                      <a:noFill/>
                    </a:lnB>
                    <a:noFill/>
                  </a:tcPr>
                </a:tc>
                <a:tc>
                  <a:txBody>
                    <a:bodyPr/>
                    <a:lstStyle/>
                    <a:p>
                      <a:pPr algn="ctr">
                        <a:buNone/>
                      </a:pPr>
                      <a:r>
                        <a:rPr lang="en-US" sz="1200">
                          <a:effectLst/>
                          <a:latin typeface="Segoe UI" panose="020B0502040204020203" pitchFamily="34" charset="0"/>
                        </a:rPr>
                        <a:t>126</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~7 seconds</a:t>
                      </a:r>
                    </a:p>
                  </a:txBody>
                  <a:tcPr anchor="ctr">
                    <a:lnL>
                      <a:noFill/>
                    </a:lnL>
                    <a:lnR>
                      <a:noFill/>
                    </a:lnR>
                    <a:lnT>
                      <a:noFill/>
                    </a:lnT>
                    <a:lnB>
                      <a:noFill/>
                    </a:lnB>
                    <a:noFill/>
                  </a:tcPr>
                </a:tc>
                <a:extLst>
                  <a:ext uri="{0D108BD9-81ED-4DB2-BD59-A6C34878D82A}">
                    <a16:rowId xmlns:a16="http://schemas.microsoft.com/office/drawing/2014/main" val="3901665329"/>
                  </a:ext>
                </a:extLst>
              </a:tr>
              <a:tr h="0">
                <a:tc>
                  <a:txBody>
                    <a:bodyPr/>
                    <a:lstStyle/>
                    <a:p>
                      <a:pPr>
                        <a:buNone/>
                      </a:pPr>
                      <a:r>
                        <a:rPr lang="en-US" sz="1200">
                          <a:effectLst/>
                          <a:latin typeface="Segoe UI" panose="020B0502040204020203" pitchFamily="34" charset="0"/>
                        </a:rPr>
                        <a:t>172.16.0.0/20</a:t>
                      </a:r>
                    </a:p>
                  </a:txBody>
                  <a:tcPr anchor="ctr">
                    <a:lnL>
                      <a:noFill/>
                    </a:lnL>
                    <a:lnR>
                      <a:noFill/>
                    </a:lnR>
                    <a:lnT>
                      <a:noFill/>
                    </a:lnT>
                    <a:lnB>
                      <a:noFill/>
                    </a:lnB>
                    <a:solidFill>
                      <a:srgbClr val="E9EBEF"/>
                    </a:solidFill>
                  </a:tcPr>
                </a:tc>
                <a:tc>
                  <a:txBody>
                    <a:bodyPr/>
                    <a:lstStyle/>
                    <a:p>
                      <a:pPr algn="ctr">
                        <a:buNone/>
                      </a:pPr>
                      <a:r>
                        <a:rPr lang="en-US" sz="1200">
                          <a:effectLst/>
                          <a:latin typeface="Segoe UI" panose="020B0502040204020203" pitchFamily="34" charset="0"/>
                        </a:rPr>
                        <a:t>4,094</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~3 minutes</a:t>
                      </a:r>
                    </a:p>
                  </a:txBody>
                  <a:tcPr anchor="ctr">
                    <a:lnL>
                      <a:noFill/>
                    </a:lnL>
                    <a:lnR>
                      <a:noFill/>
                    </a:lnR>
                    <a:lnT>
                      <a:noFill/>
                    </a:lnT>
                    <a:lnB>
                      <a:noFill/>
                    </a:lnB>
                    <a:solidFill>
                      <a:srgbClr val="E9EBEF"/>
                    </a:solidFill>
                  </a:tcPr>
                </a:tc>
                <a:extLst>
                  <a:ext uri="{0D108BD9-81ED-4DB2-BD59-A6C34878D82A}">
                    <a16:rowId xmlns:a16="http://schemas.microsoft.com/office/drawing/2014/main" val="918052039"/>
                  </a:ext>
                </a:extLst>
              </a:tr>
            </a:tbl>
          </a:graphicData>
        </a:graphic>
      </p:graphicFrame>
      <p:sp>
        <p:nvSpPr>
          <p:cNvPr id="25421" name="Rectangle 25420">
            <a:extLst>
              <a:ext uri="{FF2B5EF4-FFF2-40B4-BE49-F238E27FC236}">
                <a16:creationId xmlns:a16="http://schemas.microsoft.com/office/drawing/2014/main" id="{C8B80B8A-1769-955D-1D74-80B163AA1F9C}"/>
              </a:ext>
            </a:extLst>
          </p:cNvPr>
          <p:cNvSpPr/>
          <p:nvPr/>
        </p:nvSpPr>
        <p:spPr>
          <a:xfrm>
            <a:off x="9242400" y="4688880"/>
            <a:ext cx="20352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/31 and /32 are rejected — they have no conventional usable host range.</a:t>
            </a:r>
          </a:p>
          <a:p>
            <a:pPr algn="l">
              <a:buNone/>
            </a:pPr>
            <a:r>
              <a:rPr lang="en-US" sz="100">
                <a:effectLst/>
              </a:rPr>
              <a:t> </a:t>
            </a:r>
            <a:endParaRPr lang="en-US"/>
          </a:p>
        </p:txBody>
      </p:sp>
    </p:spTree>
    <p:extLst>
      <p:ext uri="{BB962C8B-B14F-4D97-AF65-F5344CB8AC3E}">
        <p14:creationId xmlns:p14="http://schemas.microsoft.com/office/powerpoint/2010/main" val="2754857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61" name="Rectangle 10360">
            <a:extLst>
              <a:ext uri="{FF2B5EF4-FFF2-40B4-BE49-F238E27FC236}">
                <a16:creationId xmlns:a16="http://schemas.microsoft.com/office/drawing/2014/main" id="{59D30483-955D-DA46-8234-BDDBB8EC1D46}"/>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TUNING</a:t>
            </a:r>
          </a:p>
          <a:p>
            <a:pPr algn="l">
              <a:buNone/>
            </a:pPr>
            <a:r>
              <a:rPr lang="en-US" sz="100">
                <a:effectLst/>
              </a:rPr>
              <a:t> </a:t>
            </a:r>
            <a:endParaRPr lang="en-US"/>
          </a:p>
        </p:txBody>
      </p:sp>
      <p:sp>
        <p:nvSpPr>
          <p:cNvPr id="10363" name="Rectangle 10362">
            <a:extLst>
              <a:ext uri="{FF2B5EF4-FFF2-40B4-BE49-F238E27FC236}">
                <a16:creationId xmlns:a16="http://schemas.microsoft.com/office/drawing/2014/main" id="{181D71EA-30DB-CA72-1425-71C9D0CC1624}"/>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Tuning it for your environment</a:t>
            </a:r>
          </a:p>
          <a:p>
            <a:pPr algn="l">
              <a:buNone/>
            </a:pPr>
            <a:r>
              <a:rPr lang="en-US" sz="100">
                <a:effectLst/>
              </a:rPr>
              <a:t> </a:t>
            </a:r>
            <a:endParaRPr lang="en-US"/>
          </a:p>
        </p:txBody>
      </p:sp>
      <p:sp>
        <p:nvSpPr>
          <p:cNvPr id="10366" name="Rectangle 10365">
            <a:extLst>
              <a:ext uri="{FF2B5EF4-FFF2-40B4-BE49-F238E27FC236}">
                <a16:creationId xmlns:a16="http://schemas.microsoft.com/office/drawing/2014/main" id="{C1CDC19A-EDEF-339B-E09B-1D916124A0E8}"/>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70" name="Rectangle 10369">
            <a:extLst>
              <a:ext uri="{FF2B5EF4-FFF2-40B4-BE49-F238E27FC236}">
                <a16:creationId xmlns:a16="http://schemas.microsoft.com/office/drawing/2014/main" id="{0BA76D3E-C6E1-467D-9BBD-F184F673E342}"/>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0375" name="Rectangle 10374">
            <a:extLst>
              <a:ext uri="{FF2B5EF4-FFF2-40B4-BE49-F238E27FC236}">
                <a16:creationId xmlns:a16="http://schemas.microsoft.com/office/drawing/2014/main" id="{054A4AF4-11FF-DFDA-7A5A-E66E57109BA6}"/>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22</a:t>
            </a:r>
          </a:p>
          <a:p>
            <a:pPr algn="r">
              <a:buNone/>
            </a:pPr>
            <a:r>
              <a:rPr lang="en-US" sz="100">
                <a:effectLst/>
              </a:rPr>
              <a:t> </a:t>
            </a:r>
            <a:endParaRPr lang="en-US"/>
          </a:p>
        </p:txBody>
      </p:sp>
      <p:graphicFrame>
        <p:nvGraphicFramePr>
          <p:cNvPr id="9" name="Table 8">
            <a:extLst>
              <a:ext uri="{FF2B5EF4-FFF2-40B4-BE49-F238E27FC236}">
                <a16:creationId xmlns:a16="http://schemas.microsoft.com/office/drawing/2014/main" id="{7A19927E-551E-4203-9397-092C80586E54}"/>
              </a:ext>
            </a:extLst>
          </p:cNvPr>
          <p:cNvGraphicFramePr>
            <a:graphicFrameLocks noGrp="1"/>
          </p:cNvGraphicFramePr>
          <p:nvPr/>
        </p:nvGraphicFramePr>
        <p:xfrm>
          <a:off x="914400" y="1620000"/>
          <a:ext cx="8127999" cy="374904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2406308727"/>
                    </a:ext>
                  </a:extLst>
                </a:gridCol>
                <a:gridCol w="2709333">
                  <a:extLst>
                    <a:ext uri="{9D8B030D-6E8A-4147-A177-3AD203B41FA5}">
                      <a16:colId xmlns:a16="http://schemas.microsoft.com/office/drawing/2014/main" val="2561932466"/>
                    </a:ext>
                  </a:extLst>
                </a:gridCol>
                <a:gridCol w="2709333">
                  <a:extLst>
                    <a:ext uri="{9D8B030D-6E8A-4147-A177-3AD203B41FA5}">
                      <a16:colId xmlns:a16="http://schemas.microsoft.com/office/drawing/2014/main" val="81454214"/>
                    </a:ext>
                  </a:extLst>
                </a:gridCol>
              </a:tblGrid>
              <a:tr h="0">
                <a:tc>
                  <a:txBody>
                    <a:bodyPr/>
                    <a:lstStyle/>
                    <a:p>
                      <a:pPr>
                        <a:buNone/>
                      </a:pPr>
                      <a:r>
                        <a:rPr lang="en-US" sz="1200" b="1">
                          <a:solidFill>
                            <a:srgbClr val="FFFFFF"/>
                          </a:solidFill>
                          <a:effectLst/>
                          <a:latin typeface="Segoe UI" panose="020B0502040204020203" pitchFamily="34" charset="0"/>
                        </a:rPr>
                        <a:t>Parameter</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Default</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Change it when</a:t>
                      </a:r>
                    </a:p>
                  </a:txBody>
                  <a:tcPr anchor="ctr">
                    <a:lnL>
                      <a:noFill/>
                    </a:lnL>
                    <a:lnR>
                      <a:noFill/>
                    </a:lnR>
                    <a:lnT>
                      <a:noFill/>
                    </a:lnT>
                    <a:lnB>
                      <a:noFill/>
                    </a:lnB>
                    <a:solidFill>
                      <a:srgbClr val="243A5E"/>
                    </a:solidFill>
                  </a:tcPr>
                </a:tc>
                <a:extLst>
                  <a:ext uri="{0D108BD9-81ED-4DB2-BD59-A6C34878D82A}">
                    <a16:rowId xmlns:a16="http://schemas.microsoft.com/office/drawing/2014/main" val="143958227"/>
                  </a:ext>
                </a:extLst>
              </a:tr>
              <a:tr h="0">
                <a:tc>
                  <a:txBody>
                    <a:bodyPr/>
                    <a:lstStyle/>
                    <a:p>
                      <a:pPr>
                        <a:buNone/>
                      </a:pPr>
                      <a:r>
                        <a:rPr lang="en-US" sz="1200">
                          <a:effectLst/>
                          <a:latin typeface="Segoe UI" panose="020B0502040204020203" pitchFamily="34" charset="0"/>
                        </a:rPr>
                        <a:t>-TargetSubnet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10.20.1.0/24</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Always — set this to the subnet you want to scan</a:t>
                      </a:r>
                    </a:p>
                  </a:txBody>
                  <a:tcPr anchor="ctr">
                    <a:lnL>
                      <a:noFill/>
                    </a:lnL>
                    <a:lnR>
                      <a:noFill/>
                    </a:lnR>
                    <a:lnT>
                      <a:noFill/>
                    </a:lnT>
                    <a:lnB>
                      <a:noFill/>
                    </a:lnB>
                    <a:noFill/>
                  </a:tcPr>
                </a:tc>
                <a:extLst>
                  <a:ext uri="{0D108BD9-81ED-4DB2-BD59-A6C34878D82A}">
                    <a16:rowId xmlns:a16="http://schemas.microsoft.com/office/drawing/2014/main" val="2523666913"/>
                  </a:ext>
                </a:extLst>
              </a:tr>
              <a:tr h="0">
                <a:tc>
                  <a:txBody>
                    <a:bodyPr/>
                    <a:lstStyle/>
                    <a:p>
                      <a:pPr>
                        <a:buNone/>
                      </a:pPr>
                      <a:r>
                        <a:rPr lang="en-US" sz="1200">
                          <a:effectLst/>
                          <a:latin typeface="Segoe UI" panose="020B0502040204020203" pitchFamily="34" charset="0"/>
                        </a:rPr>
                        <a:t>-AuthMode</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CurrentUser</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Your account isn't a local admin on the targets</a:t>
                      </a:r>
                    </a:p>
                  </a:txBody>
                  <a:tcPr anchor="ctr">
                    <a:lnL>
                      <a:noFill/>
                    </a:lnL>
                    <a:lnR>
                      <a:noFill/>
                    </a:lnR>
                    <a:lnT>
                      <a:noFill/>
                    </a:lnT>
                    <a:lnB>
                      <a:noFill/>
                    </a:lnB>
                    <a:solidFill>
                      <a:srgbClr val="E9EBEF"/>
                    </a:solidFill>
                  </a:tcPr>
                </a:tc>
                <a:extLst>
                  <a:ext uri="{0D108BD9-81ED-4DB2-BD59-A6C34878D82A}">
                    <a16:rowId xmlns:a16="http://schemas.microsoft.com/office/drawing/2014/main" val="96187063"/>
                  </a:ext>
                </a:extLst>
              </a:tr>
              <a:tr h="0">
                <a:tc>
                  <a:txBody>
                    <a:bodyPr/>
                    <a:lstStyle/>
                    <a:p>
                      <a:pPr>
                        <a:buNone/>
                      </a:pPr>
                      <a:r>
                        <a:rPr lang="en-US" sz="1200">
                          <a:effectLst/>
                          <a:latin typeface="Segoe UI" panose="020B0502040204020203" pitchFamily="34" charset="0"/>
                        </a:rPr>
                        <a:t>-Credential</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(none)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Running unattended</a:t>
                      </a:r>
                    </a:p>
                  </a:txBody>
                  <a:tcPr anchor="ctr">
                    <a:lnL>
                      <a:noFill/>
                    </a:lnL>
                    <a:lnR>
                      <a:noFill/>
                    </a:lnR>
                    <a:lnT>
                      <a:noFill/>
                    </a:lnT>
                    <a:lnB>
                      <a:noFill/>
                    </a:lnB>
                    <a:noFill/>
                  </a:tcPr>
                </a:tc>
                <a:extLst>
                  <a:ext uri="{0D108BD9-81ED-4DB2-BD59-A6C34878D82A}">
                    <a16:rowId xmlns:a16="http://schemas.microsoft.com/office/drawing/2014/main" val="4260962419"/>
                  </a:ext>
                </a:extLst>
              </a:tr>
              <a:tr h="0">
                <a:tc>
                  <a:txBody>
                    <a:bodyPr/>
                    <a:lstStyle/>
                    <a:p>
                      <a:pPr>
                        <a:buNone/>
                      </a:pPr>
                      <a:r>
                        <a:rPr lang="en-US" sz="1200">
                          <a:effectLst/>
                          <a:latin typeface="Segoe UI" panose="020B0502040204020203" pitchFamily="34" charset="0"/>
                        </a:rPr>
                        <a:t>-SqlPorts</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@(1433)</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You use non-default ports, e.g. @(1433,1434,49172)</a:t>
                      </a:r>
                    </a:p>
                  </a:txBody>
                  <a:tcPr anchor="ctr">
                    <a:lnL>
                      <a:noFill/>
                    </a:lnL>
                    <a:lnR>
                      <a:noFill/>
                    </a:lnR>
                    <a:lnT>
                      <a:noFill/>
                    </a:lnT>
                    <a:lnB>
                      <a:noFill/>
                    </a:lnB>
                    <a:solidFill>
                      <a:srgbClr val="E9EBEF"/>
                    </a:solidFill>
                  </a:tcPr>
                </a:tc>
                <a:extLst>
                  <a:ext uri="{0D108BD9-81ED-4DB2-BD59-A6C34878D82A}">
                    <a16:rowId xmlns:a16="http://schemas.microsoft.com/office/drawing/2014/main" val="3567254862"/>
                  </a:ext>
                </a:extLst>
              </a:tr>
              <a:tr h="0">
                <a:tc>
                  <a:txBody>
                    <a:bodyPr/>
                    <a:lstStyle/>
                    <a:p>
                      <a:pPr>
                        <a:buNone/>
                      </a:pPr>
                      <a:r>
                        <a:rPr lang="en-US" sz="1200">
                          <a:effectLst/>
                          <a:latin typeface="Segoe UI" panose="020B0502040204020203" pitchFamily="34" charset="0"/>
                        </a:rPr>
                        <a:t>-ThrottleLimit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32</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Larger subnet (raise to 64) or a congested link (lower to 8-16)</a:t>
                      </a:r>
                    </a:p>
                  </a:txBody>
                  <a:tcPr anchor="ctr">
                    <a:lnL>
                      <a:noFill/>
                    </a:lnL>
                    <a:lnR>
                      <a:noFill/>
                    </a:lnR>
                    <a:lnT>
                      <a:noFill/>
                    </a:lnT>
                    <a:lnB>
                      <a:noFill/>
                    </a:lnB>
                    <a:noFill/>
                  </a:tcPr>
                </a:tc>
                <a:extLst>
                  <a:ext uri="{0D108BD9-81ED-4DB2-BD59-A6C34878D82A}">
                    <a16:rowId xmlns:a16="http://schemas.microsoft.com/office/drawing/2014/main" val="2442437046"/>
                  </a:ext>
                </a:extLst>
              </a:tr>
              <a:tr h="0">
                <a:tc>
                  <a:txBody>
                    <a:bodyPr/>
                    <a:lstStyle/>
                    <a:p>
                      <a:pPr>
                        <a:buNone/>
                      </a:pPr>
                      <a:r>
                        <a:rPr lang="en-US" sz="1200">
                          <a:effectLst/>
                          <a:latin typeface="Segoe UI" panose="020B0502040204020203" pitchFamily="34" charset="0"/>
                        </a:rPr>
                        <a:t>-TimeoutMs</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700</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High-latency links — raise to 1500-2000. Lower for fast LANs</a:t>
                      </a:r>
                    </a:p>
                  </a:txBody>
                  <a:tcPr anchor="ctr">
                    <a:lnL>
                      <a:noFill/>
                    </a:lnL>
                    <a:lnR>
                      <a:noFill/>
                    </a:lnR>
                    <a:lnT>
                      <a:noFill/>
                    </a:lnT>
                    <a:lnB>
                      <a:noFill/>
                    </a:lnB>
                    <a:solidFill>
                      <a:srgbClr val="E9EBEF"/>
                    </a:solidFill>
                  </a:tcPr>
                </a:tc>
                <a:extLst>
                  <a:ext uri="{0D108BD9-81ED-4DB2-BD59-A6C34878D82A}">
                    <a16:rowId xmlns:a16="http://schemas.microsoft.com/office/drawing/2014/main" val="3334980978"/>
                  </a:ext>
                </a:extLst>
              </a:tr>
              <a:tr h="0">
                <a:tc>
                  <a:txBody>
                    <a:bodyPr/>
                    <a:lstStyle/>
                    <a:p>
                      <a:pPr>
                        <a:buNone/>
                      </a:pPr>
                      <a:r>
                        <a:rPr lang="en-US" sz="1200">
                          <a:effectLst/>
                          <a:latin typeface="Segoe UI" panose="020B0502040204020203" pitchFamily="34" charset="0"/>
                        </a:rPr>
                        <a:t>-MaxHosts</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4094</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Safety brake. Scanning anything larger than a /20 needs a deliberate raise</a:t>
                      </a:r>
                    </a:p>
                  </a:txBody>
                  <a:tcPr anchor="ctr">
                    <a:lnL>
                      <a:noFill/>
                    </a:lnL>
                    <a:lnR>
                      <a:noFill/>
                    </a:lnR>
                    <a:lnT>
                      <a:noFill/>
                    </a:lnT>
                    <a:lnB>
                      <a:noFill/>
                    </a:lnB>
                    <a:noFill/>
                  </a:tcPr>
                </a:tc>
                <a:extLst>
                  <a:ext uri="{0D108BD9-81ED-4DB2-BD59-A6C34878D82A}">
                    <a16:rowId xmlns:a16="http://schemas.microsoft.com/office/drawing/2014/main" val="2098225543"/>
                  </a:ext>
                </a:extLst>
              </a:tr>
              <a:tr h="0">
                <a:tc>
                  <a:txBody>
                    <a:bodyPr/>
                    <a:lstStyle/>
                    <a:p>
                      <a:pPr>
                        <a:buNone/>
                      </a:pPr>
                      <a:r>
                        <a:rPr lang="en-US" sz="1200">
                          <a:effectLst/>
                          <a:latin typeface="Segoe UI" panose="020B0502040204020203" pitchFamily="34" charset="0"/>
                        </a:rPr>
                        <a:t>-OutputCsv</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.\SQL-Discovery-MemberServer.csv</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Reporting to a share</a:t>
                      </a:r>
                    </a:p>
                  </a:txBody>
                  <a:tcPr anchor="ctr">
                    <a:lnL>
                      <a:noFill/>
                    </a:lnL>
                    <a:lnR>
                      <a:noFill/>
                    </a:lnR>
                    <a:lnT>
                      <a:noFill/>
                    </a:lnT>
                    <a:lnB>
                      <a:noFill/>
                    </a:lnB>
                    <a:solidFill>
                      <a:srgbClr val="E9EBEF"/>
                    </a:solidFill>
                  </a:tcPr>
                </a:tc>
                <a:extLst>
                  <a:ext uri="{0D108BD9-81ED-4DB2-BD59-A6C34878D82A}">
                    <a16:rowId xmlns:a16="http://schemas.microsoft.com/office/drawing/2014/main" val="2776905106"/>
                  </a:ext>
                </a:extLst>
              </a:tr>
            </a:tbl>
          </a:graphicData>
        </a:graphic>
      </p:graphicFrame>
      <p:sp>
        <p:nvSpPr>
          <p:cNvPr id="10382" name="Rectangle 10381">
            <a:extLst>
              <a:ext uri="{FF2B5EF4-FFF2-40B4-BE49-F238E27FC236}">
                <a16:creationId xmlns:a16="http://schemas.microsoft.com/office/drawing/2014/main" id="{C897A253-BE5B-8F25-19C6-C9DE936007F3}"/>
              </a:ext>
            </a:extLst>
          </p:cNvPr>
          <p:cNvSpPr/>
          <p:nvPr/>
        </p:nvSpPr>
        <p:spPr>
          <a:xfrm>
            <a:off x="914400" y="5420000"/>
            <a:ext cx="10363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Extend the $VersionMap hashtable when a new release ships — '13' = SQL Server 2016, '14' = 2017, '15' = 2019, '16' = 2022, '17' = 2025. An unrecognised major build is reported as “Unrecognised (major build N)”, never discarded.</a:t>
            </a:r>
          </a:p>
          <a:p>
            <a:pPr algn="l">
              <a:buNone/>
            </a:pPr>
            <a:r>
              <a:rPr lang="en-US" sz="100">
                <a:effectLst/>
              </a:rPr>
              <a:t> </a:t>
            </a:r>
            <a:endParaRPr lang="en-US"/>
          </a:p>
        </p:txBody>
      </p:sp>
    </p:spTree>
    <p:extLst>
      <p:ext uri="{BB962C8B-B14F-4D97-AF65-F5344CB8AC3E}">
        <p14:creationId xmlns:p14="http://schemas.microsoft.com/office/powerpoint/2010/main" val="3748760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90" name="Rectangle 10389">
            <a:extLst>
              <a:ext uri="{FF2B5EF4-FFF2-40B4-BE49-F238E27FC236}">
                <a16:creationId xmlns:a16="http://schemas.microsoft.com/office/drawing/2014/main" id="{30605474-7BB6-BE8F-9D80-E4AD3EB7E73F}"/>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EXAMPLE OUTPUT</a:t>
            </a:r>
          </a:p>
          <a:p>
            <a:pPr algn="l">
              <a:buNone/>
            </a:pPr>
            <a:r>
              <a:rPr lang="en-US" sz="100">
                <a:effectLst/>
              </a:rPr>
              <a:t> </a:t>
            </a:r>
            <a:endParaRPr lang="en-US"/>
          </a:p>
        </p:txBody>
      </p:sp>
      <p:sp>
        <p:nvSpPr>
          <p:cNvPr id="10399" name="Rectangle 10398">
            <a:extLst>
              <a:ext uri="{FF2B5EF4-FFF2-40B4-BE49-F238E27FC236}">
                <a16:creationId xmlns:a16="http://schemas.microsoft.com/office/drawing/2014/main" id="{F2E7C075-6CD2-0FA5-5184-A2E49F2551E1}"/>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What you get back</a:t>
            </a:r>
          </a:p>
          <a:p>
            <a:pPr algn="l">
              <a:buNone/>
            </a:pPr>
            <a:r>
              <a:rPr lang="en-US" sz="100">
                <a:effectLst/>
              </a:rPr>
              <a:t> </a:t>
            </a:r>
            <a:endParaRPr lang="en-US"/>
          </a:p>
        </p:txBody>
      </p:sp>
      <p:sp>
        <p:nvSpPr>
          <p:cNvPr id="10409" name="Rectangle 10408">
            <a:extLst>
              <a:ext uri="{FF2B5EF4-FFF2-40B4-BE49-F238E27FC236}">
                <a16:creationId xmlns:a16="http://schemas.microsoft.com/office/drawing/2014/main" id="{844B4756-2770-A523-FC9A-FDD3AAEF88E2}"/>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20" name="Rectangle 10419">
            <a:extLst>
              <a:ext uri="{FF2B5EF4-FFF2-40B4-BE49-F238E27FC236}">
                <a16:creationId xmlns:a16="http://schemas.microsoft.com/office/drawing/2014/main" id="{77B7316A-A4FD-63E4-9D53-96707DA10DD2}"/>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0432" name="Rectangle 10431">
            <a:extLst>
              <a:ext uri="{FF2B5EF4-FFF2-40B4-BE49-F238E27FC236}">
                <a16:creationId xmlns:a16="http://schemas.microsoft.com/office/drawing/2014/main" id="{0D8B1704-1C00-44EE-E4FA-BE9BB2CBBA9C}"/>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23</a:t>
            </a:r>
          </a:p>
          <a:p>
            <a:pPr algn="r">
              <a:buNone/>
            </a:pPr>
            <a:r>
              <a:rPr lang="en-US" sz="100">
                <a:effectLst/>
              </a:rPr>
              <a:t> </a:t>
            </a:r>
            <a:endParaRPr lang="en-US"/>
          </a:p>
        </p:txBody>
      </p:sp>
      <p:sp>
        <p:nvSpPr>
          <p:cNvPr id="10445" name="Rectangle 10444">
            <a:extLst>
              <a:ext uri="{FF2B5EF4-FFF2-40B4-BE49-F238E27FC236}">
                <a16:creationId xmlns:a16="http://schemas.microsoft.com/office/drawing/2014/main" id="{38B231C0-C6DE-A8E4-A813-FDE44E0D99A8}"/>
              </a:ext>
            </a:extLst>
          </p:cNvPr>
          <p:cNvSpPr/>
          <p:nvPr/>
        </p:nvSpPr>
        <p:spPr>
          <a:xfrm>
            <a:off x="914400" y="1700000"/>
            <a:ext cx="5105400" cy="3182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ServerName — short NetBIOS-style host name</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InstanceName — MSSQLSERVER for default, otherwise the named instance</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FQDN — fully qualified domain name (via DNS)</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IPAddress — IPv4 address(es)</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SQLRelease — friendly release name, e.g. SQL Server 2022</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SQLVersion — RTM build, e.g. 16.0.1000.6</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PatchLevel — current patched build, e.g. 16.0.4255.1</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SQLEdition — e.g. Developer Edition, Enterprise Edition</a:t>
            </a:r>
            <a:endParaRPr lang="en-US"/>
          </a:p>
        </p:txBody>
      </p:sp>
      <p:sp>
        <p:nvSpPr>
          <p:cNvPr id="10459" name="Rectangle 10458">
            <a:extLst>
              <a:ext uri="{FF2B5EF4-FFF2-40B4-BE49-F238E27FC236}">
                <a16:creationId xmlns:a16="http://schemas.microsoft.com/office/drawing/2014/main" id="{1D07088D-AEDE-E18A-C448-8869804C0B4E}"/>
              </a:ext>
            </a:extLst>
          </p:cNvPr>
          <p:cNvSpPr/>
          <p:nvPr/>
        </p:nvSpPr>
        <p:spPr>
          <a:xfrm>
            <a:off x="6172200" y="1700000"/>
            <a:ext cx="5105400" cy="3182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EditionType — edition sub-type</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Collation — server default collation</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InstanceKey — registry hive, e.g. MSSQL16.MSSQLSERVER</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ServicePrincipalName — (DC script only) the SPNs that led to this host</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DetectedBy — (subnet script only) SQL Browser (UDP 1434) or TCP port 1433</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DiscoveredVia — which method produced the row: your audit trail</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Status — OK, or a plain-English reason detail is missing</a:t>
            </a:r>
          </a:p>
          <a:p>
            <a:pPr algn="l">
              <a:buNone/>
            </a:pPr>
            <a:r>
              <a:rPr lang="en-US" sz="700">
                <a:solidFill>
                  <a:srgbClr val="201F1E"/>
                </a:solidFill>
                <a:effectLst/>
                <a:latin typeface="Segoe UI" panose="020B0502040204020203" pitchFamily="34" charset="0"/>
              </a:rPr>
              <a:t> </a:t>
            </a:r>
          </a:p>
          <a:p>
            <a:pPr algn="l">
              <a:buNone/>
            </a:pPr>
            <a:r>
              <a:rPr lang="en-US" sz="1200">
                <a:solidFill>
                  <a:srgbClr val="201F1E"/>
                </a:solidFill>
                <a:effectLst/>
                <a:latin typeface="Segoe UI" panose="020B0502040204020203" pitchFamily="34" charset="0"/>
              </a:rPr>
              <a:t>ScanTime — ISO-8601 timestamp</a:t>
            </a:r>
            <a:endParaRPr lang="en-US"/>
          </a:p>
        </p:txBody>
      </p:sp>
      <p:sp>
        <p:nvSpPr>
          <p:cNvPr id="10474" name="Rectangle 10473">
            <a:extLst>
              <a:ext uri="{FF2B5EF4-FFF2-40B4-BE49-F238E27FC236}">
                <a16:creationId xmlns:a16="http://schemas.microsoft.com/office/drawing/2014/main" id="{4E6DC182-339D-B381-4818-FE6BA80A00A3}"/>
              </a:ext>
            </a:extLst>
          </p:cNvPr>
          <p:cNvSpPr/>
          <p:nvPr/>
        </p:nvSpPr>
        <p:spPr>
          <a:xfrm>
            <a:off x="914400" y="4882760"/>
            <a:ext cx="10363200" cy="110296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90" name="Rectangle 10489">
            <a:extLst>
              <a:ext uri="{FF2B5EF4-FFF2-40B4-BE49-F238E27FC236}">
                <a16:creationId xmlns:a16="http://schemas.microsoft.com/office/drawing/2014/main" id="{4B8C92DB-5CDC-E538-C1CA-71EB196E1F95}"/>
              </a:ext>
            </a:extLst>
          </p:cNvPr>
          <p:cNvSpPr/>
          <p:nvPr/>
        </p:nvSpPr>
        <p:spPr>
          <a:xfrm>
            <a:off x="1143000" y="5022760"/>
            <a:ext cx="99060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Segoe UI" panose="020B0502040204020203" pitchFamily="34" charset="0"/>
              </a:rPr>
              <a:t>SQLVersion vs PatchLevel — SQLVersion is the build the instance was installed from; PatchLevel is what it is running now. For patch compliance reporting, use PatchLevel.</a:t>
            </a:r>
          </a:p>
          <a:p>
            <a:pPr algn="l">
              <a:buNone/>
            </a:pPr>
            <a:r>
              <a:rPr lang="en-US" sz="100">
                <a:effectLst/>
              </a:rPr>
              <a:t> </a:t>
            </a:r>
            <a:endParaRPr lang="en-US"/>
          </a:p>
        </p:txBody>
      </p:sp>
    </p:spTree>
    <p:extLst>
      <p:ext uri="{BB962C8B-B14F-4D97-AF65-F5344CB8AC3E}">
        <p14:creationId xmlns:p14="http://schemas.microsoft.com/office/powerpoint/2010/main" val="1234036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455" name="Rectangle 25454">
            <a:extLst>
              <a:ext uri="{FF2B5EF4-FFF2-40B4-BE49-F238E27FC236}">
                <a16:creationId xmlns:a16="http://schemas.microsoft.com/office/drawing/2014/main" id="{FA42B6D9-829E-36DC-AAA7-5A50939F1232}"/>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EXAMPLE OUTPUT</a:t>
            </a:r>
          </a:p>
          <a:p>
            <a:pPr algn="l">
              <a:buNone/>
            </a:pPr>
            <a:r>
              <a:rPr lang="en-US" sz="100">
                <a:effectLst/>
              </a:rPr>
              <a:t> </a:t>
            </a:r>
            <a:endParaRPr lang="en-US"/>
          </a:p>
        </p:txBody>
      </p:sp>
      <p:sp>
        <p:nvSpPr>
          <p:cNvPr id="25490" name="Rectangle 25489">
            <a:extLst>
              <a:ext uri="{FF2B5EF4-FFF2-40B4-BE49-F238E27FC236}">
                <a16:creationId xmlns:a16="http://schemas.microsoft.com/office/drawing/2014/main" id="{DD2C7B57-D105-85A4-85BB-0EA70E6A4563}"/>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A real row</a:t>
            </a:r>
          </a:p>
          <a:p>
            <a:pPr algn="l">
              <a:buNone/>
            </a:pPr>
            <a:r>
              <a:rPr lang="en-US" sz="100">
                <a:effectLst/>
              </a:rPr>
              <a:t> </a:t>
            </a:r>
            <a:endParaRPr lang="en-US"/>
          </a:p>
        </p:txBody>
      </p:sp>
      <p:sp>
        <p:nvSpPr>
          <p:cNvPr id="25526" name="Rectangle 25525">
            <a:extLst>
              <a:ext uri="{FF2B5EF4-FFF2-40B4-BE49-F238E27FC236}">
                <a16:creationId xmlns:a16="http://schemas.microsoft.com/office/drawing/2014/main" id="{A3DCFDAC-C328-6E70-A9D6-67BD6BC0480C}"/>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563" name="Rectangle 25562">
            <a:extLst>
              <a:ext uri="{FF2B5EF4-FFF2-40B4-BE49-F238E27FC236}">
                <a16:creationId xmlns:a16="http://schemas.microsoft.com/office/drawing/2014/main" id="{34C5D2EB-7685-A9BC-D7EB-DCB99E1F9DAF}"/>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5601" name="Rectangle 25600">
            <a:extLst>
              <a:ext uri="{FF2B5EF4-FFF2-40B4-BE49-F238E27FC236}">
                <a16:creationId xmlns:a16="http://schemas.microsoft.com/office/drawing/2014/main" id="{F3BD33F6-E68F-3174-BBFB-7B9D75C292AF}"/>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24</a:t>
            </a:r>
          </a:p>
          <a:p>
            <a:pPr algn="r">
              <a:buNone/>
            </a:pPr>
            <a:r>
              <a:rPr lang="en-US" sz="100">
                <a:effectLst/>
              </a:rPr>
              <a:t> </a:t>
            </a:r>
            <a:endParaRPr lang="en-US"/>
          </a:p>
        </p:txBody>
      </p:sp>
      <p:sp>
        <p:nvSpPr>
          <p:cNvPr id="25640" name="Rectangle 25639">
            <a:extLst>
              <a:ext uri="{FF2B5EF4-FFF2-40B4-BE49-F238E27FC236}">
                <a16:creationId xmlns:a16="http://schemas.microsoft.com/office/drawing/2014/main" id="{C15C5792-11E4-CCD6-CF62-3C473C329815}"/>
              </a:ext>
            </a:extLst>
          </p:cNvPr>
          <p:cNvSpPr/>
          <p:nvPr/>
        </p:nvSpPr>
        <p:spPr>
          <a:xfrm>
            <a:off x="914400" y="1660000"/>
            <a:ext cx="10363200" cy="2097360"/>
          </a:xfrm>
          <a:prstGeom prst="rect">
            <a:avLst/>
          </a:prstGeom>
          <a:solidFill>
            <a:srgbClr val="1B1A19"/>
          </a:solidFill>
          <a:ln>
            <a:solidFill>
              <a:srgbClr val="1B1A1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680" name="Rectangle: Rounded Corners 25679">
            <a:extLst>
              <a:ext uri="{FF2B5EF4-FFF2-40B4-BE49-F238E27FC236}">
                <a16:creationId xmlns:a16="http://schemas.microsoft.com/office/drawing/2014/main" id="{035711D3-C6EE-E929-912A-2D78E8771A0C}"/>
              </a:ext>
            </a:extLst>
          </p:cNvPr>
          <p:cNvSpPr/>
          <p:nvPr/>
        </p:nvSpPr>
        <p:spPr>
          <a:xfrm>
            <a:off x="10508000" y="1787160"/>
            <a:ext cx="617200" cy="38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CSV</a:t>
            </a:r>
          </a:p>
          <a:p>
            <a:pPr algn="ctr">
              <a:buNone/>
            </a:pPr>
            <a:r>
              <a:rPr lang="en-US" sz="100">
                <a:effectLst/>
              </a:rPr>
              <a:t> </a:t>
            </a:r>
            <a:endParaRPr lang="en-US"/>
          </a:p>
        </p:txBody>
      </p:sp>
      <p:sp>
        <p:nvSpPr>
          <p:cNvPr id="25721" name="Rectangle 25720">
            <a:extLst>
              <a:ext uri="{FF2B5EF4-FFF2-40B4-BE49-F238E27FC236}">
                <a16:creationId xmlns:a16="http://schemas.microsoft.com/office/drawing/2014/main" id="{5E93806B-44A4-7B7C-1D47-1B2D87F7C93C}"/>
              </a:ext>
            </a:extLst>
          </p:cNvPr>
          <p:cNvSpPr/>
          <p:nvPr/>
        </p:nvSpPr>
        <p:spPr>
          <a:xfrm>
            <a:off x="1066800" y="1840000"/>
            <a:ext cx="86584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F3F2F1"/>
                </a:solidFill>
                <a:effectLst/>
                <a:latin typeface="Consolas" panose="020B0609020204030204" pitchFamily="49" charset="0"/>
              </a:rPr>
              <a:t>"ServerName","InstanceName","FQDN","IPAddress","SQLRelease","SQLVersion","PatchLevel",</a:t>
            </a:r>
          </a:p>
          <a:p>
            <a:pPr algn="l">
              <a:buNone/>
            </a:pPr>
            <a:r>
              <a:rPr lang="en-US" sz="1200">
                <a:solidFill>
                  <a:srgbClr val="F3F2F1"/>
                </a:solidFill>
                <a:effectLst/>
                <a:latin typeface="Consolas" panose="020B0609020204030204" pitchFamily="49" charset="0"/>
              </a:rPr>
              <a:t>"SQLEdition","EditionType","Collation","InstanceKey","ServicePrincipalName",</a:t>
            </a:r>
          </a:p>
          <a:p>
            <a:pPr algn="l">
              <a:buNone/>
            </a:pPr>
            <a:r>
              <a:rPr lang="en-US" sz="1200">
                <a:solidFill>
                  <a:srgbClr val="F3F2F1"/>
                </a:solidFill>
                <a:effectLst/>
                <a:latin typeface="Consolas" panose="020B0609020204030204" pitchFamily="49" charset="0"/>
              </a:rPr>
              <a:t>"DiscoveredVia","Status","ScanTime"</a:t>
            </a:r>
          </a:p>
          <a:p>
            <a:pPr algn="l">
              <a:buNone/>
            </a:pPr>
            <a:r>
              <a:rPr lang="en-US" sz="1200">
                <a:solidFill>
                  <a:srgbClr val="F3F2F1"/>
                </a:solidFill>
                <a:effectLst/>
                <a:latin typeface="Consolas" panose="020B0609020204030204" pitchFamily="49" charset="0"/>
              </a:rPr>
              <a:t> </a:t>
            </a:r>
          </a:p>
          <a:p>
            <a:pPr algn="l">
              <a:buNone/>
            </a:pPr>
            <a:r>
              <a:rPr lang="en-US" sz="1200">
                <a:solidFill>
                  <a:srgbClr val="50E6FF"/>
                </a:solidFill>
                <a:effectLst/>
                <a:latin typeface="Consolas" panose="020B0609020204030204" pitchFamily="49" charset="0"/>
              </a:rPr>
              <a:t>"SQLTEST-SQL01","MSSQLSERVER","sqltest-sql01.sqltest.local","10.20.1.6",</a:t>
            </a:r>
          </a:p>
          <a:p>
            <a:pPr algn="l">
              <a:buNone/>
            </a:pPr>
            <a:r>
              <a:rPr lang="en-US" sz="1200">
                <a:solidFill>
                  <a:srgbClr val="50E6FF"/>
                </a:solidFill>
                <a:effectLst/>
                <a:latin typeface="Consolas" panose="020B0609020204030204" pitchFamily="49" charset="0"/>
              </a:rPr>
              <a:t>"SQL Server 2022","16.0.1000.6","16.0.4255.1","Developer Edition","Developer Edition",</a:t>
            </a:r>
          </a:p>
          <a:p>
            <a:pPr algn="l">
              <a:buNone/>
            </a:pPr>
            <a:r>
              <a:rPr lang="en-US" sz="1200">
                <a:solidFill>
                  <a:srgbClr val="50E6FF"/>
                </a:solidFill>
                <a:effectLst/>
                <a:latin typeface="Consolas" panose="020B0609020204030204" pitchFamily="49" charset="0"/>
              </a:rPr>
              <a:t>"SQL_Latin1_General_CP1_CI_AS","MSSQL16.MSSQLSERVER",</a:t>
            </a:r>
          </a:p>
          <a:p>
            <a:pPr algn="l">
              <a:buNone/>
            </a:pPr>
            <a:r>
              <a:rPr lang="en-US" sz="1200">
                <a:solidFill>
                  <a:srgbClr val="50E6FF"/>
                </a:solidFill>
                <a:effectLst/>
                <a:latin typeface="Consolas" panose="020B0609020204030204" pitchFamily="49" charset="0"/>
              </a:rPr>
              <a:t>"MSSQLSvc/sqltest-sql01.sqltest.local:1433; MSSQLSvc/sqltest-sql01.sqltest.local",</a:t>
            </a:r>
          </a:p>
          <a:p>
            <a:pPr algn="l">
              <a:buNone/>
            </a:pPr>
            <a:r>
              <a:rPr lang="en-US" sz="1200">
                <a:solidFill>
                  <a:srgbClr val="50E6FF"/>
                </a:solidFill>
                <a:effectLst/>
                <a:latin typeface="Consolas" panose="020B0609020204030204" pitchFamily="49" charset="0"/>
              </a:rPr>
              <a:t>"Active Directory SPN + Remote Registry","OK","2026-09-25T20:24:43"</a:t>
            </a:r>
            <a:endParaRPr lang="en-US"/>
          </a:p>
        </p:txBody>
      </p:sp>
      <p:sp>
        <p:nvSpPr>
          <p:cNvPr id="25763" name="Rectangle 25762">
            <a:extLst>
              <a:ext uri="{FF2B5EF4-FFF2-40B4-BE49-F238E27FC236}">
                <a16:creationId xmlns:a16="http://schemas.microsoft.com/office/drawing/2014/main" id="{67EE7B05-4722-288C-58FC-27A306863122}"/>
              </a:ext>
            </a:extLst>
          </p:cNvPr>
          <p:cNvSpPr/>
          <p:nvPr/>
        </p:nvSpPr>
        <p:spPr>
          <a:xfrm>
            <a:off x="914400" y="3917360"/>
            <a:ext cx="103632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01F1E"/>
                </a:solidFill>
                <a:effectLst/>
                <a:latin typeface="Segoe UI" panose="020B0502040204020203" pitchFamily="34" charset="0"/>
              </a:rPr>
              <a:t>This instance was installed from RTM 16.0.1000.6 and has since been patched to 16.0.4255.1 — it is SQL Server 2022, so it is not in ESU scope. A row reading “SQL Server 2016” with a 13.x build is.</a:t>
            </a:r>
          </a:p>
          <a:p>
            <a:pPr algn="l">
              <a:buNone/>
            </a:pPr>
            <a:r>
              <a:rPr lang="en-US" sz="100">
                <a:effectLst/>
              </a:rPr>
              <a:t> </a:t>
            </a:r>
            <a:endParaRPr lang="en-US"/>
          </a:p>
        </p:txBody>
      </p:sp>
      <p:sp>
        <p:nvSpPr>
          <p:cNvPr id="25806" name="Rectangle 25805">
            <a:extLst>
              <a:ext uri="{FF2B5EF4-FFF2-40B4-BE49-F238E27FC236}">
                <a16:creationId xmlns:a16="http://schemas.microsoft.com/office/drawing/2014/main" id="{E0743DA2-A686-330F-B28E-A69122AEC4E4}"/>
              </a:ext>
            </a:extLst>
          </p:cNvPr>
          <p:cNvSpPr/>
          <p:nvPr/>
        </p:nvSpPr>
        <p:spPr>
          <a:xfrm>
            <a:off x="914400" y="4565040"/>
            <a:ext cx="3352800" cy="12744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50" name="Rectangle 25849">
            <a:extLst>
              <a:ext uri="{FF2B5EF4-FFF2-40B4-BE49-F238E27FC236}">
                <a16:creationId xmlns:a16="http://schemas.microsoft.com/office/drawing/2014/main" id="{F17F2562-4C18-909D-EE60-2644A7946E63}"/>
              </a:ext>
            </a:extLst>
          </p:cNvPr>
          <p:cNvSpPr/>
          <p:nvPr/>
        </p:nvSpPr>
        <p:spPr>
          <a:xfrm>
            <a:off x="1143000" y="4725040"/>
            <a:ext cx="2895600" cy="29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605E5C"/>
                </a:solidFill>
                <a:effectLst/>
                <a:latin typeface="Segoe UI Semibold" panose="020B0702040204020203" pitchFamily="34" charset="0"/>
              </a:rPr>
              <a:t>SQLVersion</a:t>
            </a:r>
          </a:p>
          <a:p>
            <a:pPr algn="l">
              <a:buNone/>
            </a:pPr>
            <a:r>
              <a:rPr lang="en-US" sz="100">
                <a:effectLst/>
              </a:rPr>
              <a:t> </a:t>
            </a:r>
            <a:endParaRPr lang="en-US"/>
          </a:p>
        </p:txBody>
      </p:sp>
      <p:sp>
        <p:nvSpPr>
          <p:cNvPr id="25895" name="Rectangle 25894">
            <a:extLst>
              <a:ext uri="{FF2B5EF4-FFF2-40B4-BE49-F238E27FC236}">
                <a16:creationId xmlns:a16="http://schemas.microsoft.com/office/drawing/2014/main" id="{48C902ED-EC56-60B9-7CDA-EEC34AE1859A}"/>
              </a:ext>
            </a:extLst>
          </p:cNvPr>
          <p:cNvSpPr/>
          <p:nvPr/>
        </p:nvSpPr>
        <p:spPr>
          <a:xfrm>
            <a:off x="1143000" y="5019360"/>
            <a:ext cx="2895600" cy="38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Consolas" panose="020B0609020204030204" pitchFamily="49" charset="0"/>
              </a:rPr>
              <a:t>16.0.1000.6</a:t>
            </a:r>
          </a:p>
          <a:p>
            <a:pPr algn="l">
              <a:buNone/>
            </a:pPr>
            <a:r>
              <a:rPr lang="en-US" sz="100">
                <a:effectLst/>
              </a:rPr>
              <a:t> </a:t>
            </a:r>
            <a:endParaRPr lang="en-US"/>
          </a:p>
        </p:txBody>
      </p:sp>
      <p:sp>
        <p:nvSpPr>
          <p:cNvPr id="25941" name="Rectangle 25940">
            <a:extLst>
              <a:ext uri="{FF2B5EF4-FFF2-40B4-BE49-F238E27FC236}">
                <a16:creationId xmlns:a16="http://schemas.microsoft.com/office/drawing/2014/main" id="{6BF0ACBA-35F5-5B57-8BBD-343C5FC2D667}"/>
              </a:ext>
            </a:extLst>
          </p:cNvPr>
          <p:cNvSpPr/>
          <p:nvPr/>
        </p:nvSpPr>
        <p:spPr>
          <a:xfrm>
            <a:off x="1143000" y="5405120"/>
            <a:ext cx="2895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The build it was installed from</a:t>
            </a:r>
          </a:p>
          <a:p>
            <a:pPr algn="l">
              <a:buNone/>
            </a:pPr>
            <a:r>
              <a:rPr lang="en-US" sz="100">
                <a:effectLst/>
              </a:rPr>
              <a:t> </a:t>
            </a:r>
            <a:endParaRPr lang="en-US"/>
          </a:p>
        </p:txBody>
      </p:sp>
      <p:sp>
        <p:nvSpPr>
          <p:cNvPr id="25988" name="Rectangle 25987">
            <a:extLst>
              <a:ext uri="{FF2B5EF4-FFF2-40B4-BE49-F238E27FC236}">
                <a16:creationId xmlns:a16="http://schemas.microsoft.com/office/drawing/2014/main" id="{867641F2-71F9-7353-B133-CD91D444B27F}"/>
              </a:ext>
            </a:extLst>
          </p:cNvPr>
          <p:cNvSpPr/>
          <p:nvPr/>
        </p:nvSpPr>
        <p:spPr>
          <a:xfrm>
            <a:off x="4419600" y="4565040"/>
            <a:ext cx="3352800" cy="12744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36" name="Rectangle 26035">
            <a:extLst>
              <a:ext uri="{FF2B5EF4-FFF2-40B4-BE49-F238E27FC236}">
                <a16:creationId xmlns:a16="http://schemas.microsoft.com/office/drawing/2014/main" id="{1BD0AD9B-805F-57A8-E50A-C5FCA3D35157}"/>
              </a:ext>
            </a:extLst>
          </p:cNvPr>
          <p:cNvSpPr/>
          <p:nvPr/>
        </p:nvSpPr>
        <p:spPr>
          <a:xfrm>
            <a:off x="4648200" y="4725040"/>
            <a:ext cx="2895600" cy="29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605E5C"/>
                </a:solidFill>
                <a:effectLst/>
                <a:latin typeface="Segoe UI Semibold" panose="020B0702040204020203" pitchFamily="34" charset="0"/>
              </a:rPr>
              <a:t>PatchLevel</a:t>
            </a:r>
          </a:p>
          <a:p>
            <a:pPr algn="l">
              <a:buNone/>
            </a:pPr>
            <a:r>
              <a:rPr lang="en-US" sz="100">
                <a:effectLst/>
              </a:rPr>
              <a:t> </a:t>
            </a:r>
            <a:endParaRPr lang="en-US"/>
          </a:p>
        </p:txBody>
      </p:sp>
      <p:sp>
        <p:nvSpPr>
          <p:cNvPr id="26085" name="Rectangle 26084">
            <a:extLst>
              <a:ext uri="{FF2B5EF4-FFF2-40B4-BE49-F238E27FC236}">
                <a16:creationId xmlns:a16="http://schemas.microsoft.com/office/drawing/2014/main" id="{3819CD9A-2421-4A81-BDB0-618ECA4A0991}"/>
              </a:ext>
            </a:extLst>
          </p:cNvPr>
          <p:cNvSpPr/>
          <p:nvPr/>
        </p:nvSpPr>
        <p:spPr>
          <a:xfrm>
            <a:off x="4648200" y="5019360"/>
            <a:ext cx="2895600" cy="38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Consolas" panose="020B0609020204030204" pitchFamily="49" charset="0"/>
              </a:rPr>
              <a:t>16.0.4255.1</a:t>
            </a:r>
          </a:p>
          <a:p>
            <a:pPr algn="l">
              <a:buNone/>
            </a:pPr>
            <a:r>
              <a:rPr lang="en-US" sz="100">
                <a:effectLst/>
              </a:rPr>
              <a:t> </a:t>
            </a:r>
            <a:endParaRPr lang="en-US"/>
          </a:p>
        </p:txBody>
      </p:sp>
      <p:sp>
        <p:nvSpPr>
          <p:cNvPr id="26135" name="Rectangle 26134">
            <a:extLst>
              <a:ext uri="{FF2B5EF4-FFF2-40B4-BE49-F238E27FC236}">
                <a16:creationId xmlns:a16="http://schemas.microsoft.com/office/drawing/2014/main" id="{E88C0147-AD40-2147-9F6E-FB1C709E7F4F}"/>
              </a:ext>
            </a:extLst>
          </p:cNvPr>
          <p:cNvSpPr/>
          <p:nvPr/>
        </p:nvSpPr>
        <p:spPr>
          <a:xfrm>
            <a:off x="4648200" y="5405120"/>
            <a:ext cx="2895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The build it is running now</a:t>
            </a:r>
          </a:p>
          <a:p>
            <a:pPr algn="l">
              <a:buNone/>
            </a:pPr>
            <a:r>
              <a:rPr lang="en-US" sz="100">
                <a:effectLst/>
              </a:rPr>
              <a:t> </a:t>
            </a:r>
            <a:endParaRPr lang="en-US"/>
          </a:p>
        </p:txBody>
      </p:sp>
      <p:sp>
        <p:nvSpPr>
          <p:cNvPr id="26186" name="Rectangle 26185">
            <a:extLst>
              <a:ext uri="{FF2B5EF4-FFF2-40B4-BE49-F238E27FC236}">
                <a16:creationId xmlns:a16="http://schemas.microsoft.com/office/drawing/2014/main" id="{C0634C04-70D2-9302-55C7-DBBFF29A3C6F}"/>
              </a:ext>
            </a:extLst>
          </p:cNvPr>
          <p:cNvSpPr/>
          <p:nvPr/>
        </p:nvSpPr>
        <p:spPr>
          <a:xfrm>
            <a:off x="7924800" y="4565040"/>
            <a:ext cx="3352800" cy="12744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38" name="Rectangle 26237">
            <a:extLst>
              <a:ext uri="{FF2B5EF4-FFF2-40B4-BE49-F238E27FC236}">
                <a16:creationId xmlns:a16="http://schemas.microsoft.com/office/drawing/2014/main" id="{ECCE2023-5B35-006C-2E73-41C24505A329}"/>
              </a:ext>
            </a:extLst>
          </p:cNvPr>
          <p:cNvSpPr/>
          <p:nvPr/>
        </p:nvSpPr>
        <p:spPr>
          <a:xfrm>
            <a:off x="8153400" y="4725040"/>
            <a:ext cx="2895600" cy="29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605E5C"/>
                </a:solidFill>
                <a:effectLst/>
                <a:latin typeface="Segoe UI Semibold" panose="020B0702040204020203" pitchFamily="34" charset="0"/>
              </a:rPr>
              <a:t>SQLRelease</a:t>
            </a:r>
          </a:p>
          <a:p>
            <a:pPr algn="l">
              <a:buNone/>
            </a:pPr>
            <a:r>
              <a:rPr lang="en-US" sz="100">
                <a:effectLst/>
              </a:rPr>
              <a:t> </a:t>
            </a:r>
            <a:endParaRPr lang="en-US"/>
          </a:p>
        </p:txBody>
      </p:sp>
      <p:sp>
        <p:nvSpPr>
          <p:cNvPr id="26291" name="Rectangle 26290">
            <a:extLst>
              <a:ext uri="{FF2B5EF4-FFF2-40B4-BE49-F238E27FC236}">
                <a16:creationId xmlns:a16="http://schemas.microsoft.com/office/drawing/2014/main" id="{24AAA0EC-AD87-D6A4-C66D-EE7A879EF6BC}"/>
              </a:ext>
            </a:extLst>
          </p:cNvPr>
          <p:cNvSpPr/>
          <p:nvPr/>
        </p:nvSpPr>
        <p:spPr>
          <a:xfrm>
            <a:off x="8153400" y="5019360"/>
            <a:ext cx="2895600" cy="38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4578"/>
                </a:solidFill>
                <a:effectLst/>
                <a:latin typeface="Consolas" panose="020B0609020204030204" pitchFamily="49" charset="0"/>
              </a:rPr>
              <a:t>SQL Server 2022</a:t>
            </a:r>
          </a:p>
          <a:p>
            <a:pPr algn="l">
              <a:buNone/>
            </a:pPr>
            <a:r>
              <a:rPr lang="en-US" sz="100">
                <a:effectLst/>
              </a:rPr>
              <a:t> </a:t>
            </a:r>
            <a:endParaRPr lang="en-US"/>
          </a:p>
        </p:txBody>
      </p:sp>
      <p:sp>
        <p:nvSpPr>
          <p:cNvPr id="26345" name="Rectangle 26344">
            <a:extLst>
              <a:ext uri="{FF2B5EF4-FFF2-40B4-BE49-F238E27FC236}">
                <a16:creationId xmlns:a16="http://schemas.microsoft.com/office/drawing/2014/main" id="{EF871030-5655-1761-D77F-9903706F49A7}"/>
              </a:ext>
            </a:extLst>
          </p:cNvPr>
          <p:cNvSpPr/>
          <p:nvPr/>
        </p:nvSpPr>
        <p:spPr>
          <a:xfrm>
            <a:off x="8153400" y="5405120"/>
            <a:ext cx="2895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Not in ESU scope</a:t>
            </a:r>
          </a:p>
          <a:p>
            <a:pPr algn="l">
              <a:buNone/>
            </a:pPr>
            <a:r>
              <a:rPr lang="en-US" sz="100">
                <a:effectLst/>
              </a:rPr>
              <a:t> </a:t>
            </a:r>
            <a:endParaRPr lang="en-US"/>
          </a:p>
        </p:txBody>
      </p:sp>
    </p:spTree>
    <p:extLst>
      <p:ext uri="{BB962C8B-B14F-4D97-AF65-F5344CB8AC3E}">
        <p14:creationId xmlns:p14="http://schemas.microsoft.com/office/powerpoint/2010/main" val="3031823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400" name="Rectangle 26399">
            <a:extLst>
              <a:ext uri="{FF2B5EF4-FFF2-40B4-BE49-F238E27FC236}">
                <a16:creationId xmlns:a16="http://schemas.microsoft.com/office/drawing/2014/main" id="{9B13A922-495B-E6BA-0BD2-1DF4B18E8EAC}"/>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EXAMPLE OUTPUT</a:t>
            </a:r>
          </a:p>
          <a:p>
            <a:pPr algn="l">
              <a:buNone/>
            </a:pPr>
            <a:r>
              <a:rPr lang="en-US" sz="100">
                <a:effectLst/>
              </a:rPr>
              <a:t> </a:t>
            </a:r>
            <a:endParaRPr lang="en-US"/>
          </a:p>
        </p:txBody>
      </p:sp>
      <p:sp>
        <p:nvSpPr>
          <p:cNvPr id="26456" name="Rectangle 26455">
            <a:extLst>
              <a:ext uri="{FF2B5EF4-FFF2-40B4-BE49-F238E27FC236}">
                <a16:creationId xmlns:a16="http://schemas.microsoft.com/office/drawing/2014/main" id="{F0231C4E-E4C9-A162-1CC9-4C563DD12C1E}"/>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Console output</a:t>
            </a:r>
          </a:p>
          <a:p>
            <a:pPr algn="l">
              <a:buNone/>
            </a:pPr>
            <a:r>
              <a:rPr lang="en-US" sz="100">
                <a:effectLst/>
              </a:rPr>
              <a:t> </a:t>
            </a:r>
            <a:endParaRPr lang="en-US"/>
          </a:p>
        </p:txBody>
      </p:sp>
      <p:sp>
        <p:nvSpPr>
          <p:cNvPr id="26513" name="Rectangle 26512">
            <a:extLst>
              <a:ext uri="{FF2B5EF4-FFF2-40B4-BE49-F238E27FC236}">
                <a16:creationId xmlns:a16="http://schemas.microsoft.com/office/drawing/2014/main" id="{07E14E85-A718-F04D-9A4B-B9C82B94F1CB}"/>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71" name="Rectangle 26570">
            <a:extLst>
              <a:ext uri="{FF2B5EF4-FFF2-40B4-BE49-F238E27FC236}">
                <a16:creationId xmlns:a16="http://schemas.microsoft.com/office/drawing/2014/main" id="{C514DDF5-D979-6BB5-976B-06817572DEF6}"/>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6630" name="Rectangle 26629">
            <a:extLst>
              <a:ext uri="{FF2B5EF4-FFF2-40B4-BE49-F238E27FC236}">
                <a16:creationId xmlns:a16="http://schemas.microsoft.com/office/drawing/2014/main" id="{952B614B-AAA1-C635-BE51-54EAABD33390}"/>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25</a:t>
            </a:r>
          </a:p>
          <a:p>
            <a:pPr algn="r">
              <a:buNone/>
            </a:pPr>
            <a:r>
              <a:rPr lang="en-US" sz="100">
                <a:effectLst/>
              </a:rPr>
              <a:t> </a:t>
            </a:r>
            <a:endParaRPr lang="en-US"/>
          </a:p>
        </p:txBody>
      </p:sp>
      <p:sp>
        <p:nvSpPr>
          <p:cNvPr id="26690" name="Rectangle 26689">
            <a:extLst>
              <a:ext uri="{FF2B5EF4-FFF2-40B4-BE49-F238E27FC236}">
                <a16:creationId xmlns:a16="http://schemas.microsoft.com/office/drawing/2014/main" id="{F769324D-B8F4-9557-F41B-614B17151E19}"/>
              </a:ext>
            </a:extLst>
          </p:cNvPr>
          <p:cNvSpPr/>
          <p:nvPr/>
        </p:nvSpPr>
        <p:spPr>
          <a:xfrm>
            <a:off x="914400" y="1600000"/>
            <a:ext cx="10363200" cy="4394800"/>
          </a:xfrm>
          <a:prstGeom prst="rect">
            <a:avLst/>
          </a:prstGeom>
          <a:solidFill>
            <a:srgbClr val="1B1A19"/>
          </a:solidFill>
          <a:ln>
            <a:solidFill>
              <a:srgbClr val="1B1A1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51" name="Rectangle: Rounded Corners 26750">
            <a:extLst>
              <a:ext uri="{FF2B5EF4-FFF2-40B4-BE49-F238E27FC236}">
                <a16:creationId xmlns:a16="http://schemas.microsoft.com/office/drawing/2014/main" id="{7925AFEF-C2DB-060D-DB08-BB6E29C1837D}"/>
              </a:ext>
            </a:extLst>
          </p:cNvPr>
          <p:cNvSpPr/>
          <p:nvPr/>
        </p:nvSpPr>
        <p:spPr>
          <a:xfrm>
            <a:off x="10142240" y="1687160"/>
            <a:ext cx="982960" cy="38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Console</a:t>
            </a:r>
          </a:p>
          <a:p>
            <a:pPr algn="ctr">
              <a:buNone/>
            </a:pPr>
            <a:r>
              <a:rPr lang="en-US" sz="100">
                <a:effectLst/>
              </a:rPr>
              <a:t> </a:t>
            </a:r>
            <a:endParaRPr lang="en-US"/>
          </a:p>
        </p:txBody>
      </p:sp>
      <p:sp>
        <p:nvSpPr>
          <p:cNvPr id="26813" name="Rectangle 26812">
            <a:extLst>
              <a:ext uri="{FF2B5EF4-FFF2-40B4-BE49-F238E27FC236}">
                <a16:creationId xmlns:a16="http://schemas.microsoft.com/office/drawing/2014/main" id="{A638A5E3-1B20-85F5-FBCE-9BBF35159B80}"/>
              </a:ext>
            </a:extLst>
          </p:cNvPr>
          <p:cNvSpPr/>
          <p:nvPr/>
        </p:nvSpPr>
        <p:spPr>
          <a:xfrm>
            <a:off x="1066800" y="1740000"/>
            <a:ext cx="8658400" cy="411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F3F2F1"/>
                </a:solidFill>
                <a:effectLst/>
                <a:latin typeface="Consolas" panose="020B0609020204030204" pitchFamily="49" charset="0"/>
              </a:rPr>
              <a:t>================================================================</a:t>
            </a:r>
          </a:p>
          <a:p>
            <a:pPr algn="l">
              <a:buNone/>
            </a:pPr>
            <a:r>
              <a:rPr lang="en-US" sz="1200">
                <a:solidFill>
                  <a:srgbClr val="F3F2F1"/>
                </a:solidFill>
                <a:effectLst/>
                <a:latin typeface="Consolas" panose="020B0609020204030204" pitchFamily="49" charset="0"/>
              </a:rPr>
              <a:t> SQL Server Discovery - Member Server Subnet Scan (v2.0)</a:t>
            </a:r>
          </a:p>
          <a:p>
            <a:pPr algn="l">
              <a:buNone/>
            </a:pPr>
            <a:r>
              <a:rPr lang="en-US" sz="1200">
                <a:solidFill>
                  <a:srgbClr val="F3F2F1"/>
                </a:solidFill>
                <a:effectLst/>
                <a:latin typeface="Consolas" panose="020B0609020204030204" pitchFamily="49" charset="0"/>
              </a:rPr>
              <a:t> Author: Russell McKee</a:t>
            </a:r>
          </a:p>
          <a:p>
            <a:pPr algn="l">
              <a:buNone/>
            </a:pPr>
            <a:r>
              <a:rPr lang="en-US" sz="1200">
                <a:solidFill>
                  <a:srgbClr val="F3F2F1"/>
                </a:solidFill>
                <a:effectLst/>
                <a:latin typeface="Consolas" panose="020B0609020204030204" pitchFamily="49" charset="0"/>
              </a:rPr>
              <a:t>================================================================</a:t>
            </a:r>
          </a:p>
          <a:p>
            <a:pPr algn="l">
              <a:buNone/>
            </a:pPr>
            <a:r>
              <a:rPr lang="en-US" sz="1200">
                <a:solidFill>
                  <a:srgbClr val="F3F2F1"/>
                </a:solidFill>
                <a:effectLst/>
                <a:latin typeface="Consolas" panose="020B0609020204030204" pitchFamily="49" charset="0"/>
              </a:rPr>
              <a:t> Target subnet : 10.20.1.0/24</a:t>
            </a:r>
          </a:p>
          <a:p>
            <a:pPr algn="l">
              <a:buNone/>
            </a:pPr>
            <a:r>
              <a:rPr lang="en-US" sz="1200">
                <a:solidFill>
                  <a:srgbClr val="F3F2F1"/>
                </a:solidFill>
                <a:effectLst/>
                <a:latin typeface="Consolas" panose="020B0609020204030204" pitchFamily="49" charset="0"/>
              </a:rPr>
              <a:t> Auth mode     : Explicit credential (SQLTEST\azureadmin)</a:t>
            </a:r>
          </a:p>
          <a:p>
            <a:pPr algn="l">
              <a:buNone/>
            </a:pPr>
            <a:r>
              <a:rPr lang="en-US" sz="1200">
                <a:solidFill>
                  <a:srgbClr val="F3F2F1"/>
                </a:solidFill>
                <a:effectLst/>
                <a:latin typeface="Consolas" panose="020B0609020204030204" pitchFamily="49" charset="0"/>
              </a:rPr>
              <a:t> Running as    : NT AUTHORITY\SYSTEM</a:t>
            </a:r>
          </a:p>
          <a:p>
            <a:pPr algn="l">
              <a:buNone/>
            </a:pPr>
            <a:r>
              <a:rPr lang="en-US" sz="1200">
                <a:solidFill>
                  <a:srgbClr val="F3F2F1"/>
                </a:solidFill>
                <a:effectLst/>
                <a:latin typeface="Consolas" panose="020B0609020204030204" pitchFamily="49" charset="0"/>
              </a:rPr>
              <a:t> SQL ports     : 1433</a:t>
            </a:r>
          </a:p>
          <a:p>
            <a:pPr algn="l">
              <a:buNone/>
            </a:pPr>
            <a:r>
              <a:rPr lang="en-US" sz="1200">
                <a:solidFill>
                  <a:srgbClr val="F3F2F1"/>
                </a:solidFill>
                <a:effectLst/>
                <a:latin typeface="Consolas" panose="020B0609020204030204" pitchFamily="49" charset="0"/>
              </a:rPr>
              <a:t> Output CSV    : F:\Data\SQL-Discovery-MemberServer.csv</a:t>
            </a:r>
          </a:p>
          <a:p>
            <a:pPr algn="l">
              <a:buNone/>
            </a:pPr>
            <a:r>
              <a:rPr lang="en-US" sz="1200">
                <a:solidFill>
                  <a:srgbClr val="F3F2F1"/>
                </a:solidFill>
                <a:effectLst/>
                <a:latin typeface="Consolas" panose="020B0609020204030204" pitchFamily="49" charset="0"/>
              </a:rPr>
              <a:t> </a:t>
            </a:r>
          </a:p>
          <a:p>
            <a:pPr algn="l">
              <a:buNone/>
            </a:pPr>
            <a:r>
              <a:rPr lang="en-US" sz="1200">
                <a:solidFill>
                  <a:srgbClr val="F3F2F1"/>
                </a:solidFill>
                <a:effectLst/>
                <a:latin typeface="Consolas" panose="020B0609020204030204" pitchFamily="49" charset="0"/>
              </a:rPr>
              <a:t>Sweeping 254 usable address(es)...</a:t>
            </a:r>
          </a:p>
          <a:p>
            <a:pPr algn="l">
              <a:buNone/>
            </a:pPr>
            <a:r>
              <a:rPr lang="en-US" sz="1200">
                <a:solidFill>
                  <a:srgbClr val="F3F2F1"/>
                </a:solidFill>
                <a:effectLst/>
                <a:latin typeface="Consolas" panose="020B0609020204030204" pitchFamily="49" charset="0"/>
              </a:rPr>
              <a:t>Found 1 responding SQL endpoint(s).</a:t>
            </a:r>
          </a:p>
          <a:p>
            <a:pPr algn="l">
              <a:buNone/>
            </a:pPr>
            <a:r>
              <a:rPr lang="en-US" sz="1200">
                <a:solidFill>
                  <a:srgbClr val="F3F2F1"/>
                </a:solidFill>
                <a:effectLst/>
                <a:latin typeface="Consolas" panose="020B0609020204030204" pitchFamily="49" charset="0"/>
              </a:rPr>
              <a:t> </a:t>
            </a:r>
          </a:p>
          <a:p>
            <a:pPr algn="l">
              <a:buNone/>
            </a:pPr>
            <a:r>
              <a:rPr lang="en-US" sz="1200">
                <a:solidFill>
                  <a:srgbClr val="F3F2F1"/>
                </a:solidFill>
                <a:effectLst/>
                <a:latin typeface="Consolas" panose="020B0609020204030204" pitchFamily="49" charset="0"/>
              </a:rPr>
              <a:t>ServerName    InstanceName SQLRelease      SQLVersion  PatchLevel  SQLEdition</a:t>
            </a:r>
          </a:p>
          <a:p>
            <a:pPr algn="l">
              <a:buNone/>
            </a:pPr>
            <a:r>
              <a:rPr lang="en-US" sz="1200">
                <a:solidFill>
                  <a:srgbClr val="F3F2F1"/>
                </a:solidFill>
                <a:effectLst/>
                <a:latin typeface="Consolas" panose="020B0609020204030204" pitchFamily="49" charset="0"/>
              </a:rPr>
              <a:t>----------    ------------ ----------      ----------  ----------  ----------</a:t>
            </a:r>
          </a:p>
          <a:p>
            <a:pPr algn="l">
              <a:buNone/>
            </a:pPr>
            <a:r>
              <a:rPr lang="en-US" sz="1200">
                <a:solidFill>
                  <a:srgbClr val="F3F2F1"/>
                </a:solidFill>
                <a:effectLst/>
                <a:latin typeface="Consolas" panose="020B0609020204030204" pitchFamily="49" charset="0"/>
              </a:rPr>
              <a:t>SQLTEST-SQL01 MSSQLSERVER  SQL Server 2022 16.0.1000.6 16.0.4255.1 Developer Edition</a:t>
            </a:r>
          </a:p>
          <a:p>
            <a:pPr algn="l">
              <a:buNone/>
            </a:pPr>
            <a:r>
              <a:rPr lang="en-US" sz="1200">
                <a:solidFill>
                  <a:srgbClr val="F3F2F1"/>
                </a:solidFill>
                <a:effectLst/>
                <a:latin typeface="Consolas" panose="020B0609020204030204" pitchFamily="49" charset="0"/>
              </a:rPr>
              <a:t> </a:t>
            </a:r>
          </a:p>
          <a:p>
            <a:pPr algn="l">
              <a:buNone/>
            </a:pPr>
            <a:r>
              <a:rPr lang="en-US" sz="1200">
                <a:solidFill>
                  <a:srgbClr val="F3F2F1"/>
                </a:solidFill>
                <a:effectLst/>
                <a:latin typeface="Consolas" panose="020B0609020204030204" pitchFamily="49" charset="0"/>
              </a:rPr>
              <a:t>CSV exported to  : F:\Data\SQL-Discovery-MemberServer.csv</a:t>
            </a:r>
          </a:p>
          <a:p>
            <a:pPr algn="l">
              <a:buNone/>
            </a:pPr>
            <a:r>
              <a:rPr lang="en-US" sz="1200">
                <a:solidFill>
                  <a:srgbClr val="F3F2F1"/>
                </a:solidFill>
                <a:effectLst/>
                <a:latin typeface="Consolas" panose="020B0609020204030204" pitchFamily="49" charset="0"/>
              </a:rPr>
              <a:t>Addresses swept  : 254</a:t>
            </a:r>
          </a:p>
          <a:p>
            <a:pPr algn="l">
              <a:buNone/>
            </a:pPr>
            <a:r>
              <a:rPr lang="en-US" sz="1200">
                <a:solidFill>
                  <a:srgbClr val="F3F2F1"/>
                </a:solidFill>
                <a:effectLst/>
                <a:latin typeface="Consolas" panose="020B0609020204030204" pitchFamily="49" charset="0"/>
              </a:rPr>
              <a:t>Endpoints found  : 1</a:t>
            </a:r>
          </a:p>
          <a:p>
            <a:pPr algn="l">
              <a:buNone/>
            </a:pPr>
            <a:r>
              <a:rPr lang="en-US" sz="1200">
                <a:solidFill>
                  <a:srgbClr val="F3F2F1"/>
                </a:solidFill>
                <a:effectLst/>
                <a:latin typeface="Consolas" panose="020B0609020204030204" pitchFamily="49" charset="0"/>
              </a:rPr>
              <a:t>Instances read   : 1</a:t>
            </a:r>
          </a:p>
          <a:p>
            <a:pPr algn="l">
              <a:buNone/>
            </a:pPr>
            <a:r>
              <a:rPr lang="en-US" sz="1200">
                <a:solidFill>
                  <a:srgbClr val="F3F2F1"/>
                </a:solidFill>
                <a:effectLst/>
                <a:latin typeface="Consolas" panose="020B0609020204030204" pitchFamily="49" charset="0"/>
              </a:rPr>
              <a:t>Elapsed          : 13.2 seconds</a:t>
            </a:r>
            <a:endParaRPr lang="en-US"/>
          </a:p>
        </p:txBody>
      </p:sp>
    </p:spTree>
    <p:extLst>
      <p:ext uri="{BB962C8B-B14F-4D97-AF65-F5344CB8AC3E}">
        <p14:creationId xmlns:p14="http://schemas.microsoft.com/office/powerpoint/2010/main" val="1852242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876" name="Rectangle 26875">
            <a:extLst>
              <a:ext uri="{FF2B5EF4-FFF2-40B4-BE49-F238E27FC236}">
                <a16:creationId xmlns:a16="http://schemas.microsoft.com/office/drawing/2014/main" id="{3C028038-6D57-495C-BE7B-143F840A8DE1}"/>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AUDIT TRAIL</a:t>
            </a:r>
          </a:p>
          <a:p>
            <a:pPr algn="l">
              <a:buNone/>
            </a:pPr>
            <a:r>
              <a:rPr lang="en-US" sz="100">
                <a:effectLst/>
              </a:rPr>
              <a:t> </a:t>
            </a:r>
            <a:endParaRPr lang="en-US"/>
          </a:p>
        </p:txBody>
      </p:sp>
      <p:sp>
        <p:nvSpPr>
          <p:cNvPr id="26940" name="Rectangle 26939">
            <a:extLst>
              <a:ext uri="{FF2B5EF4-FFF2-40B4-BE49-F238E27FC236}">
                <a16:creationId xmlns:a16="http://schemas.microsoft.com/office/drawing/2014/main" id="{3580806B-E6CC-BCA3-390F-9629A1DA8103}"/>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Nothing is silently dropped</a:t>
            </a:r>
          </a:p>
          <a:p>
            <a:pPr algn="l">
              <a:buNone/>
            </a:pPr>
            <a:r>
              <a:rPr lang="en-US" sz="100">
                <a:effectLst/>
              </a:rPr>
              <a:t> </a:t>
            </a:r>
            <a:endParaRPr lang="en-US"/>
          </a:p>
        </p:txBody>
      </p:sp>
      <p:sp>
        <p:nvSpPr>
          <p:cNvPr id="27005" name="Rectangle 27004">
            <a:extLst>
              <a:ext uri="{FF2B5EF4-FFF2-40B4-BE49-F238E27FC236}">
                <a16:creationId xmlns:a16="http://schemas.microsoft.com/office/drawing/2014/main" id="{61E5E33C-AD69-7910-F9F9-DFCBD6E0F33A}"/>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71" name="Rectangle 27070">
            <a:extLst>
              <a:ext uri="{FF2B5EF4-FFF2-40B4-BE49-F238E27FC236}">
                <a16:creationId xmlns:a16="http://schemas.microsoft.com/office/drawing/2014/main" id="{812F3C15-D446-2F4F-A0EC-8252B0ACF46C}"/>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7138" name="Rectangle 27137">
            <a:extLst>
              <a:ext uri="{FF2B5EF4-FFF2-40B4-BE49-F238E27FC236}">
                <a16:creationId xmlns:a16="http://schemas.microsoft.com/office/drawing/2014/main" id="{9906D0E8-5B1D-56C2-5434-C7ACE598A43F}"/>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26</a:t>
            </a:r>
          </a:p>
          <a:p>
            <a:pPr algn="r">
              <a:buNone/>
            </a:pPr>
            <a:r>
              <a:rPr lang="en-US" sz="100">
                <a:effectLst/>
              </a:rPr>
              <a:t> </a:t>
            </a:r>
            <a:endParaRPr lang="en-US"/>
          </a:p>
        </p:txBody>
      </p:sp>
      <p:sp>
        <p:nvSpPr>
          <p:cNvPr id="27206" name="Rectangle 27205">
            <a:extLst>
              <a:ext uri="{FF2B5EF4-FFF2-40B4-BE49-F238E27FC236}">
                <a16:creationId xmlns:a16="http://schemas.microsoft.com/office/drawing/2014/main" id="{0996FB74-B232-39EA-18A3-2DEC88A2D5E5}"/>
              </a:ext>
            </a:extLst>
          </p:cNvPr>
          <p:cNvSpPr/>
          <p:nvPr/>
        </p:nvSpPr>
        <p:spPr>
          <a:xfrm>
            <a:off x="914400" y="1640000"/>
            <a:ext cx="10363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If a host is found but detail can't be read, it still appears in the CSV with a Status explaining why.</a:t>
            </a:r>
          </a:p>
          <a:p>
            <a:pPr algn="l">
              <a:buNone/>
            </a:pPr>
            <a:r>
              <a:rPr lang="en-US" sz="100">
                <a:effectLst/>
              </a:rPr>
              <a:t> </a:t>
            </a:r>
            <a:endParaRPr lang="en-US"/>
          </a:p>
        </p:txBody>
      </p:sp>
      <p:sp>
        <p:nvSpPr>
          <p:cNvPr id="27275" name="Rectangle 27274">
            <a:extLst>
              <a:ext uri="{FF2B5EF4-FFF2-40B4-BE49-F238E27FC236}">
                <a16:creationId xmlns:a16="http://schemas.microsoft.com/office/drawing/2014/main" id="{ABA791BF-E013-6368-A42B-B2A4F7FA804E}"/>
              </a:ext>
            </a:extLst>
          </p:cNvPr>
          <p:cNvSpPr/>
          <p:nvPr/>
        </p:nvSpPr>
        <p:spPr>
          <a:xfrm>
            <a:off x="914400" y="2458160"/>
            <a:ext cx="10363200" cy="1297200"/>
          </a:xfrm>
          <a:prstGeom prst="rect">
            <a:avLst/>
          </a:prstGeom>
          <a:solidFill>
            <a:srgbClr val="1B1A19"/>
          </a:solidFill>
          <a:ln>
            <a:solidFill>
              <a:srgbClr val="1B1A1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45" name="Rectangle: Rounded Corners 27344">
            <a:extLst>
              <a:ext uri="{FF2B5EF4-FFF2-40B4-BE49-F238E27FC236}">
                <a16:creationId xmlns:a16="http://schemas.microsoft.com/office/drawing/2014/main" id="{0A1D8B79-8326-E5D1-20B2-F6D6817ED585}"/>
              </a:ext>
            </a:extLst>
          </p:cNvPr>
          <p:cNvSpPr/>
          <p:nvPr/>
        </p:nvSpPr>
        <p:spPr>
          <a:xfrm>
            <a:off x="10508000" y="2825320"/>
            <a:ext cx="617200" cy="380000"/>
          </a:xfrm>
          <a:prstGeom prst="round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CSV</a:t>
            </a:r>
          </a:p>
          <a:p>
            <a:pPr algn="ctr">
              <a:buNone/>
            </a:pPr>
            <a:r>
              <a:rPr lang="en-US" sz="100">
                <a:effectLst/>
              </a:rPr>
              <a:t> </a:t>
            </a:r>
            <a:endParaRPr lang="en-US"/>
          </a:p>
        </p:txBody>
      </p:sp>
      <p:sp>
        <p:nvSpPr>
          <p:cNvPr id="27416" name="Rectangle 27415">
            <a:extLst>
              <a:ext uri="{FF2B5EF4-FFF2-40B4-BE49-F238E27FC236}">
                <a16:creationId xmlns:a16="http://schemas.microsoft.com/office/drawing/2014/main" id="{4A241E56-83BA-11CD-1D96-CADAC3C1B624}"/>
              </a:ext>
            </a:extLst>
          </p:cNvPr>
          <p:cNvSpPr/>
          <p:nvPr/>
        </p:nvSpPr>
        <p:spPr>
          <a:xfrm>
            <a:off x="1066800" y="2878160"/>
            <a:ext cx="8658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F3F2F1"/>
                </a:solidFill>
                <a:effectLst/>
                <a:latin typeface="Consolas" panose="020B0609020204030204" pitchFamily="49" charset="0"/>
              </a:rPr>
              <a:t>"SQLTEST-SQL01","(port open, detail unavailable)",...,"NOT READ - Access is denied."</a:t>
            </a:r>
          </a:p>
          <a:p>
            <a:pPr algn="l">
              <a:buNone/>
            </a:pPr>
            <a:r>
              <a:rPr lang="en-US" sz="1200">
                <a:solidFill>
                  <a:srgbClr val="F3F2F1"/>
                </a:solidFill>
                <a:effectLst/>
                <a:latin typeface="Consolas" panose="020B0609020204030204" pitchFamily="49" charset="0"/>
              </a:rPr>
              <a:t>"OLDBOX-01","(none detected)",...,"NOT READ - No SQL Server instance registry key present"</a:t>
            </a:r>
            <a:endParaRPr lang="en-US"/>
          </a:p>
        </p:txBody>
      </p:sp>
      <p:sp>
        <p:nvSpPr>
          <p:cNvPr id="27488" name="Rectangle 27487">
            <a:extLst>
              <a:ext uri="{FF2B5EF4-FFF2-40B4-BE49-F238E27FC236}">
                <a16:creationId xmlns:a16="http://schemas.microsoft.com/office/drawing/2014/main" id="{8304AD03-BC99-E0F5-F9D4-1E939778A4D3}"/>
              </a:ext>
            </a:extLst>
          </p:cNvPr>
          <p:cNvSpPr/>
          <p:nvPr/>
        </p:nvSpPr>
        <p:spPr>
          <a:xfrm>
            <a:off x="914400" y="4055360"/>
            <a:ext cx="10363200" cy="104008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61" name="Rectangle 27560">
            <a:extLst>
              <a:ext uri="{FF2B5EF4-FFF2-40B4-BE49-F238E27FC236}">
                <a16:creationId xmlns:a16="http://schemas.microsoft.com/office/drawing/2014/main" id="{9547EF77-7322-6F09-62C8-AB6C257E3A28}"/>
              </a:ext>
            </a:extLst>
          </p:cNvPr>
          <p:cNvSpPr/>
          <p:nvPr/>
        </p:nvSpPr>
        <p:spPr>
          <a:xfrm>
            <a:off x="1143000" y="4255360"/>
            <a:ext cx="99060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Segoe UI Semibold" panose="020B0702040204020203" pitchFamily="34" charset="0"/>
              </a:rPr>
              <a:t>A discovery tool that hides what it couldn't reach gives false confidence — you'd never know to go and investigate.</a:t>
            </a:r>
          </a:p>
          <a:p>
            <a:pPr algn="l">
              <a:buNone/>
            </a:pPr>
            <a:r>
              <a:rPr lang="en-US" sz="100">
                <a:effectLst/>
              </a:rPr>
              <a:t> </a:t>
            </a:r>
            <a:endParaRPr lang="en-US"/>
          </a:p>
        </p:txBody>
      </p:sp>
      <p:sp>
        <p:nvSpPr>
          <p:cNvPr id="27635" name="Rectangle 27634">
            <a:extLst>
              <a:ext uri="{FF2B5EF4-FFF2-40B4-BE49-F238E27FC236}">
                <a16:creationId xmlns:a16="http://schemas.microsoft.com/office/drawing/2014/main" id="{5F1577BA-0A78-A6CD-A359-AC4C92FFD9D4}"/>
              </a:ext>
            </a:extLst>
          </p:cNvPr>
          <p:cNvSpPr/>
          <p:nvPr/>
        </p:nvSpPr>
        <p:spPr>
          <a:xfrm>
            <a:off x="914400" y="5395440"/>
            <a:ext cx="10363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01F1E"/>
                </a:solidFill>
                <a:effectLst/>
                <a:latin typeface="Segoe UI" panose="020B0502040204020203" pitchFamily="34" charset="0"/>
              </a:rPr>
              <a:t>If no instances are found at all, the subnet script still writes a valid header-only CSV so downstream tooling doesn't break on a missing file.</a:t>
            </a:r>
          </a:p>
          <a:p>
            <a:pPr algn="l">
              <a:buNone/>
            </a:pPr>
            <a:r>
              <a:rPr lang="en-US" sz="100">
                <a:effectLst/>
              </a:rPr>
              <a:t> </a:t>
            </a:r>
            <a:endParaRPr lang="en-US"/>
          </a:p>
        </p:txBody>
      </p:sp>
    </p:spTree>
    <p:extLst>
      <p:ext uri="{BB962C8B-B14F-4D97-AF65-F5344CB8AC3E}">
        <p14:creationId xmlns:p14="http://schemas.microsoft.com/office/powerpoint/2010/main" val="289440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90" name="Rectangle 11389">
            <a:extLst>
              <a:ext uri="{FF2B5EF4-FFF2-40B4-BE49-F238E27FC236}">
                <a16:creationId xmlns:a16="http://schemas.microsoft.com/office/drawing/2014/main" id="{0D1FCC9D-8E5F-406B-AE3C-DACFA4D94615}"/>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TROUBLESHOOTING</a:t>
            </a:r>
          </a:p>
          <a:p>
            <a:pPr algn="l">
              <a:buNone/>
            </a:pPr>
            <a:r>
              <a:rPr lang="en-US" sz="100">
                <a:effectLst/>
              </a:rPr>
              <a:t> </a:t>
            </a:r>
            <a:endParaRPr lang="en-US"/>
          </a:p>
        </p:txBody>
      </p:sp>
      <p:sp>
        <p:nvSpPr>
          <p:cNvPr id="11392" name="Rectangle 11391">
            <a:extLst>
              <a:ext uri="{FF2B5EF4-FFF2-40B4-BE49-F238E27FC236}">
                <a16:creationId xmlns:a16="http://schemas.microsoft.com/office/drawing/2014/main" id="{9F306CAB-43F0-91D5-A946-A6D69CA924FF}"/>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Common issues and fixes</a:t>
            </a:r>
          </a:p>
          <a:p>
            <a:pPr algn="l">
              <a:buNone/>
            </a:pPr>
            <a:r>
              <a:rPr lang="en-US" sz="100">
                <a:effectLst/>
              </a:rPr>
              <a:t> </a:t>
            </a:r>
            <a:endParaRPr lang="en-US"/>
          </a:p>
        </p:txBody>
      </p:sp>
      <p:sp>
        <p:nvSpPr>
          <p:cNvPr id="11395" name="Rectangle 11394">
            <a:extLst>
              <a:ext uri="{FF2B5EF4-FFF2-40B4-BE49-F238E27FC236}">
                <a16:creationId xmlns:a16="http://schemas.microsoft.com/office/drawing/2014/main" id="{E5838CB3-8A62-F973-15E0-15D2A09DB404}"/>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99" name="Rectangle 11398">
            <a:extLst>
              <a:ext uri="{FF2B5EF4-FFF2-40B4-BE49-F238E27FC236}">
                <a16:creationId xmlns:a16="http://schemas.microsoft.com/office/drawing/2014/main" id="{AFF0A90A-DD7D-CF5C-C9FA-2243B51FBF9E}"/>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11404" name="Rectangle 11403">
            <a:extLst>
              <a:ext uri="{FF2B5EF4-FFF2-40B4-BE49-F238E27FC236}">
                <a16:creationId xmlns:a16="http://schemas.microsoft.com/office/drawing/2014/main" id="{CBF33317-275F-B81A-2613-4563940A2881}"/>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27</a:t>
            </a:r>
          </a:p>
          <a:p>
            <a:pPr algn="r">
              <a:buNone/>
            </a:pPr>
            <a:r>
              <a:rPr lang="en-US" sz="100">
                <a:effectLst/>
              </a:rPr>
              <a:t> </a:t>
            </a:r>
            <a:endParaRPr lang="en-US"/>
          </a:p>
        </p:txBody>
      </p:sp>
      <p:graphicFrame>
        <p:nvGraphicFramePr>
          <p:cNvPr id="8" name="Table 7">
            <a:extLst>
              <a:ext uri="{FF2B5EF4-FFF2-40B4-BE49-F238E27FC236}">
                <a16:creationId xmlns:a16="http://schemas.microsoft.com/office/drawing/2014/main" id="{680BA87A-1B2B-4D6D-8B56-AF140F2930C5}"/>
              </a:ext>
            </a:extLst>
          </p:cNvPr>
          <p:cNvGraphicFramePr>
            <a:graphicFrameLocks noGrp="1"/>
          </p:cNvGraphicFramePr>
          <p:nvPr/>
        </p:nvGraphicFramePr>
        <p:xfrm>
          <a:off x="914400" y="1680000"/>
          <a:ext cx="8127999" cy="356616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2745173732"/>
                    </a:ext>
                  </a:extLst>
                </a:gridCol>
                <a:gridCol w="2709333">
                  <a:extLst>
                    <a:ext uri="{9D8B030D-6E8A-4147-A177-3AD203B41FA5}">
                      <a16:colId xmlns:a16="http://schemas.microsoft.com/office/drawing/2014/main" val="2677048840"/>
                    </a:ext>
                  </a:extLst>
                </a:gridCol>
                <a:gridCol w="2709333">
                  <a:extLst>
                    <a:ext uri="{9D8B030D-6E8A-4147-A177-3AD203B41FA5}">
                      <a16:colId xmlns:a16="http://schemas.microsoft.com/office/drawing/2014/main" val="1528978599"/>
                    </a:ext>
                  </a:extLst>
                </a:gridCol>
              </a:tblGrid>
              <a:tr h="0">
                <a:tc>
                  <a:txBody>
                    <a:bodyPr/>
                    <a:lstStyle/>
                    <a:p>
                      <a:pPr>
                        <a:buNone/>
                      </a:pPr>
                      <a:r>
                        <a:rPr lang="en-US" sz="1200" b="1">
                          <a:solidFill>
                            <a:srgbClr val="FFFFFF"/>
                          </a:solidFill>
                          <a:effectLst/>
                          <a:latin typeface="Segoe UI" panose="020B0502040204020203" pitchFamily="34" charset="0"/>
                        </a:rPr>
                        <a:t>Symptom</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Cause</a:t>
                      </a:r>
                    </a:p>
                  </a:txBody>
                  <a:tcPr anchor="ctr">
                    <a:lnL>
                      <a:noFill/>
                    </a:lnL>
                    <a:lnR>
                      <a:noFill/>
                    </a:lnR>
                    <a:lnT>
                      <a:noFill/>
                    </a:lnT>
                    <a:lnB>
                      <a:noFill/>
                    </a:lnB>
                    <a:solidFill>
                      <a:srgbClr val="243A5E"/>
                    </a:solidFill>
                  </a:tcPr>
                </a:tc>
                <a:tc>
                  <a:txBody>
                    <a:bodyPr/>
                    <a:lstStyle/>
                    <a:p>
                      <a:pPr>
                        <a:buNone/>
                      </a:pPr>
                      <a:r>
                        <a:rPr lang="en-US" sz="1200" b="1">
                          <a:solidFill>
                            <a:srgbClr val="FFFFFF"/>
                          </a:solidFill>
                          <a:effectLst/>
                          <a:latin typeface="Segoe UI" panose="020B0502040204020203" pitchFamily="34" charset="0"/>
                        </a:rPr>
                        <a:t>Fix</a:t>
                      </a:r>
                    </a:p>
                  </a:txBody>
                  <a:tcPr anchor="ctr">
                    <a:lnL>
                      <a:noFill/>
                    </a:lnL>
                    <a:lnR>
                      <a:noFill/>
                    </a:lnR>
                    <a:lnT>
                      <a:noFill/>
                    </a:lnT>
                    <a:lnB>
                      <a:noFill/>
                    </a:lnB>
                    <a:solidFill>
                      <a:srgbClr val="243A5E"/>
                    </a:solidFill>
                  </a:tcPr>
                </a:tc>
                <a:extLst>
                  <a:ext uri="{0D108BD9-81ED-4DB2-BD59-A6C34878D82A}">
                    <a16:rowId xmlns:a16="http://schemas.microsoft.com/office/drawing/2014/main" val="3680293531"/>
                  </a:ext>
                </a:extLst>
              </a:tr>
              <a:tr h="0">
                <a:tc>
                  <a:txBody>
                    <a:bodyPr/>
                    <a:lstStyle/>
                    <a:p>
                      <a:pPr>
                        <a:buNone/>
                      </a:pPr>
                      <a:r>
                        <a:rPr lang="en-US" sz="1200">
                          <a:effectLst/>
                          <a:latin typeface="Segoe UI" panose="020B0502040204020203" pitchFamily="34" charset="0"/>
                        </a:rPr>
                        <a:t>The ActiveDirectory module could not be loaded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RSAT not installed</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Install-WindowsFeature RSAT-AD-PowerShell (server), or add the RSAT optional feature (Windows client)</a:t>
                      </a:r>
                    </a:p>
                  </a:txBody>
                  <a:tcPr anchor="ctr">
                    <a:lnL>
                      <a:noFill/>
                    </a:lnL>
                    <a:lnR>
                      <a:noFill/>
                    </a:lnR>
                    <a:lnT>
                      <a:noFill/>
                    </a:lnT>
                    <a:lnB>
                      <a:noFill/>
                    </a:lnB>
                    <a:noFill/>
                  </a:tcPr>
                </a:tc>
                <a:extLst>
                  <a:ext uri="{0D108BD9-81ED-4DB2-BD59-A6C34878D82A}">
                    <a16:rowId xmlns:a16="http://schemas.microsoft.com/office/drawing/2014/main" val="2463839721"/>
                  </a:ext>
                </a:extLst>
              </a:tr>
              <a:tr h="0">
                <a:tc>
                  <a:txBody>
                    <a:bodyPr/>
                    <a:lstStyle/>
                    <a:p>
                      <a:pPr>
                        <a:buNone/>
                      </a:pPr>
                      <a:r>
                        <a:rPr lang="en-US" sz="1200">
                          <a:effectLst/>
                          <a:latin typeface="Segoe UI" panose="020B0502040204020203" pitchFamily="34" charset="0"/>
                        </a:rPr>
                        <a:t>Status: NOT READ - Access is denied.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Not a local admin on the target</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Use -AuthMode Prompt or -Credential with an account that is</a:t>
                      </a:r>
                    </a:p>
                  </a:txBody>
                  <a:tcPr anchor="ctr">
                    <a:lnL>
                      <a:noFill/>
                    </a:lnL>
                    <a:lnR>
                      <a:noFill/>
                    </a:lnR>
                    <a:lnT>
                      <a:noFill/>
                    </a:lnT>
                    <a:lnB>
                      <a:noFill/>
                    </a:lnB>
                    <a:solidFill>
                      <a:srgbClr val="E9EBEF"/>
                    </a:solidFill>
                  </a:tcPr>
                </a:tc>
                <a:extLst>
                  <a:ext uri="{0D108BD9-81ED-4DB2-BD59-A6C34878D82A}">
                    <a16:rowId xmlns:a16="http://schemas.microsoft.com/office/drawing/2014/main" val="3459085833"/>
                  </a:ext>
                </a:extLst>
              </a:tr>
              <a:tr h="0">
                <a:tc>
                  <a:txBody>
                    <a:bodyPr/>
                    <a:lstStyle/>
                    <a:p>
                      <a:pPr>
                        <a:buNone/>
                      </a:pPr>
                      <a:r>
                        <a:rPr lang="en-US" sz="1200">
                          <a:effectLst/>
                          <a:latin typeface="Segoe UI" panose="020B0502040204020203" pitchFamily="34" charset="0"/>
                        </a:rPr>
                        <a:t>Status: NOT READ - The RPC server is unavailable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Firewall blocking WMI</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Allow TCP 135 + the dynamic RPC range, or enable the Windows Management Instrumentation (WMI-In) firewall rule</a:t>
                      </a:r>
                    </a:p>
                  </a:txBody>
                  <a:tcPr anchor="ctr">
                    <a:lnL>
                      <a:noFill/>
                    </a:lnL>
                    <a:lnR>
                      <a:noFill/>
                    </a:lnR>
                    <a:lnT>
                      <a:noFill/>
                    </a:lnT>
                    <a:lnB>
                      <a:noFill/>
                    </a:lnB>
                    <a:noFill/>
                  </a:tcPr>
                </a:tc>
                <a:extLst>
                  <a:ext uri="{0D108BD9-81ED-4DB2-BD59-A6C34878D82A}">
                    <a16:rowId xmlns:a16="http://schemas.microsoft.com/office/drawing/2014/main" val="3871366399"/>
                  </a:ext>
                </a:extLst>
              </a:tr>
              <a:tr h="0">
                <a:tc>
                  <a:txBody>
                    <a:bodyPr/>
                    <a:lstStyle/>
                    <a:p>
                      <a:pPr>
                        <a:buNone/>
                      </a:pPr>
                      <a:r>
                        <a:rPr lang="en-US" sz="1200">
                          <a:effectLst/>
                          <a:latin typeface="Segoe UI" panose="020B0502040204020203" pitchFamily="34" charset="0"/>
                        </a:rPr>
                        <a:t>Subnet scan finds nothing</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UDP 1434 and TCP 1433 both blocked</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Check host firewalls; add custom ports via -SqlPorts</a:t>
                      </a:r>
                    </a:p>
                  </a:txBody>
                  <a:tcPr anchor="ctr">
                    <a:lnL>
                      <a:noFill/>
                    </a:lnL>
                    <a:lnR>
                      <a:noFill/>
                    </a:lnR>
                    <a:lnT>
                      <a:noFill/>
                    </a:lnT>
                    <a:lnB>
                      <a:noFill/>
                    </a:lnB>
                    <a:solidFill>
                      <a:srgbClr val="E9EBEF"/>
                    </a:solidFill>
                  </a:tcPr>
                </a:tc>
                <a:extLst>
                  <a:ext uri="{0D108BD9-81ED-4DB2-BD59-A6C34878D82A}">
                    <a16:rowId xmlns:a16="http://schemas.microsoft.com/office/drawing/2014/main" val="3097068908"/>
                  </a:ext>
                </a:extLst>
              </a:tr>
              <a:tr h="0">
                <a:tc>
                  <a:txBody>
                    <a:bodyPr/>
                    <a:lstStyle/>
                    <a:p>
                      <a:pPr>
                        <a:buNone/>
                      </a:pPr>
                      <a:r>
                        <a:rPr lang="en-US" sz="1200">
                          <a:effectLst/>
                          <a:latin typeface="Segoe UI" panose="020B0502040204020203" pitchFamily="34" charset="0"/>
                        </a:rPr>
                        <a:t>exceeds the MaxHosts safety limit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Subnet larger than 4,094 hosts</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Deliberately raise -MaxHosts, or scan in smaller blocks</a:t>
                      </a:r>
                    </a:p>
                  </a:txBody>
                  <a:tcPr anchor="ctr">
                    <a:lnL>
                      <a:noFill/>
                    </a:lnL>
                    <a:lnR>
                      <a:noFill/>
                    </a:lnR>
                    <a:lnT>
                      <a:noFill/>
                    </a:lnT>
                    <a:lnB>
                      <a:noFill/>
                    </a:lnB>
                    <a:noFill/>
                  </a:tcPr>
                </a:tc>
                <a:extLst>
                  <a:ext uri="{0D108BD9-81ED-4DB2-BD59-A6C34878D82A}">
                    <a16:rowId xmlns:a16="http://schemas.microsoft.com/office/drawing/2014/main" val="2496797030"/>
                  </a:ext>
                </a:extLst>
              </a:tr>
              <a:tr h="0">
                <a:tc>
                  <a:txBody>
                    <a:bodyPr/>
                    <a:lstStyle/>
                    <a:p>
                      <a:pPr>
                        <a:buNone/>
                      </a:pPr>
                      <a:r>
                        <a:rPr lang="en-US" sz="1200">
                          <a:effectLst/>
                          <a:latin typeface="Segoe UI" panose="020B0502040204020203" pitchFamily="34" charset="0"/>
                        </a:rPr>
                        <a:t>Script won't run at all</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Execution policy</a:t>
                      </a:r>
                    </a:p>
                  </a:txBody>
                  <a:tcPr anchor="ctr">
                    <a:lnL>
                      <a:noFill/>
                    </a:lnL>
                    <a:lnR>
                      <a:noFill/>
                    </a:lnR>
                    <a:lnT>
                      <a:noFill/>
                    </a:lnT>
                    <a:lnB>
                      <a:noFill/>
                    </a:lnB>
                    <a:solidFill>
                      <a:srgbClr val="E9EBEF"/>
                    </a:solidFill>
                  </a:tcPr>
                </a:tc>
                <a:tc>
                  <a:txBody>
                    <a:bodyPr/>
                    <a:lstStyle/>
                    <a:p>
                      <a:pPr>
                        <a:buNone/>
                      </a:pPr>
                      <a:r>
                        <a:rPr lang="en-US" sz="1200">
                          <a:effectLst/>
                          <a:latin typeface="Segoe UI" panose="020B0502040204020203" pitchFamily="34" charset="0"/>
                        </a:rPr>
                        <a:t>Set-ExecutionPolicy -Scope Process -ExecutionPolicy Bypass</a:t>
                      </a:r>
                    </a:p>
                  </a:txBody>
                  <a:tcPr anchor="ctr">
                    <a:lnL>
                      <a:noFill/>
                    </a:lnL>
                    <a:lnR>
                      <a:noFill/>
                    </a:lnR>
                    <a:lnT>
                      <a:noFill/>
                    </a:lnT>
                    <a:lnB>
                      <a:noFill/>
                    </a:lnB>
                    <a:solidFill>
                      <a:srgbClr val="E9EBEF"/>
                    </a:solidFill>
                  </a:tcPr>
                </a:tc>
                <a:extLst>
                  <a:ext uri="{0D108BD9-81ED-4DB2-BD59-A6C34878D82A}">
                    <a16:rowId xmlns:a16="http://schemas.microsoft.com/office/drawing/2014/main" val="2723368376"/>
                  </a:ext>
                </a:extLst>
              </a:tr>
            </a:tbl>
          </a:graphicData>
        </a:graphic>
      </p:graphicFrame>
    </p:spTree>
    <p:extLst>
      <p:ext uri="{BB962C8B-B14F-4D97-AF65-F5344CB8AC3E}">
        <p14:creationId xmlns:p14="http://schemas.microsoft.com/office/powerpoint/2010/main" val="2013764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17" name="Rectangle 20516">
            <a:extLst>
              <a:ext uri="{FF2B5EF4-FFF2-40B4-BE49-F238E27FC236}">
                <a16:creationId xmlns:a16="http://schemas.microsoft.com/office/drawing/2014/main" id="{60F92CAA-1CF3-F44E-28DC-61CEA176928F}"/>
              </a:ext>
            </a:extLst>
          </p:cNvPr>
          <p:cNvSpPr/>
          <p:nvPr/>
        </p:nvSpPr>
        <p:spPr>
          <a:xfrm>
            <a:off x="914400" y="420000"/>
            <a:ext cx="8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Semibold" panose="020B0702040204020203" pitchFamily="34" charset="0"/>
              </a:rPr>
              <a:t>NEXT STEPS</a:t>
            </a:r>
          </a:p>
          <a:p>
            <a:pPr algn="l">
              <a:buNone/>
            </a:pPr>
            <a:r>
              <a:rPr lang="en-US" sz="100">
                <a:effectLst/>
              </a:rPr>
              <a:t> </a:t>
            </a:r>
            <a:endParaRPr lang="en-US"/>
          </a:p>
        </p:txBody>
      </p:sp>
      <p:sp>
        <p:nvSpPr>
          <p:cNvPr id="20531" name="Rectangle 20530">
            <a:extLst>
              <a:ext uri="{FF2B5EF4-FFF2-40B4-BE49-F238E27FC236}">
                <a16:creationId xmlns:a16="http://schemas.microsoft.com/office/drawing/2014/main" id="{F8E59ED3-CA19-29CA-4E9D-CAB29E80C071}"/>
              </a:ext>
            </a:extLst>
          </p:cNvPr>
          <p:cNvSpPr/>
          <p:nvPr/>
        </p:nvSpPr>
        <p:spPr>
          <a:xfrm>
            <a:off x="914400" y="740000"/>
            <a:ext cx="103632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01F1E"/>
                </a:solidFill>
                <a:effectLst/>
                <a:latin typeface="Segoe UI Semibold" panose="020B0702040204020203" pitchFamily="34" charset="0"/>
              </a:rPr>
              <a:t>From inventory to plan</a:t>
            </a:r>
          </a:p>
          <a:p>
            <a:pPr algn="l">
              <a:buNone/>
            </a:pPr>
            <a:r>
              <a:rPr lang="en-US" sz="100">
                <a:effectLst/>
              </a:rPr>
              <a:t> </a:t>
            </a:r>
            <a:endParaRPr lang="en-US"/>
          </a:p>
        </p:txBody>
      </p:sp>
      <p:sp>
        <p:nvSpPr>
          <p:cNvPr id="20546" name="Rectangle 20545">
            <a:extLst>
              <a:ext uri="{FF2B5EF4-FFF2-40B4-BE49-F238E27FC236}">
                <a16:creationId xmlns:a16="http://schemas.microsoft.com/office/drawing/2014/main" id="{6D665334-5621-2685-D89F-87A23A1DC6DA}"/>
              </a:ext>
            </a:extLst>
          </p:cNvPr>
          <p:cNvSpPr/>
          <p:nvPr/>
        </p:nvSpPr>
        <p:spPr>
          <a:xfrm>
            <a:off x="914400" y="1530000"/>
            <a:ext cx="1920240" cy="508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62" name="Rectangle 20561">
            <a:extLst>
              <a:ext uri="{FF2B5EF4-FFF2-40B4-BE49-F238E27FC236}">
                <a16:creationId xmlns:a16="http://schemas.microsoft.com/office/drawing/2014/main" id="{36677591-A08B-A1FE-19BB-82364F39C3BA}"/>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05E5C"/>
                </a:solidFill>
                <a:effectLst/>
                <a:latin typeface="Segoe UI" panose="020B0502040204020203" pitchFamily="34" charset="0"/>
              </a:rPr>
              <a:t>SQL Server 2016 End of Support</a:t>
            </a:r>
          </a:p>
          <a:p>
            <a:pPr algn="l">
              <a:buNone/>
            </a:pPr>
            <a:r>
              <a:rPr lang="en-US" sz="100">
                <a:effectLst/>
              </a:rPr>
              <a:t> </a:t>
            </a:r>
            <a:endParaRPr lang="en-US"/>
          </a:p>
        </p:txBody>
      </p:sp>
      <p:sp>
        <p:nvSpPr>
          <p:cNvPr id="20579" name="Rectangle 20578">
            <a:extLst>
              <a:ext uri="{FF2B5EF4-FFF2-40B4-BE49-F238E27FC236}">
                <a16:creationId xmlns:a16="http://schemas.microsoft.com/office/drawing/2014/main" id="{7629A0E0-6976-F038-279B-57AE2AAF80E2}"/>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05E5C"/>
                </a:solidFill>
                <a:effectLst/>
                <a:latin typeface="Segoe UI" panose="020B0502040204020203" pitchFamily="34" charset="0"/>
              </a:rPr>
              <a:t>28</a:t>
            </a:r>
          </a:p>
          <a:p>
            <a:pPr algn="r">
              <a:buNone/>
            </a:pPr>
            <a:r>
              <a:rPr lang="en-US" sz="100">
                <a:effectLst/>
              </a:rPr>
              <a:t> </a:t>
            </a:r>
            <a:endParaRPr lang="en-US"/>
          </a:p>
        </p:txBody>
      </p:sp>
      <p:sp>
        <p:nvSpPr>
          <p:cNvPr id="20597" name="Rectangle 20596">
            <a:extLst>
              <a:ext uri="{FF2B5EF4-FFF2-40B4-BE49-F238E27FC236}">
                <a16:creationId xmlns:a16="http://schemas.microsoft.com/office/drawing/2014/main" id="{3A4A002B-86FA-6CDA-0754-A8C63D885833}"/>
              </a:ext>
            </a:extLst>
          </p:cNvPr>
          <p:cNvSpPr/>
          <p:nvPr/>
        </p:nvSpPr>
        <p:spPr>
          <a:xfrm>
            <a:off x="914400" y="1700000"/>
            <a:ext cx="2476500" cy="3132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616" name="Oval 20615">
            <a:extLst>
              <a:ext uri="{FF2B5EF4-FFF2-40B4-BE49-F238E27FC236}">
                <a16:creationId xmlns:a16="http://schemas.microsoft.com/office/drawing/2014/main" id="{664EBE69-9839-8419-417A-A8FC590E4C1C}"/>
              </a:ext>
            </a:extLst>
          </p:cNvPr>
          <p:cNvSpPr/>
          <p:nvPr/>
        </p:nvSpPr>
        <p:spPr>
          <a:xfrm>
            <a:off x="1028700" y="18143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0636" name="Rectangle 20635">
            <a:extLst>
              <a:ext uri="{FF2B5EF4-FFF2-40B4-BE49-F238E27FC236}">
                <a16:creationId xmlns:a16="http://schemas.microsoft.com/office/drawing/2014/main" id="{AFC07832-2028-EE4E-B5AF-F30752650F89}"/>
              </a:ext>
            </a:extLst>
          </p:cNvPr>
          <p:cNvSpPr/>
          <p:nvPr/>
        </p:nvSpPr>
        <p:spPr>
          <a:xfrm>
            <a:off x="1028700" y="2524300"/>
            <a:ext cx="2247900" cy="39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Discover</a:t>
            </a:r>
          </a:p>
          <a:p>
            <a:pPr algn="l">
              <a:buNone/>
            </a:pPr>
            <a:r>
              <a:rPr lang="en-US" sz="100">
                <a:effectLst/>
              </a:rPr>
              <a:t> </a:t>
            </a:r>
            <a:endParaRPr lang="en-US"/>
          </a:p>
        </p:txBody>
      </p:sp>
      <p:sp>
        <p:nvSpPr>
          <p:cNvPr id="20657" name="Rectangle 20656">
            <a:extLst>
              <a:ext uri="{FF2B5EF4-FFF2-40B4-BE49-F238E27FC236}">
                <a16:creationId xmlns:a16="http://schemas.microsoft.com/office/drawing/2014/main" id="{5E864594-3A9C-BCB9-21DE-64514C2BBF71}"/>
              </a:ext>
            </a:extLst>
          </p:cNvPr>
          <p:cNvSpPr/>
          <p:nvPr/>
        </p:nvSpPr>
        <p:spPr>
          <a:xfrm>
            <a:off x="1028700" y="2919580"/>
            <a:ext cx="224790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Run both scripts, combine the CSVs, and filter for SQLRelease = SQL Server 2016 (major build 13).</a:t>
            </a:r>
          </a:p>
          <a:p>
            <a:pPr algn="l">
              <a:buNone/>
            </a:pPr>
            <a:r>
              <a:rPr lang="en-US" sz="100">
                <a:effectLst/>
              </a:rPr>
              <a:t> </a:t>
            </a:r>
            <a:endParaRPr lang="en-US"/>
          </a:p>
        </p:txBody>
      </p:sp>
      <p:sp>
        <p:nvSpPr>
          <p:cNvPr id="20679" name="Rectangle 20678">
            <a:extLst>
              <a:ext uri="{FF2B5EF4-FFF2-40B4-BE49-F238E27FC236}">
                <a16:creationId xmlns:a16="http://schemas.microsoft.com/office/drawing/2014/main" id="{19CD45DD-B336-A1B8-B334-B76140FA8336}"/>
              </a:ext>
            </a:extLst>
          </p:cNvPr>
          <p:cNvSpPr/>
          <p:nvPr/>
        </p:nvSpPr>
        <p:spPr>
          <a:xfrm>
            <a:off x="3543300" y="1700000"/>
            <a:ext cx="2476500" cy="3132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702" name="Oval 20701">
            <a:extLst>
              <a:ext uri="{FF2B5EF4-FFF2-40B4-BE49-F238E27FC236}">
                <a16:creationId xmlns:a16="http://schemas.microsoft.com/office/drawing/2014/main" id="{DEB2FBE6-9160-CCF8-9B20-2D17690E2A81}"/>
              </a:ext>
            </a:extLst>
          </p:cNvPr>
          <p:cNvSpPr/>
          <p:nvPr/>
        </p:nvSpPr>
        <p:spPr>
          <a:xfrm>
            <a:off x="3657600" y="18143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2</a:t>
            </a:r>
          </a:p>
          <a:p>
            <a:pPr algn="ctr">
              <a:buNone/>
            </a:pPr>
            <a:r>
              <a:rPr lang="en-US" sz="100">
                <a:effectLst/>
              </a:rPr>
              <a:t> </a:t>
            </a:r>
            <a:endParaRPr lang="en-US"/>
          </a:p>
        </p:txBody>
      </p:sp>
      <p:sp>
        <p:nvSpPr>
          <p:cNvPr id="20726" name="Rectangle 20725">
            <a:extLst>
              <a:ext uri="{FF2B5EF4-FFF2-40B4-BE49-F238E27FC236}">
                <a16:creationId xmlns:a16="http://schemas.microsoft.com/office/drawing/2014/main" id="{57B2CD8E-7FA3-E482-C076-0813D66436A5}"/>
              </a:ext>
            </a:extLst>
          </p:cNvPr>
          <p:cNvSpPr/>
          <p:nvPr/>
        </p:nvSpPr>
        <p:spPr>
          <a:xfrm>
            <a:off x="3657600" y="2524300"/>
            <a:ext cx="22479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Size the</a:t>
            </a:r>
          </a:p>
          <a:p>
            <a:pPr algn="l">
              <a:buNone/>
            </a:pPr>
            <a:r>
              <a:rPr lang="en-US" sz="1600" b="1">
                <a:solidFill>
                  <a:srgbClr val="004578"/>
                </a:solidFill>
                <a:effectLst/>
                <a:latin typeface="Segoe UI Semibold" panose="020B0702040204020203" pitchFamily="34" charset="0"/>
              </a:rPr>
              <a:t>exposure</a:t>
            </a:r>
            <a:endParaRPr lang="en-US"/>
          </a:p>
        </p:txBody>
      </p:sp>
      <p:sp>
        <p:nvSpPr>
          <p:cNvPr id="20751" name="Rectangle 20750">
            <a:extLst>
              <a:ext uri="{FF2B5EF4-FFF2-40B4-BE49-F238E27FC236}">
                <a16:creationId xmlns:a16="http://schemas.microsoft.com/office/drawing/2014/main" id="{D04DD80E-6FB9-D590-1E96-185FD749FD45}"/>
              </a:ext>
            </a:extLst>
          </p:cNvPr>
          <p:cNvSpPr/>
          <p:nvPr/>
        </p:nvSpPr>
        <p:spPr>
          <a:xfrm>
            <a:off x="3657600" y="3163420"/>
            <a:ext cx="2247900" cy="1554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Count Enterprise and Standard cores in scope and apply the ESU rate card (Enterprise £814, Standard £209 per 2-core pack per month).</a:t>
            </a:r>
          </a:p>
          <a:p>
            <a:pPr algn="l">
              <a:buNone/>
            </a:pPr>
            <a:r>
              <a:rPr lang="en-US" sz="100">
                <a:effectLst/>
              </a:rPr>
              <a:t> </a:t>
            </a:r>
            <a:endParaRPr lang="en-US"/>
          </a:p>
        </p:txBody>
      </p:sp>
      <p:sp>
        <p:nvSpPr>
          <p:cNvPr id="20777" name="Rectangle 20776">
            <a:extLst>
              <a:ext uri="{FF2B5EF4-FFF2-40B4-BE49-F238E27FC236}">
                <a16:creationId xmlns:a16="http://schemas.microsoft.com/office/drawing/2014/main" id="{B2FA03A3-C9E9-61A8-7262-35E127508C2F}"/>
              </a:ext>
            </a:extLst>
          </p:cNvPr>
          <p:cNvSpPr/>
          <p:nvPr/>
        </p:nvSpPr>
        <p:spPr>
          <a:xfrm>
            <a:off x="6172200" y="1700000"/>
            <a:ext cx="2476500" cy="3132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804" name="Oval 20803">
            <a:extLst>
              <a:ext uri="{FF2B5EF4-FFF2-40B4-BE49-F238E27FC236}">
                <a16:creationId xmlns:a16="http://schemas.microsoft.com/office/drawing/2014/main" id="{E0077BE1-83F4-F4E6-6825-F6E935E6C087}"/>
              </a:ext>
            </a:extLst>
          </p:cNvPr>
          <p:cNvSpPr/>
          <p:nvPr/>
        </p:nvSpPr>
        <p:spPr>
          <a:xfrm>
            <a:off x="6286500" y="18143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0832" name="Rectangle 20831">
            <a:extLst>
              <a:ext uri="{FF2B5EF4-FFF2-40B4-BE49-F238E27FC236}">
                <a16:creationId xmlns:a16="http://schemas.microsoft.com/office/drawing/2014/main" id="{1E0F1FD8-F4A8-42E9-BEFF-9C6691CB9BCA}"/>
              </a:ext>
            </a:extLst>
          </p:cNvPr>
          <p:cNvSpPr/>
          <p:nvPr/>
        </p:nvSpPr>
        <p:spPr>
          <a:xfrm>
            <a:off x="6286500" y="2524300"/>
            <a:ext cx="22479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Decide per</a:t>
            </a:r>
          </a:p>
          <a:p>
            <a:pPr algn="l">
              <a:buNone/>
            </a:pPr>
            <a:r>
              <a:rPr lang="en-US" sz="1600" b="1">
                <a:solidFill>
                  <a:srgbClr val="004578"/>
                </a:solidFill>
                <a:effectLst/>
                <a:latin typeface="Segoe UI Semibold" panose="020B0702040204020203" pitchFamily="34" charset="0"/>
              </a:rPr>
              <a:t>workload</a:t>
            </a:r>
            <a:endParaRPr lang="en-US"/>
          </a:p>
        </p:txBody>
      </p:sp>
      <p:sp>
        <p:nvSpPr>
          <p:cNvPr id="20861" name="Rectangle 20860">
            <a:extLst>
              <a:ext uri="{FF2B5EF4-FFF2-40B4-BE49-F238E27FC236}">
                <a16:creationId xmlns:a16="http://schemas.microsoft.com/office/drawing/2014/main" id="{551C613B-0BB5-0B8A-0E8E-457D28D10B26}"/>
              </a:ext>
            </a:extLst>
          </p:cNvPr>
          <p:cNvSpPr/>
          <p:nvPr/>
        </p:nvSpPr>
        <p:spPr>
          <a:xfrm>
            <a:off x="6286500" y="3163420"/>
            <a:ext cx="22479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Modernise to Azure SQL PaaS, upgrade to SQL Server 2025, or buy ESU as runway.</a:t>
            </a:r>
          </a:p>
          <a:p>
            <a:pPr algn="l">
              <a:buNone/>
            </a:pPr>
            <a:r>
              <a:rPr lang="en-US" sz="100">
                <a:effectLst/>
              </a:rPr>
              <a:t> </a:t>
            </a:r>
            <a:endParaRPr lang="en-US"/>
          </a:p>
        </p:txBody>
      </p:sp>
      <p:sp>
        <p:nvSpPr>
          <p:cNvPr id="20891" name="Rectangle 20890">
            <a:extLst>
              <a:ext uri="{FF2B5EF4-FFF2-40B4-BE49-F238E27FC236}">
                <a16:creationId xmlns:a16="http://schemas.microsoft.com/office/drawing/2014/main" id="{204C9F17-D34E-45A9-6BD4-5DC37B768663}"/>
              </a:ext>
            </a:extLst>
          </p:cNvPr>
          <p:cNvSpPr/>
          <p:nvPr/>
        </p:nvSpPr>
        <p:spPr>
          <a:xfrm>
            <a:off x="8801100" y="1700000"/>
            <a:ext cx="2476500" cy="3132200"/>
          </a:xfrm>
          <a:prstGeom prst="rect">
            <a:avLst/>
          </a:prstGeom>
          <a:solidFill>
            <a:srgbClr val="F3F2F1"/>
          </a:solidFill>
          <a:ln>
            <a:solidFill>
              <a:srgbClr val="FFFFFF">
                <a:alpha val="0"/>
              </a:srgbClr>
            </a:solidFill>
          </a:ln>
          <a:effectLst>
            <a:outerShdw blurRad="101600" dist="25400" dir="5400000" algn="ctr" rotWithShape="0">
              <a:srgbClr val="201F1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922" name="Oval 20921">
            <a:extLst>
              <a:ext uri="{FF2B5EF4-FFF2-40B4-BE49-F238E27FC236}">
                <a16:creationId xmlns:a16="http://schemas.microsoft.com/office/drawing/2014/main" id="{1826734E-6277-02CE-0840-4BC516071AE7}"/>
              </a:ext>
            </a:extLst>
          </p:cNvPr>
          <p:cNvSpPr/>
          <p:nvPr/>
        </p:nvSpPr>
        <p:spPr>
          <a:xfrm>
            <a:off x="8915400" y="1814300"/>
            <a:ext cx="620000" cy="620000"/>
          </a:xfrm>
          <a:prstGeom prst="ellipse">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4</a:t>
            </a:r>
          </a:p>
          <a:p>
            <a:pPr algn="ctr">
              <a:buNone/>
            </a:pPr>
            <a:r>
              <a:rPr lang="en-US" sz="100">
                <a:effectLst/>
              </a:rPr>
              <a:t> </a:t>
            </a:r>
            <a:endParaRPr lang="en-US"/>
          </a:p>
        </p:txBody>
      </p:sp>
      <p:sp>
        <p:nvSpPr>
          <p:cNvPr id="20954" name="Rectangle 20953">
            <a:extLst>
              <a:ext uri="{FF2B5EF4-FFF2-40B4-BE49-F238E27FC236}">
                <a16:creationId xmlns:a16="http://schemas.microsoft.com/office/drawing/2014/main" id="{0B620C4C-B14B-D2D6-AD2D-F5659521D38A}"/>
              </a:ext>
            </a:extLst>
          </p:cNvPr>
          <p:cNvSpPr/>
          <p:nvPr/>
        </p:nvSpPr>
        <p:spPr>
          <a:xfrm>
            <a:off x="8915400" y="2524300"/>
            <a:ext cx="2247900" cy="39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4578"/>
                </a:solidFill>
                <a:effectLst/>
                <a:latin typeface="Segoe UI Semibold" panose="020B0702040204020203" pitchFamily="34" charset="0"/>
              </a:rPr>
              <a:t>Engage</a:t>
            </a:r>
          </a:p>
          <a:p>
            <a:pPr algn="l">
              <a:buNone/>
            </a:pPr>
            <a:r>
              <a:rPr lang="en-US" sz="100">
                <a:effectLst/>
              </a:rPr>
              <a:t> </a:t>
            </a:r>
            <a:endParaRPr lang="en-US"/>
          </a:p>
        </p:txBody>
      </p:sp>
      <p:sp>
        <p:nvSpPr>
          <p:cNvPr id="20987" name="Rectangle 20986">
            <a:extLst>
              <a:ext uri="{FF2B5EF4-FFF2-40B4-BE49-F238E27FC236}">
                <a16:creationId xmlns:a16="http://schemas.microsoft.com/office/drawing/2014/main" id="{51571250-0D90-4E17-BCCD-A685FECB7B7A}"/>
              </a:ext>
            </a:extLst>
          </p:cNvPr>
          <p:cNvSpPr/>
          <p:nvPr/>
        </p:nvSpPr>
        <p:spPr>
          <a:xfrm>
            <a:off x="8915400" y="2919580"/>
            <a:ext cx="2247900" cy="1371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Azure Arc for visibility and ESU billing; Cloud Accelerate Factory for zero-cost delivery (available through 13 July 2027).</a:t>
            </a:r>
          </a:p>
          <a:p>
            <a:pPr algn="l">
              <a:buNone/>
            </a:pPr>
            <a:r>
              <a:rPr lang="en-US" sz="100">
                <a:effectLst/>
              </a:rPr>
              <a:t> </a:t>
            </a:r>
            <a:endParaRPr lang="en-US"/>
          </a:p>
        </p:txBody>
      </p:sp>
      <p:sp>
        <p:nvSpPr>
          <p:cNvPr id="21021" name="Rectangle 21020">
            <a:extLst>
              <a:ext uri="{FF2B5EF4-FFF2-40B4-BE49-F238E27FC236}">
                <a16:creationId xmlns:a16="http://schemas.microsoft.com/office/drawing/2014/main" id="{C24462A5-F5CB-06B8-A4AC-289A09D1C730}"/>
              </a:ext>
            </a:extLst>
          </p:cNvPr>
          <p:cNvSpPr/>
          <p:nvPr/>
        </p:nvSpPr>
        <p:spPr>
          <a:xfrm>
            <a:off x="914400" y="4992200"/>
            <a:ext cx="10363200" cy="98104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056" name="Rectangle 21055">
            <a:extLst>
              <a:ext uri="{FF2B5EF4-FFF2-40B4-BE49-F238E27FC236}">
                <a16:creationId xmlns:a16="http://schemas.microsoft.com/office/drawing/2014/main" id="{E18CF547-0BCE-7EA8-06F7-0E60219C9A50}"/>
              </a:ext>
            </a:extLst>
          </p:cNvPr>
          <p:cNvSpPr/>
          <p:nvPr/>
        </p:nvSpPr>
        <p:spPr>
          <a:xfrm>
            <a:off x="1143000" y="5132200"/>
            <a:ext cx="9906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FFFFFF"/>
                </a:solidFill>
                <a:effectLst/>
                <a:latin typeface="Segoe UI Semibold" panose="020B0702040204020203" pitchFamily="34" charset="0"/>
              </a:rPr>
              <a:t>Every instance moved off SQL Server 2016 reduces the ESU bill from the hour it moves.</a:t>
            </a:r>
          </a:p>
          <a:p>
            <a:pPr algn="l">
              <a:buNone/>
            </a:pPr>
            <a:r>
              <a:rPr lang="en-US" sz="100">
                <a:effectLst/>
              </a:rPr>
              <a:t> </a:t>
            </a:r>
            <a:endParaRPr lang="en-US"/>
          </a:p>
        </p:txBody>
      </p:sp>
    </p:spTree>
    <p:extLst>
      <p:ext uri="{BB962C8B-B14F-4D97-AF65-F5344CB8AC3E}">
        <p14:creationId xmlns:p14="http://schemas.microsoft.com/office/powerpoint/2010/main" val="2645037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7710" name="Rectangle 27709">
            <a:extLst>
              <a:ext uri="{FF2B5EF4-FFF2-40B4-BE49-F238E27FC236}">
                <a16:creationId xmlns:a16="http://schemas.microsoft.com/office/drawing/2014/main" id="{1472CC42-57E3-7FA6-C90B-CEE14873E408}"/>
              </a:ext>
            </a:extLst>
          </p:cNvPr>
          <p:cNvSpPr/>
          <p:nvPr/>
        </p:nvSpPr>
        <p:spPr>
          <a:xfrm>
            <a:off x="914400" y="1700000"/>
            <a:ext cx="600000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a:solidFill>
                  <a:srgbClr val="FFFFFF"/>
                </a:solidFill>
                <a:effectLst/>
                <a:latin typeface="Segoe UI Light" panose="020B0502040204020203" pitchFamily="34" charset="0"/>
              </a:rPr>
              <a:t>Questions?</a:t>
            </a:r>
          </a:p>
          <a:p>
            <a:pPr algn="l">
              <a:buNone/>
            </a:pPr>
            <a:r>
              <a:rPr lang="en-US" sz="100">
                <a:effectLst/>
              </a:rPr>
              <a:t> </a:t>
            </a:r>
            <a:endParaRPr lang="en-US"/>
          </a:p>
        </p:txBody>
      </p:sp>
      <p:sp>
        <p:nvSpPr>
          <p:cNvPr id="27786" name="Rectangle 27785">
            <a:extLst>
              <a:ext uri="{FF2B5EF4-FFF2-40B4-BE49-F238E27FC236}">
                <a16:creationId xmlns:a16="http://schemas.microsoft.com/office/drawing/2014/main" id="{28A61E78-0527-79A1-376F-9C7433F272DE}"/>
              </a:ext>
            </a:extLst>
          </p:cNvPr>
          <p:cNvSpPr/>
          <p:nvPr/>
        </p:nvSpPr>
        <p:spPr>
          <a:xfrm>
            <a:off x="914400" y="2774400"/>
            <a:ext cx="1920240" cy="50800"/>
          </a:xfrm>
          <a:prstGeom prst="rect">
            <a:avLst/>
          </a:prstGeom>
          <a:solidFill>
            <a:srgbClr val="50E6FF"/>
          </a:solidFill>
          <a:ln>
            <a:solidFill>
              <a:srgbClr val="50E6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63" name="Rectangle 27862">
            <a:extLst>
              <a:ext uri="{FF2B5EF4-FFF2-40B4-BE49-F238E27FC236}">
                <a16:creationId xmlns:a16="http://schemas.microsoft.com/office/drawing/2014/main" id="{F72FB043-B29D-6021-3D01-E79E9D3E8AB0}"/>
              </a:ext>
            </a:extLst>
          </p:cNvPr>
          <p:cNvSpPr/>
          <p:nvPr/>
        </p:nvSpPr>
        <p:spPr>
          <a:xfrm>
            <a:off x="914400" y="3085200"/>
            <a:ext cx="80000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FFFFFF"/>
                </a:solidFill>
                <a:effectLst/>
                <a:latin typeface="Segoe UI" panose="020B0502040204020203" pitchFamily="34" charset="0"/>
              </a:rPr>
              <a:t>Russell McKee  ·  Cloud Solution Architect  ·  Microsoft UK</a:t>
            </a:r>
          </a:p>
          <a:p>
            <a:pPr algn="l">
              <a:buNone/>
            </a:pPr>
            <a:r>
              <a:rPr lang="en-US" sz="1800">
                <a:solidFill>
                  <a:srgbClr val="50E6FF"/>
                </a:solidFill>
                <a:effectLst/>
                <a:latin typeface="Segoe UI" panose="020B0502040204020203" pitchFamily="34" charset="0"/>
              </a:rPr>
              <a:t>russell.mckee@microsoft.com</a:t>
            </a:r>
            <a:endParaRPr lang="en-US"/>
          </a:p>
        </p:txBody>
      </p:sp>
      <p:sp>
        <p:nvSpPr>
          <p:cNvPr id="27941" name="Rectangle 27940">
            <a:extLst>
              <a:ext uri="{FF2B5EF4-FFF2-40B4-BE49-F238E27FC236}">
                <a16:creationId xmlns:a16="http://schemas.microsoft.com/office/drawing/2014/main" id="{0EB8EEB9-2508-0318-B574-89D269F63853}"/>
              </a:ext>
            </a:extLst>
          </p:cNvPr>
          <p:cNvSpPr/>
          <p:nvPr/>
        </p:nvSpPr>
        <p:spPr>
          <a:xfrm>
            <a:off x="914400" y="4600000"/>
            <a:ext cx="10363200" cy="1244880"/>
          </a:xfrm>
          <a:prstGeom prst="rect">
            <a:avLst/>
          </a:prstGeom>
          <a:solidFill>
            <a:srgbClr val="00457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20" name="Rectangle 28019">
            <a:extLst>
              <a:ext uri="{FF2B5EF4-FFF2-40B4-BE49-F238E27FC236}">
                <a16:creationId xmlns:a16="http://schemas.microsoft.com/office/drawing/2014/main" id="{255144B9-AE45-5FF4-84D6-3423F074ACE3}"/>
              </a:ext>
            </a:extLst>
          </p:cNvPr>
          <p:cNvSpPr/>
          <p:nvPr/>
        </p:nvSpPr>
        <p:spPr>
          <a:xfrm>
            <a:off x="1143000" y="4750000"/>
            <a:ext cx="990600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The discovery scripts are provided AS IS, without warranty of any kind. They are not supported by Microsoft and do not constitute official Microsoft guidance. Always test in a non-production environment first, and ensure you have written authorisation to query — and, for the subnet scanner, to scan — the systems in scope.</a:t>
            </a:r>
          </a:p>
          <a:p>
            <a:pPr algn="l">
              <a:buNone/>
            </a:pPr>
            <a:r>
              <a:rPr lang="en-US" sz="100">
                <a:effectLst/>
              </a:rPr>
              <a:t> </a:t>
            </a:r>
            <a:endParaRPr lang="en-US"/>
          </a:p>
        </p:txBody>
      </p:sp>
      <p:sp>
        <p:nvSpPr>
          <p:cNvPr id="28100" name="Rectangle 28099">
            <a:extLst>
              <a:ext uri="{FF2B5EF4-FFF2-40B4-BE49-F238E27FC236}">
                <a16:creationId xmlns:a16="http://schemas.microsoft.com/office/drawing/2014/main" id="{BB20261A-00CE-2889-998A-200B1993B878}"/>
              </a:ext>
            </a:extLst>
          </p:cNvPr>
          <p:cNvSpPr/>
          <p:nvPr/>
        </p:nvSpPr>
        <p:spPr>
          <a:xfrm>
            <a:off x="914400" y="6080000"/>
            <a:ext cx="60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C7D5EA"/>
                </a:solidFill>
                <a:effectLst/>
                <a:latin typeface="Segoe UI" panose="020B0502040204020203" pitchFamily="34" charset="0"/>
              </a:rPr>
              <a:t>SQL Server 2016 End of Support</a:t>
            </a:r>
          </a:p>
          <a:p>
            <a:pPr algn="l">
              <a:buNone/>
            </a:pPr>
            <a:r>
              <a:rPr lang="en-US" sz="100">
                <a:effectLst/>
              </a:rPr>
              <a:t> </a:t>
            </a:r>
            <a:endParaRPr lang="en-US"/>
          </a:p>
        </p:txBody>
      </p:sp>
      <p:sp>
        <p:nvSpPr>
          <p:cNvPr id="28181" name="Rectangle 28180">
            <a:extLst>
              <a:ext uri="{FF2B5EF4-FFF2-40B4-BE49-F238E27FC236}">
                <a16:creationId xmlns:a16="http://schemas.microsoft.com/office/drawing/2014/main" id="{9CB46658-834C-7513-6E9D-0A584EFAB332}"/>
              </a:ext>
            </a:extLst>
          </p:cNvPr>
          <p:cNvSpPr/>
          <p:nvPr/>
        </p:nvSpPr>
        <p:spPr>
          <a:xfrm>
            <a:off x="10271400" y="6080000"/>
            <a:ext cx="10062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C7D5EA"/>
                </a:solidFill>
                <a:effectLst/>
                <a:latin typeface="Segoe UI" panose="020B0502040204020203" pitchFamily="34" charset="0"/>
              </a:rPr>
              <a:t>29</a:t>
            </a:r>
          </a:p>
          <a:p>
            <a:pPr algn="r">
              <a:buNone/>
            </a:pPr>
            <a:r>
              <a:rPr lang="en-US" sz="100">
                <a:effectLst/>
              </a:rPr>
              <a:t> </a:t>
            </a:r>
            <a:endParaRPr lang="en-US"/>
          </a:p>
        </p:txBody>
      </p:sp>
    </p:spTree>
    <p:extLst>
      <p:ext uri="{BB962C8B-B14F-4D97-AF65-F5344CB8AC3E}">
        <p14:creationId xmlns:p14="http://schemas.microsoft.com/office/powerpoint/2010/main" val="4139787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5086</Words>
  <Application>Microsoft Office PowerPoint</Application>
  <PresentationFormat>Widescreen</PresentationFormat>
  <Paragraphs>897</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Consolas</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Russell McKee</dc:creator>
  <cp:keywords/>
  <dc:description/>
  <cp:lastModifiedBy>Russell McKee</cp:lastModifiedBy>
  <cp:revision>9</cp:revision>
  <dcterms:created xsi:type="dcterms:W3CDTF">2026-09-25T20:57:53Z</dcterms:created>
  <dcterms:modified xsi:type="dcterms:W3CDTF">2026-09-25T22:11:35Z</dcterms:modified>
  <cp:category/>
</cp:coreProperties>
</file>